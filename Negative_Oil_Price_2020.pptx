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5"/>
    <p:sldId id="264" r:id="rId10"/>
    <p:sldId id="276" r:id="rId27"/>
    <p:sldId id="266" r:id="rId12"/>
    <p:sldId id="262" r:id="rId8"/>
    <p:sldId id="277" r:id="rId28"/>
    <p:sldId id="278" r:id="rId29"/>
    <p:sldId id="279" r:id="rId30"/>
    <p:sldId id="265" r:id="rId11"/>
    <p:sldId id="280" r:id="rId31"/>
    <p:sldId id="281" r:id="rId32"/>
    <p:sldId id="267" r:id="rId13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0815E65-6FCB-C1AC-2560-72ABDEE7E85E}">
          <p14:sldIdLst>
            <p14:sldId id="256"/>
            <p14:sldId id="259"/>
          </p14:sldIdLst>
        </p14:section>
        <p14:section name="The shock" id="{09C0099D-6792-A006-2E5F-16B4FE69538A}">
          <p14:sldIdLst>
            <p14:sldId id="264"/>
            <p14:sldId id="276"/>
            <p14:sldId id="266"/>
          </p14:sldIdLst>
        </p14:section>
        <p14:section name="The mechanics" id="{900B71C3-B279-951A-6478-760614E62D27}">
          <p14:sldIdLst>
            <p14:sldId id="262"/>
            <p14:sldId id="277"/>
            <p14:sldId id="278"/>
            <p14:sldId id="279"/>
          </p14:sldIdLst>
        </p14:section>
        <p14:section name="Pumps and funds" id="{2039D411-0FEA-991C-EA7A-91D37FF577C8}">
          <p14:sldIdLst>
            <p14:sldId id="265"/>
            <p14:sldId id="280"/>
            <p14:sldId id="281"/>
            <p14:sldId id="267"/>
          </p14:sldIdLst>
        </p14:section>
        <p14:section name="Implications" id="{6A1F3C2E-4B7D-4E8A-9C10-2D3E4F5A6B7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8" Type="http://schemas.openxmlformats.org/officeDocument/2006/relationships/slide" Target="slides/slide6.xml"/><Relationship Id="rId10" Type="http://schemas.openxmlformats.org/officeDocument/2006/relationships/slide" Target="slides/slide3.xml"/><Relationship Id="rId11" Type="http://schemas.openxmlformats.org/officeDocument/2006/relationships/slide" Target="slides/slide10.xml"/><Relationship Id="rId12" Type="http://schemas.openxmlformats.org/officeDocument/2006/relationships/slide" Target="slides/slide5.xml"/><Relationship Id="rId13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4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1.xml"/><Relationship Id="rId3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Settlement</c:v>
                </c:pt>
              </c:strCache>
            </c:strRef>
          </c:tx>
          <c:spPr>
            <a:solidFill>
              <a:srgbClr val="B8C0C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Lbls>
            <c:numFmt formatCode="&quot;$&quot;0.00;&quot;−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contract, 20 Apr</c:v>
                </c:pt>
                <c:pt idx="1">
                  <c:v>June contract, 20 Apr</c:v>
                </c:pt>
                <c:pt idx="2">
                  <c:v>May contract at expiry, 21 Apr</c:v>
                </c:pt>
              </c:strCache>
            </c:strRef>
          </c:cat>
          <c:val>
            <c:numRef>
              <c:f>Sheet1!$B$2:$B$4</c:f>
              <c:numCache>
                <c:formatCode>"$"0.00;"−$"0.00</c:formatCode>
                <c:ptCount val="3"/>
                <c:pt idx="0">
                  <c:v>-37.63</c:v>
                </c:pt>
                <c:pt idx="1">
                  <c:v>20.43</c:v>
                </c:pt>
                <c:pt idx="2">
                  <c:v>10.01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1-4C30-883D-F50BAA2EC8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gallon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Crude oil</c:v>
                </c:pt>
                <c:pt idx="1">
                  <c:v>Refining</c:v>
                </c:pt>
                <c:pt idx="2">
                  <c:v>Distribution and marketing</c:v>
                </c:pt>
                <c:pt idx="3">
                  <c:v>Taxes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46.8</c:v>
                </c:pt>
                <c:pt idx="1">
                  <c:v>3.9</c:v>
                </c:pt>
                <c:pt idx="2">
                  <c:v>85.4</c:v>
                </c:pt>
                <c:pt idx="3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9F1-40C0-AEF0-0CBC8A7BD7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51C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interest</c:v>
                </c:pt>
              </c:strCache>
            </c:strRef>
          </c:tx>
          <c:spPr>
            <a:solidFill>
              <a:srgbClr val="B8C0C7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Apr (peak)</c:v>
                </c:pt>
                <c:pt idx="1">
                  <c:v>20 Apr (open)</c:v>
                </c:pt>
                <c:pt idx="2">
                  <c:v>21 Apr (expiry)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634.727</c:v>
                </c:pt>
                <c:pt idx="1">
                  <c:v>108.593</c:v>
                </c:pt>
                <c:pt idx="2">
                  <c:v>2.427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8-4A09-B2DC-E7B20FBA21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Cushing stocks</c:v>
                </c:pt>
              </c:strCache>
            </c:strRef>
          </c:tx>
          <c:spPr>
            <a:ln w="31750" cap="flat">
              <a:solidFill>
                <a:srgbClr val="2251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251FF"/>
              </a:solidFill>
              <a:ln w="9525" cap="flat">
                <a:solidFill>
                  <a:srgbClr val="2251F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6 Mar</c:v>
                </c:pt>
                <c:pt idx="1">
                  <c:v>13</c:v>
                </c:pt>
                <c:pt idx="2">
                  <c:v>20</c:v>
                </c:pt>
                <c:pt idx="3">
                  <c:v>27</c:v>
                </c:pt>
                <c:pt idx="4">
                  <c:v>3 Apr</c:v>
                </c:pt>
                <c:pt idx="5">
                  <c:v>10</c:v>
                </c:pt>
                <c:pt idx="6">
                  <c:v>17</c:v>
                </c:pt>
                <c:pt idx="7">
                  <c:v>24</c:v>
                </c:pt>
                <c:pt idx="8">
                  <c:v>1 May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37.882</c:v>
                </c:pt>
                <c:pt idx="1">
                  <c:v>38.445</c:v>
                </c:pt>
                <c:pt idx="2">
                  <c:v>39.303</c:v>
                </c:pt>
                <c:pt idx="3">
                  <c:v>42.824</c:v>
                </c:pt>
                <c:pt idx="4">
                  <c:v>49.241</c:v>
                </c:pt>
                <c:pt idx="5">
                  <c:v>54.965</c:v>
                </c:pt>
                <c:pt idx="6">
                  <c:v>59.741</c:v>
                </c:pt>
                <c:pt idx="7">
                  <c:v>63.378</c:v>
                </c:pt>
                <c:pt idx="8">
                  <c:v>65.446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C3-45CC-92B7-EE7F34E0429A}"/>
            </c:ext>
          </c:extLst>
        </c:ser>
        <c:dLbls>
          <c:dLblPos val="t"/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12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20 April 2020 settlement of the May 2020 WTI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Rolling from a cheap front month to a dearer next month buys fewer barrels. If prices converge to an unchanged spot price, the fund loses.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USO avoided expiry but paid a steep roll cost. Bank of China's product closed one day before expiry and settled at −$37.63.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messages: what went negative, why demand and storage broke, why delivery forced selling, and what it meant for pumps and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Paying the buyer $37.63 capped the loss. Holding meant finding storage at any price, or defaulting.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Net value equals future sale value minus storage and transport. With no storage left, the carry cost exceeded the June price, so the May barrel was worth less than zero.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long position held to expiry becomes oil in a tank at Cushing. Without tank space, the only option is to exit before the last trading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Demand fell by close to a third in April while production cuts only began in May, so oil had to go into storage.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contract, one day. The June contract and the May contract at expiry the next day were both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 in April 2020, gasoline averaged $1.84 a gallon. Crude was only a quarter of that; distribution, marketing and taxes made up most of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Cushing stocks rose 52% in four weeks. At the same time, 83% of May open interest left before 20 April, so few buyers remained.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ETF avoids delivery but pays the roll. A direct futures holder decides the roll but can lose more than the margin posted.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CFTC documented extreme speed and circuit-breaker pauses. A civil suit alleges that one London firm's traders drove part of the fall; the claims are not proven.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three: the expiry calendar, liquidity at expiry and physical constraints. Then the curve, systems that handle negative prices, and product suitability.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main point: delivery, storage and timing, not the oil itself, made the price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03" hasCustomPrompt="1"/>
          </p:nvPr>
        </p:nvSpPr>
        <p:spPr>
          <a:xfrm>
            <a:off x="45720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Subtitle or engagement name</a:t>
            </a:r>
            <a:endParaRPr lang="en-US" sz="1800" dirty="0"/>
          </a:p>
        </p:txBody>
      </p:sp>
      <p:sp>
        <p:nvSpPr>
          <p:cNvPr id="6" name="Presentation title"/>
          <p:cNvSpPr>
            <a:spLocks noGrp="1"/>
          </p:cNvSpPr>
          <p:nvPr>
            <p:ph type="title" idx="106" hasCustomPrompt="1"/>
          </p:nvPr>
        </p:nvSpPr>
        <p:spPr>
          <a:xfrm>
            <a:off x="45720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</a:rPr>
              <a:t>Presentation title in up to two lines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image"/>
          <p:cNvSpPr>
            <a:spLocks noGrp="1"/>
          </p:cNvSpPr>
          <p:nvPr>
            <p:ph type="pic" idx="100" hasCustomPrompt="1"/>
          </p:nvPr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Click the icon to add a cover image</a:t>
            </a:r>
            <a:endParaRPr lang="en-US" dirty="0"/>
          </a:p>
        </p:txBody>
      </p:sp>
      <p:sp>
        <p:nvSpPr>
          <p:cNvPr id="4" name="Subtitle"/>
          <p:cNvSpPr>
            <a:spLocks noGrp="1"/>
          </p:cNvSpPr>
          <p:nvPr>
            <p:ph type="body" idx="102" hasCustomPrompt="1"/>
          </p:nvPr>
        </p:nvSpPr>
        <p:spPr>
          <a:xfrm>
            <a:off x="457200" y="4069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Subtitle or engagement name</a:t>
            </a:r>
            <a:endParaRPr lang="en-US" sz="1800" dirty="0"/>
          </a:p>
        </p:txBody>
      </p:sp>
      <p:sp>
        <p:nvSpPr>
          <p:cNvPr id="7" name="Presentation title"/>
          <p:cNvSpPr>
            <a:spLocks noGrp="1"/>
          </p:cNvSpPr>
          <p:nvPr>
            <p:ph type="title" idx="105" hasCustomPrompt="1"/>
          </p:nvPr>
        </p:nvSpPr>
        <p:spPr>
          <a:xfrm>
            <a:off x="457200" y="2011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Presentation title in up to two lines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Contents</a:t>
            </a:r>
            <a:endParaRPr lang="en-US" sz="2400" dirty="0"/>
          </a:p>
        </p:txBody>
      </p:sp>
      <p:sp>
        <p:nvSpPr>
          <p:cNvPr id="3" name="Agenda items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0"/>
            <a:ext cx="77724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457200" indent="-457200">
              <a:spcAft>
                <a:spcPts val="1800"/>
              </a:spcAft>
              <a:buClr>
                <a:schemeClr val="accent1"/>
              </a:buClr>
              <a:buFont typeface="+mj-lt"/>
              <a:buAutoNum type="arabicPlain"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sz="1800" dirty="0">
                <a:solidFill>
                  <a:schemeClr val="tx1"/>
                </a:solidFill>
              </a:rPr>
              <a:t>Section name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Section number"/>
          <p:cNvSpPr>
            <a:spLocks noGrp="1"/>
          </p:cNvSpPr>
          <p:nvPr>
            <p:ph type="body" idx="102" hasCustomPrompt="1"/>
          </p:nvPr>
        </p:nvSpPr>
        <p:spPr>
          <a:xfrm>
            <a:off x="457200" y="1737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54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>
              <a:buNone/>
            </a:pPr>
            <a:r>
              <a:rPr lang="en-US" sz="54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Section title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Section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5" name="Summar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spcBef>
                <a:spcPts val="1400"/>
              </a:spcBef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Key point as one full sentence (level 1, bold)</a:t>
            </a:r>
          </a:p>
          <a:p>
            <a:pPr lvl="1"/>
            <a:r>
              <a:rPr lang="en-US" dirty="0"/>
              <a:t>Supporting evidence (level 2): press Tab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Bod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3): press Tab again</a:t>
            </a:r>
          </a:p>
        </p:txBody>
      </p:sp>
      <p:sp>
        <p:nvSpPr>
          <p:cNvPr id="6" name="Source and notes"/>
          <p:cNvSpPr>
            <a:spLocks noGrp="1"/>
          </p:cNvSpPr>
          <p:nvPr>
            <p:ph type="body" idx="104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Lef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Left column header</a:t>
            </a:r>
            <a:endParaRPr lang="en-US" sz="1400" dirty="0"/>
          </a:p>
        </p:txBody>
      </p:sp>
      <p:sp>
        <p:nvSpPr>
          <p:cNvPr id="6" name="Left text"/>
          <p:cNvSpPr>
            <a:spLocks noGrp="1"/>
          </p:cNvSpPr>
          <p:nvPr>
            <p:ph type="body" idx="104" hasCustomPrompt="1"/>
          </p:nvPr>
        </p:nvSpPr>
        <p:spPr>
          <a:xfrm>
            <a:off x="457200" y="2148840"/>
            <a:ext cx="5410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</a:t>
            </a:r>
          </a:p>
        </p:txBody>
      </p:sp>
      <p:sp>
        <p:nvSpPr>
          <p:cNvPr id="7" name="Right header"/>
          <p:cNvSpPr>
            <a:spLocks noGrp="1"/>
          </p:cNvSpPr>
          <p:nvPr>
            <p:ph type="body" idx="105" hasCustomPrompt="1"/>
          </p:nvPr>
        </p:nvSpPr>
        <p:spPr>
          <a:xfrm>
            <a:off x="6324448" y="16916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Right column header</a:t>
            </a:r>
            <a:endParaRPr lang="en-US" sz="1400" dirty="0"/>
          </a:p>
        </p:txBody>
      </p:sp>
      <p:sp>
        <p:nvSpPr>
          <p:cNvPr id="8" name="Right text"/>
          <p:cNvSpPr>
            <a:spLocks noGrp="1"/>
          </p:cNvSpPr>
          <p:nvPr>
            <p:ph type="body" idx="106" hasCustomPrompt="1"/>
          </p:nvPr>
        </p:nvSpPr>
        <p:spPr>
          <a:xfrm>
            <a:off x="6324448" y="2148840"/>
            <a:ext cx="5410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</a:t>
            </a:r>
          </a:p>
        </p:txBody>
      </p:sp>
      <p:sp>
        <p:nvSpPr>
          <p:cNvPr id="9" name="Source and notes"/>
          <p:cNvSpPr>
            <a:spLocks noGrp="1"/>
          </p:cNvSpPr>
          <p:nvPr>
            <p:ph type="body" idx="107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Column 1 mark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lumn 1 header"/>
          <p:cNvSpPr>
            <a:spLocks noGrp="1"/>
          </p:cNvSpPr>
          <p:nvPr>
            <p:ph type="body" idx="104" hasCustomPrompt="1"/>
          </p:nvPr>
        </p:nvSpPr>
        <p:spPr>
          <a:xfrm>
            <a:off x="457200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7" name="Column 1 text"/>
          <p:cNvSpPr>
            <a:spLocks noGrp="1"/>
          </p:cNvSpPr>
          <p:nvPr>
            <p:ph type="body" idx="105" hasCustomPrompt="1"/>
          </p:nvPr>
        </p:nvSpPr>
        <p:spPr>
          <a:xfrm>
            <a:off x="457200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8" name="Column 2 marker"/>
          <p:cNvSpPr>
            <a:spLocks noGrp="1"/>
          </p:cNvSpPr>
          <p:nvPr>
            <p:ph type="body" idx="106" hasCustomPrompt="1"/>
          </p:nvPr>
        </p:nvSpPr>
        <p:spPr>
          <a:xfrm>
            <a:off x="4338218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Column 2 header"/>
          <p:cNvSpPr>
            <a:spLocks noGrp="1"/>
          </p:cNvSpPr>
          <p:nvPr>
            <p:ph type="body" idx="107" hasCustomPrompt="1"/>
          </p:nvPr>
        </p:nvSpPr>
        <p:spPr>
          <a:xfrm>
            <a:off x="4338218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10" name="Column 2 text"/>
          <p:cNvSpPr>
            <a:spLocks noGrp="1"/>
          </p:cNvSpPr>
          <p:nvPr>
            <p:ph type="body" idx="108" hasCustomPrompt="1"/>
          </p:nvPr>
        </p:nvSpPr>
        <p:spPr>
          <a:xfrm>
            <a:off x="4338218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11" name="Column 3 marker"/>
          <p:cNvSpPr>
            <a:spLocks noGrp="1"/>
          </p:cNvSpPr>
          <p:nvPr>
            <p:ph type="body" idx="109" hasCustomPrompt="1"/>
          </p:nvPr>
        </p:nvSpPr>
        <p:spPr>
          <a:xfrm>
            <a:off x="8219237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Column 3 header"/>
          <p:cNvSpPr>
            <a:spLocks noGrp="1"/>
          </p:cNvSpPr>
          <p:nvPr>
            <p:ph type="body" idx="110" hasCustomPrompt="1"/>
          </p:nvPr>
        </p:nvSpPr>
        <p:spPr>
          <a:xfrm>
            <a:off x="8219237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13" name="Column 3 text"/>
          <p:cNvSpPr>
            <a:spLocks noGrp="1"/>
          </p:cNvSpPr>
          <p:nvPr>
            <p:ph type="body" idx="111" hasCustomPrompt="1"/>
          </p:nvPr>
        </p:nvSpPr>
        <p:spPr>
          <a:xfrm>
            <a:off x="8219237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14" name="Source and notes"/>
          <p:cNvSpPr>
            <a:spLocks noGrp="1"/>
          </p:cNvSpPr>
          <p:nvPr>
            <p:ph type="body" idx="112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chart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7498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Takeaway panel"/>
          <p:cNvSpPr/>
          <p:nvPr/>
        </p:nvSpPr>
        <p:spPr>
          <a:xfrm>
            <a:off x="8305495" y="1691640"/>
            <a:ext cx="342900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akeaways header"/>
          <p:cNvSpPr>
            <a:spLocks noGrp="1"/>
          </p:cNvSpPr>
          <p:nvPr>
            <p:ph type="body" idx="107" hasCustomPrompt="1"/>
          </p:nvPr>
        </p:nvSpPr>
        <p:spPr>
          <a:xfrm>
            <a:off x="8534095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10" name="Takeaways text"/>
          <p:cNvSpPr>
            <a:spLocks noGrp="1"/>
          </p:cNvSpPr>
          <p:nvPr>
            <p:ph type="body" idx="108" hasCustomPrompt="1"/>
          </p:nvPr>
        </p:nvSpPr>
        <p:spPr>
          <a:xfrm>
            <a:off x="8534095" y="2377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1"/>
            <a:r>
              <a:rPr lang="en-US" dirty="0"/>
              <a:t>Takeaway (level 2 bullet)</a:t>
            </a:r>
          </a:p>
          <a:p>
            <a:pPr lvl="1"/>
            <a:r>
              <a:rPr lang="en-US" dirty="0"/>
              <a:t>Takeaway</a:t>
            </a:r>
          </a:p>
          <a:p>
            <a:pPr lvl="1"/>
            <a:r>
              <a:rPr lang="en-US" dirty="0"/>
              <a:t>Takeaway</a:t>
            </a:r>
          </a:p>
        </p:txBody>
      </p:sp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chart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11277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Left 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</a:t>
            </a:r>
            <a:endParaRPr lang="en-US" sz="1400" dirty="0"/>
          </a:p>
        </p:txBody>
      </p:sp>
      <p:sp>
        <p:nvSpPr>
          <p:cNvPr id="6" name="Left 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Left 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541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Right exhibit header"/>
          <p:cNvSpPr>
            <a:spLocks noGrp="1"/>
          </p:cNvSpPr>
          <p:nvPr>
            <p:ph type="body" idx="106" hasCustomPrompt="1"/>
          </p:nvPr>
        </p:nvSpPr>
        <p:spPr>
          <a:xfrm>
            <a:off x="6324448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</a:t>
            </a:r>
            <a:endParaRPr lang="en-US" sz="1400" dirty="0"/>
          </a:p>
        </p:txBody>
      </p:sp>
      <p:sp>
        <p:nvSpPr>
          <p:cNvPr id="9" name="Right unit of measure"/>
          <p:cNvSpPr>
            <a:spLocks noGrp="1"/>
          </p:cNvSpPr>
          <p:nvPr>
            <p:ph type="body" idx="107" hasCustomPrompt="1"/>
          </p:nvPr>
        </p:nvSpPr>
        <p:spPr>
          <a:xfrm>
            <a:off x="6324448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10" name="Right chart"/>
          <p:cNvSpPr>
            <a:spLocks noGrp="1"/>
          </p:cNvSpPr>
          <p:nvPr>
            <p:ph type="chart" idx="108" hasCustomPrompt="1"/>
          </p:nvPr>
        </p:nvSpPr>
        <p:spPr>
          <a:xfrm>
            <a:off x="6324448" y="2331720"/>
            <a:ext cx="541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table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 or scoring basis</a:t>
            </a:r>
            <a:endParaRPr lang="en-US" sz="1200" dirty="0"/>
          </a:p>
        </p:txBody>
      </p:sp>
      <p:sp>
        <p:nvSpPr>
          <p:cNvPr id="7" name="Table"/>
          <p:cNvSpPr>
            <a:spLocks noGrp="1"/>
          </p:cNvSpPr>
          <p:nvPr>
            <p:ph type="tbl" idx="105" hasCustomPrompt="1"/>
          </p:nvPr>
        </p:nvSpPr>
        <p:spPr>
          <a:xfrm>
            <a:off x="457200" y="2331720"/>
            <a:ext cx="11277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table</a:t>
            </a:r>
            <a:endParaRPr lang="en-US" dirty="0"/>
          </a:p>
        </p:txBody>
      </p:sp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>
            <a:spLocks noGrp="1"/>
          </p:cNvSpPr>
          <p:nvPr>
            <p:ph type="body" idx="100" hasCustomPrompt="1"/>
          </p:nvPr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message</a:t>
            </a:r>
            <a:endParaRPr lang="en-US" sz="1200" dirty="0"/>
          </a:p>
        </p:txBody>
      </p:sp>
      <p:sp>
        <p:nvSpPr>
          <p:cNvPr id="3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45720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32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The one sentence the audience should remember</a:t>
            </a:r>
            <a:endParaRPr lang="en-US" sz="3200" dirty="0"/>
          </a:p>
        </p:txBody>
      </p:sp>
      <p:sp>
        <p:nvSpPr>
          <p:cNvPr id="4" name="Supporting line"/>
          <p:cNvSpPr>
            <a:spLocks noGrp="1"/>
          </p:cNvSpPr>
          <p:nvPr>
            <p:ph type="body" idx="102" hasCustomPrompt="1"/>
          </p:nvPr>
        </p:nvSpPr>
        <p:spPr>
          <a:xfrm>
            <a:off x="45720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Optional supporting line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losing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Contact details"/>
          <p:cNvSpPr>
            <a:spLocks noGrp="1"/>
          </p:cNvSpPr>
          <p:nvPr>
            <p:ph type="body" idx="103" hasCustomPrompt="1"/>
          </p:nvPr>
        </p:nvSpPr>
        <p:spPr>
          <a:xfrm>
            <a:off x="45720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Name, title | email | phone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nsulting Clas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Title Placeholder"/>
          <p:cNvSpPr>
            <a:spLocks noGrp="1"/>
          </p:cNvSpPr>
          <p:nvPr>
            <p:ph type="title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Action title: the so-what of the slide as a full sentence, no more than two lines</a:t>
            </a:r>
          </a:p>
        </p:txBody>
      </p:sp>
      <p:sp>
        <p:nvSpPr>
          <p:cNvPr id="3" name="Body Text Placeholder"/>
          <p:cNvSpPr>
            <a:spLocks noGrp="1"/>
          </p:cNvSpPr>
          <p:nvPr>
            <p:ph type="body" idx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Edit master text styles: level 1, body text</a:t>
            </a:r>
          </a:p>
          <a:p>
            <a:pPr lvl="1"/>
            <a:r>
              <a:rPr lang="en-US" dirty="0"/>
              <a:t>Level 2: bullet</a:t>
            </a:r>
          </a:p>
          <a:p>
            <a:pPr lvl="2"/>
            <a:r>
              <a:rPr lang="en-US" dirty="0"/>
              <a:t>Level 3: dash</a:t>
            </a:r>
          </a:p>
          <a:p>
            <a:pPr lvl="3"/>
            <a:r>
              <a:rPr lang="en-US" dirty="0"/>
              <a:t>Level 4: detail</a:t>
            </a:r>
          </a:p>
          <a:p>
            <a:pPr lvl="4"/>
            <a:r>
              <a:rPr lang="en-US" dirty="0"/>
              <a:t>Level 5: detail</a:t>
            </a:r>
          </a:p>
        </p:txBody>
      </p:sp>
      <p:sp>
        <p:nvSpPr>
          <p:cNvPr id="4" name="Page Number (automatic field)"/>
          <p:cNvSpPr txBox="1"/>
          <p:nvPr userDrawn="1"/>
        </p:nvSpPr>
        <p:spPr>
          <a:xfrm>
            <a:off x="11368735" y="6272784"/>
            <a:ext cx="365760" cy="237744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r"/>
            <a:fld id="{B6F15528-21DE-4FAA-801E-634DDDAF4B2B}" type="slidenum">
              <a:rPr lang="en-US" sz="1000" dirty="0">
                <a:solidFill>
                  <a:schemeClr val="tx2"/>
                </a:solidFill>
                <a:latin typeface="+mn-lt"/>
              </a:rPr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–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137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FBAE40"/>
          </p15:clr>
        </p15:guide>
        <p15:guide id="2" pos="3696" userDrawn="1">
          <p15:clr>
            <a:srgbClr val="FBAE40"/>
          </p15:clr>
        </p15:guide>
        <p15:guide id="3" pos="3984" userDrawn="1">
          <p15:clr>
            <a:srgbClr val="FBAE40"/>
          </p15:clr>
        </p15:guide>
        <p15:guide id="4" pos="7392" userDrawn="1">
          <p15:clr>
            <a:srgbClr val="FBAE40"/>
          </p15:clr>
        </p15:guide>
        <p15:guide id="5" orient="horz" pos="173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1066" userDrawn="1">
          <p15:clr>
            <a:srgbClr val="FBAE40"/>
          </p15:clr>
        </p15:guide>
        <p15:guide id="8" orient="horz" pos="3715" userDrawn="1">
          <p15:clr>
            <a:srgbClr val="FBAE40"/>
          </p15:clr>
        </p15:guide>
        <p15:guide id="9" orient="horz" pos="4101" userDrawn="1">
          <p15:clr>
            <a:srgbClr val="FBAE4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ation title"/>
          <p:cNvSpPr>
            <a:spLocks noGrp="1"/>
          </p:cNvSpPr>
          <p:nvPr>
            <p:ph type="title" idx="106" hasCustomPrompt="1"/>
          </p:nvPr>
        </p:nvSpPr>
        <p:spPr>
          <a:xfrm>
            <a:off x="45720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When oil went negative: WTI at −$37.63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3" hasCustomPrompt="1"/>
          </p:nvPr>
        </p:nvSpPr>
        <p:spPr>
          <a:xfrm>
            <a:off x="45720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demand shock, full tanks and an expiring contract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Overview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Executive summary</a:t>
            </a:r>
          </a:p>
        </p:txBody>
      </p:sp>
      <p:sp>
        <p:nvSpPr>
          <p:cNvPr id="4" name="Summar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Only one contract went negative</a:t>
            </a:r>
          </a:p>
          <a:p>
            <a:pPr lvl="1"/>
            <a:r>
              <a:t>May WTI settled at −$37.63 on 20 Apr 2020; June stayed near $20</a:t>
            </a:r>
          </a:p>
          <a:p>
            <a:r>
              <a:t>Demand collapsed faster than supply could adjust</a:t>
            </a:r>
          </a:p>
          <a:p>
            <a:pPr lvl="1"/>
            <a:r>
              <a:t>April demand −29 mb/d year on year; OPEC+ cuts started only in May</a:t>
            </a:r>
          </a:p>
          <a:p>
            <a:r>
              <a:t>Storage ran out at the delivery point</a:t>
            </a:r>
          </a:p>
          <a:p>
            <a:pPr lvl="1"/>
            <a:r>
              <a:t>Cushing stocks up 52% in four weeks, to 60mb by 17 Apr</a:t>
            </a:r>
          </a:p>
          <a:p>
            <a:r>
              <a:t>Physical delivery forced exits into a thin market</a:t>
            </a:r>
          </a:p>
          <a:p>
            <a:pPr lvl="1"/>
            <a:r>
              <a:t>Longs without tanks had to sell before 21 Apr; 83% of open interest had already left</a:t>
            </a:r>
          </a:p>
          <a:p>
            <a:r>
              <a:t>Negative crude did not mean free gasoline</a:t>
            </a:r>
          </a:p>
          <a:p>
            <a:pPr lvl="1"/>
            <a:r>
              <a:t>Crude was 25% of April's $1.84 pump price</a:t>
            </a:r>
          </a:p>
          <a:p>
            <a:r>
              <a:t>Funds that roll early avoid expiry, but pay contango</a:t>
            </a:r>
          </a:p>
          <a:p>
            <a:pPr lvl="1"/>
            <a:r>
              <a:t>USO roll cost ~32%; Bank of China held too long, and clients lost $1.4bn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shock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Only the expiring May contract went negative, and only for a day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WTI futures settlement prices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$ per barrel, April 2020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7498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akeaways header"/>
          <p:cNvSpPr>
            <a:spLocks noGrp="1"/>
          </p:cNvSpPr>
          <p:nvPr>
            <p:ph type="body" idx="107" hasCustomPrompt="1"/>
          </p:nvPr>
        </p:nvSpPr>
        <p:spPr>
          <a:xfrm>
            <a:off x="8534095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facts</a:t>
            </a:r>
          </a:p>
        </p:txBody>
      </p:sp>
      <p:sp>
        <p:nvSpPr>
          <p:cNvPr id="9" name="Takeaways text"/>
          <p:cNvSpPr>
            <a:spLocks noGrp="1"/>
          </p:cNvSpPr>
          <p:nvPr>
            <p:ph type="body" idx="108" hasCustomPrompt="1"/>
          </p:nvPr>
        </p:nvSpPr>
        <p:spPr>
          <a:xfrm>
            <a:off x="8534095" y="2377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/>
            <a:r>
              <a:t>First negative settlement since the 1983 listing</a:t>
            </a:r>
          </a:p>
          <a:p>
            <a:pPr lvl="1"/>
            <a:r>
              <a:t>Intraday low: −$40.32</a:t>
            </a:r>
          </a:p>
          <a:p>
            <a:pPr lvl="1"/>
            <a:r>
              <a:t>May–June spread: −$58.06</a:t>
            </a:r>
          </a:p>
          <a:p>
            <a:pPr lvl="1"/>
            <a:r>
              <a:t>Not a global spot price: Brent stayed positive</a:t>
            </a:r>
          </a:p>
        </p:txBody>
      </p:sp>
      <p:sp>
        <p:nvSpPr>
          <p:cNvPr id="10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June price derived from May settlement and May–June spread. Source: CFTC Interim Staff Report (Nov 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shock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Demand collapsed while supply kept flowing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IEA Oil Market Report (Apr 2020); CFTC Interim Staff Report (Nov 2020)</a:t>
            </a:r>
          </a:p>
        </p:txBody>
      </p:sp>
      <p:sp>
        <p:nvSpPr>
          <p:cNvPr id="5" name="Col 1 header"/>
          <p:cNvSpPr txBox="1"/>
          <p:nvPr/>
        </p:nvSpPr>
        <p:spPr>
          <a:xfrm>
            <a:off x="457200" y="1691640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Demand collapsed</a:t>
            </a:r>
          </a:p>
        </p:txBody>
      </p:sp>
      <p:sp>
        <p:nvSpPr>
          <p:cNvPr id="6" name="Col 1 text"/>
          <p:cNvSpPr txBox="1"/>
          <p:nvPr/>
        </p:nvSpPr>
        <p:spPr>
          <a:xfrm>
            <a:off x="457200" y="2057400"/>
            <a:ext cx="55046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Lockdowns cut driving and flying</a:t>
            </a:r>
          </a:p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Refiners cut runs</a:t>
            </a:r>
          </a:p>
        </p:txBody>
      </p:sp>
      <p:sp>
        <p:nvSpPr>
          <p:cNvPr id="7" name="Col 2 header"/>
          <p:cNvSpPr txBox="1"/>
          <p:nvPr/>
        </p:nvSpPr>
        <p:spPr>
          <a:xfrm>
            <a:off x="6227064" y="1691640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Supply kept flowing</a:t>
            </a:r>
          </a:p>
        </p:txBody>
      </p:sp>
      <p:sp>
        <p:nvSpPr>
          <p:cNvPr id="8" name="Col 2 text"/>
          <p:cNvSpPr txBox="1"/>
          <p:nvPr/>
        </p:nvSpPr>
        <p:spPr>
          <a:xfrm>
            <a:off x="6227064" y="2057400"/>
            <a:ext cx="55046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OPEC+ talks failed on 6 Mar; a price war followed</a:t>
            </a:r>
          </a:p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Record cut agreed 12 Apr, effective 1 May</a:t>
            </a:r>
          </a:p>
        </p:txBody>
      </p:sp>
      <p:sp>
        <p:nvSpPr>
          <p:cNvPr id="9" name="Shock 1 panel"/>
          <p:cNvSpPr/>
          <p:nvPr/>
        </p:nvSpPr>
        <p:spPr>
          <a:xfrm>
            <a:off x="457200" y="3291840"/>
            <a:ext cx="2612898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Shock 1 value"/>
          <p:cNvSpPr txBox="1"/>
          <p:nvPr/>
        </p:nvSpPr>
        <p:spPr>
          <a:xfrm>
            <a:off x="658368" y="34290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0">
                <a:solidFill>
                  <a:schemeClr val="accent1"/>
                </a:solidFill>
                <a:latin typeface="+mj-lt"/>
              </a:rPr>
              <a:t>−29 mb/d</a:t>
            </a:r>
          </a:p>
        </p:txBody>
      </p:sp>
      <p:sp>
        <p:nvSpPr>
          <p:cNvPr id="11" name="Shock 1 label"/>
          <p:cNvSpPr txBox="1"/>
          <p:nvPr/>
        </p:nvSpPr>
        <p:spPr>
          <a:xfrm>
            <a:off x="658368" y="4206240"/>
            <a:ext cx="221056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April demand vs 2019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IEA</a:t>
            </a:r>
          </a:p>
        </p:txBody>
      </p:sp>
      <p:sp>
        <p:nvSpPr>
          <p:cNvPr id="12" name="Shock 2 panel"/>
          <p:cNvSpPr/>
          <p:nvPr/>
        </p:nvSpPr>
        <p:spPr>
          <a:xfrm>
            <a:off x="3344418" y="3291840"/>
            <a:ext cx="2612898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Shock 2 value"/>
          <p:cNvSpPr txBox="1"/>
          <p:nvPr/>
        </p:nvSpPr>
        <p:spPr>
          <a:xfrm>
            <a:off x="3545586" y="34290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0">
                <a:solidFill>
                  <a:schemeClr val="accent1"/>
                </a:solidFill>
                <a:latin typeface="+mj-lt"/>
              </a:rPr>
              <a:t>12 mb/d</a:t>
            </a:r>
          </a:p>
        </p:txBody>
      </p:sp>
      <p:sp>
        <p:nvSpPr>
          <p:cNvPr id="14" name="Shock 2 label"/>
          <p:cNvSpPr txBox="1"/>
          <p:nvPr/>
        </p:nvSpPr>
        <p:spPr>
          <a:xfrm>
            <a:off x="3545586" y="4206240"/>
            <a:ext cx="221056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Implied stock build, 1H20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IEA</a:t>
            </a:r>
          </a:p>
        </p:txBody>
      </p:sp>
      <p:sp>
        <p:nvSpPr>
          <p:cNvPr id="15" name="Shock 3 panel"/>
          <p:cNvSpPr/>
          <p:nvPr/>
        </p:nvSpPr>
        <p:spPr>
          <a:xfrm>
            <a:off x="6231636" y="3291840"/>
            <a:ext cx="2612898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Shock 3 value"/>
          <p:cNvSpPr txBox="1"/>
          <p:nvPr/>
        </p:nvSpPr>
        <p:spPr>
          <a:xfrm>
            <a:off x="6432803" y="34290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0">
                <a:solidFill>
                  <a:schemeClr val="accent1"/>
                </a:solidFill>
                <a:latin typeface="+mj-lt"/>
              </a:rPr>
              <a:t>15.8mb</a:t>
            </a:r>
          </a:p>
        </p:txBody>
      </p:sp>
      <p:sp>
        <p:nvSpPr>
          <p:cNvPr id="17" name="Shock 3 label"/>
          <p:cNvSpPr txBox="1"/>
          <p:nvPr/>
        </p:nvSpPr>
        <p:spPr>
          <a:xfrm>
            <a:off x="6432803" y="4206240"/>
            <a:ext cx="221056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US crude added per week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Four weeks to 17 Apr</a:t>
            </a:r>
          </a:p>
        </p:txBody>
      </p:sp>
      <p:sp>
        <p:nvSpPr>
          <p:cNvPr id="18" name="Shock 4 panel"/>
          <p:cNvSpPr/>
          <p:nvPr/>
        </p:nvSpPr>
        <p:spPr>
          <a:xfrm>
            <a:off x="9118854" y="3291840"/>
            <a:ext cx="2612898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Shock 4 value"/>
          <p:cNvSpPr txBox="1"/>
          <p:nvPr/>
        </p:nvSpPr>
        <p:spPr>
          <a:xfrm>
            <a:off x="9320022" y="34290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0">
                <a:solidFill>
                  <a:schemeClr val="accent1"/>
                </a:solidFill>
                <a:latin typeface="+mj-lt"/>
              </a:rPr>
              <a:t>9.7 mb/d</a:t>
            </a:r>
          </a:p>
        </p:txBody>
      </p:sp>
      <p:sp>
        <p:nvSpPr>
          <p:cNvPr id="20" name="Shock 4 label"/>
          <p:cNvSpPr txBox="1"/>
          <p:nvPr/>
        </p:nvSpPr>
        <p:spPr>
          <a:xfrm>
            <a:off x="9320022" y="4206240"/>
            <a:ext cx="221056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OPEC+ cut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Only from 1 May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shock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Cushing filled up as the May contract emptied out</a:t>
            </a:r>
          </a:p>
        </p:txBody>
      </p:sp>
      <p:sp>
        <p:nvSpPr>
          <p:cNvPr id="5" name="Left 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May WTI open interest</a:t>
            </a:r>
          </a:p>
        </p:txBody>
      </p:sp>
      <p:sp>
        <p:nvSpPr>
          <p:cNvPr id="6" name="Left 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Thousand contracts, 2020</a:t>
            </a:r>
          </a:p>
        </p:txBody>
      </p:sp>
      <p:graphicFrame>
        <p:nvGraphicFramePr>
          <p:cNvPr id="7" name="Left 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5410048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ight exhibit header"/>
          <p:cNvSpPr>
            <a:spLocks noGrp="1"/>
          </p:cNvSpPr>
          <p:nvPr>
            <p:ph type="body" idx="106" hasCustomPrompt="1"/>
          </p:nvPr>
        </p:nvSpPr>
        <p:spPr>
          <a:xfrm>
            <a:off x="6324448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Cushing crude stocks</a:t>
            </a:r>
          </a:p>
        </p:txBody>
      </p:sp>
      <p:sp>
        <p:nvSpPr>
          <p:cNvPr id="9" name="Right unit of measure"/>
          <p:cNvSpPr>
            <a:spLocks noGrp="1"/>
          </p:cNvSpPr>
          <p:nvPr>
            <p:ph type="body" idx="107" hasCustomPrompt="1"/>
          </p:nvPr>
        </p:nvSpPr>
        <p:spPr>
          <a:xfrm>
            <a:off x="6324448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Million barrels, weekly; working capacity ~76mb</a:t>
            </a:r>
          </a:p>
        </p:txBody>
      </p:sp>
      <p:graphicFrame>
        <p:nvGraphicFramePr>
          <p:cNvPr id="10" name="Right chart"/>
          <p:cNvGraphicFramePr>
            <a:graphicFrameLocks noGrp="1"/>
          </p:cNvGraphicFramePr>
          <p:nvPr>
            <p:ph type="chart" idx="108" hasCustomPrompt="1"/>
          </p:nvPr>
        </p:nvGraphicFramePr>
        <p:xfrm>
          <a:off x="6324448" y="2331720"/>
          <a:ext cx="5410048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CFTC Interim Staff Report (Nov 2020); EIA weekly Cushing stocks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mechanics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WTI is a physical contract: holders at expiry must take oil at Cushing</a:t>
            </a:r>
          </a:p>
        </p:txBody>
      </p:sp>
      <p:sp>
        <p:nvSpPr>
          <p:cNvPr id="4" name="Column 1 mark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02920" cy="502920"/>
          </a:xfrm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5" name="Connector 1"/>
          <p:cNvSpPr/>
          <p:nvPr/>
        </p:nvSpPr>
        <p:spPr>
          <a:xfrm>
            <a:off x="1097280" y="1943100"/>
            <a:ext cx="310377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Column 1 header"/>
          <p:cNvSpPr>
            <a:spLocks noGrp="1"/>
          </p:cNvSpPr>
          <p:nvPr>
            <p:ph type="body" idx="104" hasCustomPrompt="1"/>
          </p:nvPr>
        </p:nvSpPr>
        <p:spPr>
          <a:xfrm>
            <a:off x="457200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Last trading day</a:t>
            </a:r>
          </a:p>
        </p:txBody>
      </p:sp>
      <p:sp>
        <p:nvSpPr>
          <p:cNvPr id="7" name="Column 1 text"/>
          <p:cNvSpPr>
            <a:spLocks noGrp="1"/>
          </p:cNvSpPr>
          <p:nvPr>
            <p:ph type="body" idx="105" hasCustomPrompt="1"/>
          </p:nvPr>
        </p:nvSpPr>
        <p:spPr>
          <a:xfrm>
            <a:off x="457200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21 Apr 2020 for the May contract</a:t>
            </a:r>
          </a:p>
          <a:p>
            <a:pPr lvl="1"/>
            <a:r>
              <a:t>Open positions go to delivery</a:t>
            </a:r>
          </a:p>
        </p:txBody>
      </p:sp>
      <p:sp>
        <p:nvSpPr>
          <p:cNvPr id="8" name="Example panel 1"/>
          <p:cNvSpPr/>
          <p:nvPr/>
        </p:nvSpPr>
        <p:spPr>
          <a:xfrm>
            <a:off x="457200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RULE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Delivery in May at Cushing, Oklahoma</a:t>
            </a:r>
            <a:endParaRPr lang="en-US" sz="1400" dirty="0"/>
          </a:p>
        </p:txBody>
      </p:sp>
      <p:sp>
        <p:nvSpPr>
          <p:cNvPr id="11" name="Column 2 marker"/>
          <p:cNvSpPr>
            <a:spLocks noGrp="1"/>
          </p:cNvSpPr>
          <p:nvPr>
            <p:ph type="body" idx="106" hasCustomPrompt="1"/>
          </p:nvPr>
        </p:nvSpPr>
        <p:spPr>
          <a:xfrm>
            <a:off x="4338218" y="1691640"/>
            <a:ext cx="502920" cy="502920"/>
          </a:xfrm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12" name="Connector 2"/>
          <p:cNvSpPr/>
          <p:nvPr/>
        </p:nvSpPr>
        <p:spPr>
          <a:xfrm>
            <a:off x="4978298" y="1943100"/>
            <a:ext cx="310377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olumn 2 header"/>
          <p:cNvSpPr>
            <a:spLocks noGrp="1"/>
          </p:cNvSpPr>
          <p:nvPr>
            <p:ph type="body" idx="107" hasCustomPrompt="1"/>
          </p:nvPr>
        </p:nvSpPr>
        <p:spPr>
          <a:xfrm>
            <a:off x="4338218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Take delivery</a:t>
            </a:r>
          </a:p>
        </p:txBody>
      </p:sp>
      <p:sp>
        <p:nvSpPr>
          <p:cNvPr id="14" name="Column 2 text"/>
          <p:cNvSpPr>
            <a:spLocks noGrp="1"/>
          </p:cNvSpPr>
          <p:nvPr>
            <p:ph type="body" idx="108" hasCustomPrompt="1"/>
          </p:nvPr>
        </p:nvSpPr>
        <p:spPr>
          <a:xfrm>
            <a:off x="4338218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Needs pipeline or tank space</a:t>
            </a:r>
          </a:p>
          <a:p>
            <a:pPr lvl="1"/>
            <a:r>
              <a:t>Tanks were filling fast</a:t>
            </a:r>
          </a:p>
        </p:txBody>
      </p:sp>
      <p:sp>
        <p:nvSpPr>
          <p:cNvPr id="15" name="Example panel 2"/>
          <p:cNvSpPr/>
          <p:nvPr/>
        </p:nvSpPr>
        <p:spPr>
          <a:xfrm>
            <a:off x="4338218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1098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APRIL 2020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Cushing at 60mb on 17 Apr, up 52% in four weeks</a:t>
            </a:r>
            <a:endParaRPr lang="en-US" sz="1400" dirty="0"/>
          </a:p>
        </p:txBody>
      </p:sp>
      <p:sp>
        <p:nvSpPr>
          <p:cNvPr id="18" name="Column 3 marker"/>
          <p:cNvSpPr>
            <a:spLocks noGrp="1"/>
          </p:cNvSpPr>
          <p:nvPr>
            <p:ph type="body" idx="109" hasCustomPrompt="1"/>
          </p:nvPr>
        </p:nvSpPr>
        <p:spPr>
          <a:xfrm>
            <a:off x="8219237" y="1691640"/>
            <a:ext cx="502920" cy="502920"/>
          </a:xfr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19" name="Column 3 header"/>
          <p:cNvSpPr>
            <a:spLocks noGrp="1"/>
          </p:cNvSpPr>
          <p:nvPr>
            <p:ph type="body" idx="110" hasCustomPrompt="1"/>
          </p:nvPr>
        </p:nvSpPr>
        <p:spPr>
          <a:xfrm>
            <a:off x="8219237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Or exit early</a:t>
            </a:r>
          </a:p>
        </p:txBody>
      </p:sp>
      <p:sp>
        <p:nvSpPr>
          <p:cNvPr id="20" name="Column 3 text"/>
          <p:cNvSpPr>
            <a:spLocks noGrp="1"/>
          </p:cNvSpPr>
          <p:nvPr>
            <p:ph type="body" idx="111" hasCustomPrompt="1"/>
          </p:nvPr>
        </p:nvSpPr>
        <p:spPr>
          <a:xfrm>
            <a:off x="8219237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Financial traders must sell or roll</a:t>
            </a:r>
          </a:p>
          <a:p>
            <a:pPr lvl="1"/>
            <a:r>
              <a:t>Late exits hit a thin market</a:t>
            </a:r>
          </a:p>
        </p:txBody>
      </p:sp>
      <p:sp>
        <p:nvSpPr>
          <p:cNvPr id="21" name="Example panel 3"/>
          <p:cNvSpPr/>
          <p:nvPr/>
        </p:nvSpPr>
        <p:spPr>
          <a:xfrm>
            <a:off x="8219237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02117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CONTRAST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ICBC and CCB rolled on 14 Apr; Bank of China waited until 20 Apr</a:t>
            </a:r>
            <a:endParaRPr lang="en-US" sz="1400" dirty="0"/>
          </a:p>
        </p:txBody>
      </p:sp>
      <p:sp>
        <p:nvSpPr>
          <p:cNvPr id="24" name="Source and notes"/>
          <p:cNvSpPr>
            <a:spLocks noGrp="1"/>
          </p:cNvSpPr>
          <p:nvPr>
            <p:ph type="body" idx="112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CME contract terms via CRS; EIA; Caixin (27 Apr 2020)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mechanics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barrel is worth its sale price minus the cost of keeping and moving it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Carry implied by the May–June spread at settlement. Source: CFTC Interim Staff Report (Nov 2020); team analysis</a:t>
            </a:r>
          </a:p>
        </p:txBody>
      </p:sp>
      <p:sp>
        <p:nvSpPr>
          <p:cNvPr id="5" name="Formula band"/>
          <p:cNvSpPr/>
          <p:nvPr/>
        </p:nvSpPr>
        <p:spPr>
          <a:xfrm>
            <a:off x="457200" y="1691640"/>
            <a:ext cx="11274552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Formula text"/>
          <p:cNvSpPr txBox="1"/>
          <p:nvPr/>
        </p:nvSpPr>
        <p:spPr>
          <a:xfrm>
            <a:off x="457200" y="16916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chemeClr val="bg1"/>
                </a:solidFill>
                <a:latin typeface="+mj-lt"/>
              </a:rPr>
              <a:t>Net value  =  future sale value  −  storage cost  −  transport cost</a:t>
            </a:r>
          </a:p>
        </p:txBody>
      </p:sp>
      <p:sp>
        <p:nvSpPr>
          <p:cNvPr id="7" name="Example header"/>
          <p:cNvSpPr txBox="1"/>
          <p:nvPr/>
        </p:nvSpPr>
        <p:spPr>
          <a:xfrm>
            <a:off x="457200" y="288036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On 20 April 2020</a:t>
            </a:r>
          </a:p>
        </p:txBody>
      </p:sp>
      <p:sp>
        <p:nvSpPr>
          <p:cNvPr id="8" name="Part 1 panel"/>
          <p:cNvSpPr/>
          <p:nvPr/>
        </p:nvSpPr>
        <p:spPr>
          <a:xfrm>
            <a:off x="457200" y="3291840"/>
            <a:ext cx="310896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Part 1 value"/>
          <p:cNvSpPr txBox="1"/>
          <p:nvPr/>
        </p:nvSpPr>
        <p:spPr>
          <a:xfrm>
            <a:off x="685800" y="3383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$20.43</a:t>
            </a:r>
          </a:p>
        </p:txBody>
      </p:sp>
      <p:sp>
        <p:nvSpPr>
          <p:cNvPr id="10" name="Part 1 label"/>
          <p:cNvSpPr txBox="1"/>
          <p:nvPr/>
        </p:nvSpPr>
        <p:spPr>
          <a:xfrm>
            <a:off x="685800" y="4114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June sale value</a:t>
            </a:r>
          </a:p>
        </p:txBody>
      </p:sp>
      <p:sp>
        <p:nvSpPr>
          <p:cNvPr id="11" name="Part 2 panel"/>
          <p:cNvSpPr/>
          <p:nvPr/>
        </p:nvSpPr>
        <p:spPr>
          <a:xfrm>
            <a:off x="4539996" y="3291840"/>
            <a:ext cx="310896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Part 2 value"/>
          <p:cNvSpPr txBox="1"/>
          <p:nvPr/>
        </p:nvSpPr>
        <p:spPr>
          <a:xfrm>
            <a:off x="4768596" y="3383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$58.06</a:t>
            </a:r>
          </a:p>
        </p:txBody>
      </p:sp>
      <p:sp>
        <p:nvSpPr>
          <p:cNvPr id="13" name="Part 2 label"/>
          <p:cNvSpPr txBox="1"/>
          <p:nvPr/>
        </p:nvSpPr>
        <p:spPr>
          <a:xfrm>
            <a:off x="4768596" y="4114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Cost to carry one month</a:t>
            </a:r>
          </a:p>
        </p:txBody>
      </p:sp>
      <p:sp>
        <p:nvSpPr>
          <p:cNvPr id="14" name="Part 3 panel"/>
          <p:cNvSpPr/>
          <p:nvPr/>
        </p:nvSpPr>
        <p:spPr>
          <a:xfrm>
            <a:off x="8622792" y="3291840"/>
            <a:ext cx="310896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Part 3 value"/>
          <p:cNvSpPr txBox="1"/>
          <p:nvPr/>
        </p:nvSpPr>
        <p:spPr>
          <a:xfrm>
            <a:off x="8851392" y="3383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−$37.63</a:t>
            </a:r>
          </a:p>
        </p:txBody>
      </p:sp>
      <p:sp>
        <p:nvSpPr>
          <p:cNvPr id="16" name="Part 3 label"/>
          <p:cNvSpPr txBox="1"/>
          <p:nvPr/>
        </p:nvSpPr>
        <p:spPr>
          <a:xfrm>
            <a:off x="8851392" y="4114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May barrel value</a:t>
            </a:r>
          </a:p>
        </p:txBody>
      </p:sp>
      <p:sp>
        <p:nvSpPr>
          <p:cNvPr id="17" name="Operator 1"/>
          <p:cNvSpPr txBox="1"/>
          <p:nvPr/>
        </p:nvSpPr>
        <p:spPr>
          <a:xfrm>
            <a:off x="3566160" y="3291840"/>
            <a:ext cx="9738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chemeClr val="tx2"/>
                </a:solidFill>
                <a:latin typeface="+mj-lt"/>
              </a:rPr>
              <a:t>−</a:t>
            </a:r>
          </a:p>
        </p:txBody>
      </p:sp>
      <p:sp>
        <p:nvSpPr>
          <p:cNvPr id="18" name="Operator 2"/>
          <p:cNvSpPr txBox="1"/>
          <p:nvPr/>
        </p:nvSpPr>
        <p:spPr>
          <a:xfrm>
            <a:off x="7648956" y="3291840"/>
            <a:ext cx="97383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chemeClr val="tx2"/>
                </a:solidFill>
                <a:latin typeface="+mj-lt"/>
              </a:rPr>
              <a:t>=</a:t>
            </a:r>
          </a:p>
        </p:txBody>
      </p:sp>
      <p:sp>
        <p:nvSpPr>
          <p:cNvPr id="19" name="Takeaway"/>
          <p:cNvSpPr txBox="1"/>
          <p:nvPr/>
        </p:nvSpPr>
        <p:spPr>
          <a:xfrm>
            <a:off x="457200" y="4937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With tanks full, carry had no ceiling: </a:t>
            </a:r>
            <a:r>
              <a:rPr sz="1400" b="0">
                <a:solidFill>
                  <a:schemeClr val="tx1"/>
                </a:solidFill>
              </a:rPr>
              <a:t>the May–June spread priced one month of storage at $58 a barrel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mechanics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For a long with no tank, paying $37.63 to exit was the cheaper option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CFTC; team analysis</a:t>
            </a:r>
          </a:p>
        </p:txBody>
      </p:sp>
      <p:sp>
        <p:nvSpPr>
          <p:cNvPr id="5" name="Option A header"/>
          <p:cNvSpPr/>
          <p:nvPr/>
        </p:nvSpPr>
        <p:spPr>
          <a:xfrm>
            <a:off x="457200" y="1691640"/>
            <a:ext cx="5454396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228600" rIns="228600" tIns="54864" bIns="54864"/>
          <a:lstStyle/>
          <a:p>
            <a:pPr algn="l"/>
            <a:r>
              <a:rPr sz="1600" b="1">
                <a:solidFill>
                  <a:schemeClr val="bg1"/>
                </a:solidFill>
              </a:rPr>
              <a:t>Option A:  </a:t>
            </a:r>
            <a:r>
              <a:rPr sz="1600" b="1">
                <a:solidFill>
                  <a:schemeClr val="bg1"/>
                </a:solidFill>
              </a:rPr>
              <a:t>Sell at −$37.63</a:t>
            </a:r>
          </a:p>
        </p:txBody>
      </p:sp>
      <p:sp>
        <p:nvSpPr>
          <p:cNvPr id="6" name="Option A panel"/>
          <p:cNvSpPr/>
          <p:nvPr/>
        </p:nvSpPr>
        <p:spPr>
          <a:xfrm>
            <a:off x="457200" y="2331720"/>
            <a:ext cx="5454396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Option A text"/>
          <p:cNvSpPr txBox="1"/>
          <p:nvPr/>
        </p:nvSpPr>
        <p:spPr>
          <a:xfrm>
            <a:off x="685800" y="2560320"/>
            <a:ext cx="499719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1800"/>
              </a:spcAft>
              <a:buClr>
                <a:schemeClr val="accent1"/>
              </a:buClr>
              <a:buFont typeface="Arial"/>
              <a:buChar char="•"/>
            </a:pPr>
            <a:r>
              <a:rPr sz="1600" b="0">
                <a:solidFill>
                  <a:schemeClr val="tx1"/>
                </a:solidFill>
              </a:rPr>
              <a:t>Loss known and capped</a:t>
            </a:r>
          </a:p>
          <a:p>
            <a:pPr algn="l" marL="146304" indent="-146304">
              <a:spcAft>
                <a:spcPts val="1800"/>
              </a:spcAft>
              <a:buClr>
                <a:schemeClr val="accent1"/>
              </a:buClr>
              <a:buFont typeface="Arial"/>
              <a:buChar char="•"/>
            </a:pPr>
            <a:r>
              <a:rPr sz="1600" b="0">
                <a:solidFill>
                  <a:schemeClr val="tx1"/>
                </a:solidFill>
              </a:rPr>
              <a:t>Position closed before 21 Apr</a:t>
            </a:r>
          </a:p>
          <a:p>
            <a:pPr algn="l" marL="146304" indent="-146304">
              <a:spcAft>
                <a:spcPts val="1800"/>
              </a:spcAft>
              <a:buClr>
                <a:schemeClr val="accent1"/>
              </a:buClr>
              <a:buFont typeface="Arial"/>
              <a:buChar char="•"/>
            </a:pPr>
            <a:r>
              <a:rPr sz="1600" b="0">
                <a:solidFill>
                  <a:schemeClr val="tx1"/>
                </a:solidFill>
              </a:rPr>
              <a:t>No delivery obligation</a:t>
            </a:r>
          </a:p>
        </p:txBody>
      </p:sp>
      <p:sp>
        <p:nvSpPr>
          <p:cNvPr id="8" name="Option B header"/>
          <p:cNvSpPr/>
          <p:nvPr/>
        </p:nvSpPr>
        <p:spPr>
          <a:xfrm>
            <a:off x="6277356" y="1691640"/>
            <a:ext cx="5454396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rIns="228600" tIns="54864" bIns="54864"/>
          <a:lstStyle/>
          <a:p>
            <a:pPr algn="l"/>
            <a:r>
              <a:rPr sz="1600" b="1">
                <a:solidFill>
                  <a:schemeClr val="bg1"/>
                </a:solidFill>
              </a:rPr>
              <a:t>Option B:  </a:t>
            </a:r>
            <a:r>
              <a:rPr sz="1600" b="1">
                <a:solidFill>
                  <a:schemeClr val="bg1"/>
                </a:solidFill>
              </a:rPr>
              <a:t>Hold to delivery</a:t>
            </a:r>
          </a:p>
        </p:txBody>
      </p:sp>
      <p:sp>
        <p:nvSpPr>
          <p:cNvPr id="9" name="Option B panel"/>
          <p:cNvSpPr/>
          <p:nvPr/>
        </p:nvSpPr>
        <p:spPr>
          <a:xfrm>
            <a:off x="6277356" y="2331720"/>
            <a:ext cx="5454396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Option B text"/>
          <p:cNvSpPr txBox="1"/>
          <p:nvPr/>
        </p:nvSpPr>
        <p:spPr>
          <a:xfrm>
            <a:off x="6505956" y="2560320"/>
            <a:ext cx="499719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1800"/>
              </a:spcAft>
              <a:buClr>
                <a:schemeClr val="accent1"/>
              </a:buClr>
              <a:buFont typeface="Arial"/>
              <a:buChar char="•"/>
            </a:pPr>
            <a:r>
              <a:rPr sz="1600" b="0">
                <a:solidFill>
                  <a:schemeClr val="tx1"/>
                </a:solidFill>
              </a:rPr>
              <a:t>Must find tank or pipeline space in May</a:t>
            </a:r>
          </a:p>
          <a:p>
            <a:pPr algn="l" marL="146304" indent="-146304">
              <a:spcAft>
                <a:spcPts val="1800"/>
              </a:spcAft>
              <a:buClr>
                <a:schemeClr val="accent1"/>
              </a:buClr>
              <a:buFont typeface="Arial"/>
              <a:buChar char="•"/>
            </a:pPr>
            <a:r>
              <a:rPr sz="1600" b="0">
                <a:solidFill>
                  <a:schemeClr val="tx1"/>
                </a:solidFill>
              </a:rPr>
              <a:t>Storage and transport at crisis prices</a:t>
            </a:r>
          </a:p>
          <a:p>
            <a:pPr algn="l" marL="146304" indent="-146304">
              <a:spcAft>
                <a:spcPts val="1800"/>
              </a:spcAft>
              <a:buClr>
                <a:schemeClr val="accent1"/>
              </a:buClr>
              <a:buFont typeface="Arial"/>
              <a:buChar char="•"/>
            </a:pPr>
            <a:r>
              <a:rPr sz="1600" b="0">
                <a:solidFill>
                  <a:schemeClr val="tx1"/>
                </a:solidFill>
              </a:rPr>
              <a:t>Fail to take delivery: default via the broker</a:t>
            </a:r>
          </a:p>
        </p:txBody>
      </p:sp>
      <p:sp>
        <p:nvSpPr>
          <p:cNvPr id="11" name="Verdict panel"/>
          <p:cNvSpPr/>
          <p:nvPr/>
        </p:nvSpPr>
        <p:spPr>
          <a:xfrm>
            <a:off x="457200" y="4892040"/>
            <a:ext cx="11274552" cy="77724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Verdict text"/>
          <p:cNvSpPr txBox="1"/>
          <p:nvPr/>
        </p:nvSpPr>
        <p:spPr>
          <a:xfrm>
            <a:off x="685800" y="489204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Verdict: </a:t>
            </a:r>
            <a:r>
              <a:rPr sz="1600" b="0">
                <a:solidFill>
                  <a:schemeClr val="tx1"/>
                </a:solidFill>
              </a:rPr>
              <a:t>a $37.63 exit cost beat an uncapped cost of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mechanics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Thin liquidity met heavy selling in the final minutes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Settlement window 2:28–2:30pm ET (1:28–1:30pm CT); TAS = trade at settlement. Source: CFTC Interim Staff Report (Nov 2020); Mish v. Vega, N.D. Ill. (2022 opinion; Law360, Jun 2025)</a:t>
            </a:r>
          </a:p>
        </p:txBody>
      </p:sp>
      <p:sp>
        <p:nvSpPr>
          <p:cNvPr id="5" name="Row 1 header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</a:rPr>
              <a:t>Market record (CFTC)</a:t>
            </a:r>
          </a:p>
        </p:txBody>
      </p:sp>
      <p:sp>
        <p:nvSpPr>
          <p:cNvPr id="6" name="Row 1 card 1"/>
          <p:cNvSpPr/>
          <p:nvPr/>
        </p:nvSpPr>
        <p:spPr>
          <a:xfrm>
            <a:off x="457200" y="2057400"/>
            <a:ext cx="3575304" cy="155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Row 1 value 1"/>
          <p:cNvSpPr txBox="1"/>
          <p:nvPr/>
        </p:nvSpPr>
        <p:spPr>
          <a:xfrm>
            <a:off x="685800" y="2103120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accent1"/>
                </a:solidFill>
                <a:latin typeface="+mj-lt"/>
              </a:rPr>
              <a:t>−$39.55</a:t>
            </a:r>
          </a:p>
        </p:txBody>
      </p:sp>
      <p:sp>
        <p:nvSpPr>
          <p:cNvPr id="8" name="Row 1 label 1"/>
          <p:cNvSpPr txBox="1"/>
          <p:nvPr/>
        </p:nvSpPr>
        <p:spPr>
          <a:xfrm>
            <a:off x="685800" y="278892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Fall from $0 in 20 minutes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2:08–2:28pm ET</a:t>
            </a:r>
          </a:p>
        </p:txBody>
      </p:sp>
      <p:sp>
        <p:nvSpPr>
          <p:cNvPr id="9" name="Row 1 card 2"/>
          <p:cNvSpPr/>
          <p:nvPr/>
        </p:nvSpPr>
        <p:spPr>
          <a:xfrm>
            <a:off x="4306824" y="2057400"/>
            <a:ext cx="3575304" cy="155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Row 1 value 2"/>
          <p:cNvSpPr txBox="1"/>
          <p:nvPr/>
        </p:nvSpPr>
        <p:spPr>
          <a:xfrm>
            <a:off x="4535424" y="2103120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accent1"/>
                </a:solidFill>
                <a:latin typeface="+mj-lt"/>
              </a:rPr>
              <a:t>30+</a:t>
            </a:r>
          </a:p>
        </p:txBody>
      </p:sp>
      <p:sp>
        <p:nvSpPr>
          <p:cNvPr id="11" name="Row 1 label 2"/>
          <p:cNvSpPr txBox="1"/>
          <p:nvPr/>
        </p:nvSpPr>
        <p:spPr>
          <a:xfrm>
            <a:off x="4535424" y="278892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Circuit-breaker pauses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May contract, 20 Apr</a:t>
            </a:r>
          </a:p>
        </p:txBody>
      </p:sp>
      <p:sp>
        <p:nvSpPr>
          <p:cNvPr id="12" name="Row 1 card 3"/>
          <p:cNvSpPr/>
          <p:nvPr/>
        </p:nvSpPr>
        <p:spPr>
          <a:xfrm>
            <a:off x="8156448" y="2057400"/>
            <a:ext cx="3575304" cy="155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ow 1 value 3"/>
          <p:cNvSpPr txBox="1"/>
          <p:nvPr/>
        </p:nvSpPr>
        <p:spPr>
          <a:xfrm>
            <a:off x="8385048" y="2103120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accent1"/>
                </a:solidFill>
                <a:latin typeface="+mj-lt"/>
              </a:rPr>
              <a:t>1,101</a:t>
            </a:r>
          </a:p>
        </p:txBody>
      </p:sp>
      <p:sp>
        <p:nvSpPr>
          <p:cNvPr id="14" name="Row 1 label 3"/>
          <p:cNvSpPr txBox="1"/>
          <p:nvPr/>
        </p:nvSpPr>
        <p:spPr>
          <a:xfrm>
            <a:off x="8385048" y="278892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TAS trades at the limit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vs 49 in all of 2019</a:t>
            </a:r>
          </a:p>
        </p:txBody>
      </p:sp>
      <p:sp>
        <p:nvSpPr>
          <p:cNvPr id="15" name="Row 2 header"/>
          <p:cNvSpPr txBox="1"/>
          <p:nvPr/>
        </p:nvSpPr>
        <p:spPr>
          <a:xfrm>
            <a:off x="457200" y="379476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Alleged in court (Mish v. Vega; not proven)</a:t>
            </a:r>
          </a:p>
        </p:txBody>
      </p:sp>
      <p:sp>
        <p:nvSpPr>
          <p:cNvPr id="16" name="Row 2 card 1"/>
          <p:cNvSpPr/>
          <p:nvPr/>
        </p:nvSpPr>
        <p:spPr>
          <a:xfrm>
            <a:off x="457200" y="4160520"/>
            <a:ext cx="3575304" cy="155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7" name="Row 2 value 1"/>
          <p:cNvSpPr txBox="1"/>
          <p:nvPr/>
        </p:nvSpPr>
        <p:spPr>
          <a:xfrm>
            <a:off x="685800" y="4206240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tx1"/>
                </a:solidFill>
                <a:latin typeface="+mj-lt"/>
              </a:rPr>
              <a:t>153.5</a:t>
            </a:r>
          </a:p>
        </p:txBody>
      </p:sp>
      <p:sp>
        <p:nvSpPr>
          <p:cNvPr id="18" name="Row 2 label 1"/>
          <p:cNvSpPr txBox="1"/>
          <p:nvPr/>
        </p:nvSpPr>
        <p:spPr>
          <a:xfrm>
            <a:off x="685800" y="489204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Contracts sold per minute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Vega traders, 1:08–1:30pm CT</a:t>
            </a:r>
          </a:p>
        </p:txBody>
      </p:sp>
      <p:sp>
        <p:nvSpPr>
          <p:cNvPr id="19" name="Row 2 card 2"/>
          <p:cNvSpPr/>
          <p:nvPr/>
        </p:nvSpPr>
        <p:spPr>
          <a:xfrm>
            <a:off x="4306824" y="4160520"/>
            <a:ext cx="3575304" cy="155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0" name="Row 2 value 2"/>
          <p:cNvSpPr txBox="1"/>
          <p:nvPr/>
        </p:nvSpPr>
        <p:spPr>
          <a:xfrm>
            <a:off x="4535424" y="4206240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tx1"/>
                </a:solidFill>
                <a:latin typeface="+mj-lt"/>
              </a:rPr>
              <a:t>29.2%</a:t>
            </a:r>
          </a:p>
        </p:txBody>
      </p:sp>
      <p:sp>
        <p:nvSpPr>
          <p:cNvPr id="21" name="Row 2 label 2"/>
          <p:cNvSpPr txBox="1"/>
          <p:nvPr/>
        </p:nvSpPr>
        <p:spPr>
          <a:xfrm>
            <a:off x="4535424" y="489204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Share of May volume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Vega traders, 1:00–1:30pm CT</a:t>
            </a:r>
          </a:p>
        </p:txBody>
      </p:sp>
      <p:sp>
        <p:nvSpPr>
          <p:cNvPr id="22" name="Row 2 card 3"/>
          <p:cNvSpPr/>
          <p:nvPr/>
        </p:nvSpPr>
        <p:spPr>
          <a:xfrm>
            <a:off x="8156448" y="4160520"/>
            <a:ext cx="3575304" cy="155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3" name="Row 2 value 3"/>
          <p:cNvSpPr txBox="1"/>
          <p:nvPr/>
        </p:nvSpPr>
        <p:spPr>
          <a:xfrm>
            <a:off x="8385048" y="4206240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tx1"/>
                </a:solidFill>
                <a:latin typeface="+mj-lt"/>
              </a:rPr>
              <a:t>$633m</a:t>
            </a:r>
          </a:p>
        </p:txBody>
      </p:sp>
      <p:sp>
        <p:nvSpPr>
          <p:cNvPr id="24" name="Row 2 label 3"/>
          <p:cNvSpPr txBox="1"/>
          <p:nvPr/>
        </p:nvSpPr>
        <p:spPr>
          <a:xfrm>
            <a:off x="8385048" y="489204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Alleged profit on CME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Class certified, Jun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Pumps and funds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Negative crude did not mean free gasoline: crude was a quarter of the pump price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US regular gasoline price, April 2020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¢ per gallon; retail average $1.84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7498079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Cents derived from EIA component shares. Source: EIA Gasoline Pump Components History</a:t>
            </a:r>
          </a:p>
        </p:txBody>
      </p:sp>
      <p:sp>
        <p:nvSpPr>
          <p:cNvPr id="9" name="Pump panel"/>
          <p:cNvSpPr/>
          <p:nvPr/>
        </p:nvSpPr>
        <p:spPr>
          <a:xfrm>
            <a:off x="8348472" y="1691640"/>
            <a:ext cx="3383280" cy="4206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Pump header"/>
          <p:cNvSpPr txBox="1"/>
          <p:nvPr/>
        </p:nvSpPr>
        <p:spPr>
          <a:xfrm>
            <a:off x="8577072" y="187451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Why pumps lagged</a:t>
            </a:r>
          </a:p>
        </p:txBody>
      </p:sp>
      <p:sp>
        <p:nvSpPr>
          <p:cNvPr id="11" name="Pump text"/>
          <p:cNvSpPr txBox="1"/>
          <p:nvPr/>
        </p:nvSpPr>
        <p:spPr>
          <a:xfrm>
            <a:off x="8577072" y="233172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Pumps track wholesale gasoline, </a:t>
            </a:r>
            <a:r>
              <a:rPr sz="1400" b="0">
                <a:solidFill>
                  <a:schemeClr val="tx1"/>
                </a:solidFill>
              </a:rPr>
              <a:t>not one expiring contract</a:t>
            </a:r>
          </a:p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Taxes are fixed </a:t>
            </a:r>
            <a:r>
              <a:rPr sz="1400" b="0">
                <a:solidFill>
                  <a:schemeClr val="tx1"/>
                </a:solidFill>
              </a:rPr>
              <a:t>per gallon</a:t>
            </a:r>
          </a:p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Retail margins widened </a:t>
            </a:r>
            <a:r>
              <a:rPr sz="1400" b="0">
                <a:solidFill>
                  <a:schemeClr val="tx1"/>
                </a:solidFill>
              </a:rPr>
              <a:t>as crude fell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Pumps and funds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big oil ETF rolled out early; a Chinese retail product did not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ETF.com (Apr 2020); Caixin (27 Apr and 5 Dec 2020, 1 Jan 2021)</a:t>
            </a:r>
          </a:p>
        </p:txBody>
      </p:sp>
      <p:sp>
        <p:nvSpPr>
          <p:cNvPr id="5" name="Panel 1 header"/>
          <p:cNvSpPr txBox="1"/>
          <p:nvPr/>
        </p:nvSpPr>
        <p:spPr>
          <a:xfrm>
            <a:off x="457200" y="1691640"/>
            <a:ext cx="54543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USO: US oil ETF</a:t>
            </a:r>
          </a:p>
        </p:txBody>
      </p:sp>
      <p:sp>
        <p:nvSpPr>
          <p:cNvPr id="6" name="Panel 1 unit"/>
          <p:cNvSpPr txBox="1"/>
          <p:nvPr/>
        </p:nvSpPr>
        <p:spPr>
          <a:xfrm>
            <a:off x="457200" y="1984248"/>
            <a:ext cx="54543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Rolled before expiry, paid for it</a:t>
            </a:r>
          </a:p>
        </p:txBody>
      </p:sp>
      <p:sp>
        <p:nvSpPr>
          <p:cNvPr id="7" name="Panel 1 row 1"/>
          <p:cNvSpPr/>
          <p:nvPr/>
        </p:nvSpPr>
        <p:spPr>
          <a:xfrm>
            <a:off x="457200" y="2377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Panel 1 value 1"/>
          <p:cNvSpPr txBox="1"/>
          <p:nvPr/>
        </p:nvSpPr>
        <p:spPr>
          <a:xfrm>
            <a:off x="685800" y="24688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$3.4bn</a:t>
            </a:r>
          </a:p>
        </p:txBody>
      </p:sp>
      <p:sp>
        <p:nvSpPr>
          <p:cNvPr id="9" name="Panel 1 text 1"/>
          <p:cNvSpPr txBox="1"/>
          <p:nvPr/>
        </p:nvSpPr>
        <p:spPr>
          <a:xfrm>
            <a:off x="2788920" y="2468880"/>
            <a:ext cx="28940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inflows since 1 Mar 2020</a:t>
            </a:r>
          </a:p>
        </p:txBody>
      </p:sp>
      <p:sp>
        <p:nvSpPr>
          <p:cNvPr id="10" name="Panel 1 row 2"/>
          <p:cNvSpPr/>
          <p:nvPr/>
        </p:nvSpPr>
        <p:spPr>
          <a:xfrm>
            <a:off x="457200" y="3520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Panel 1 value 2"/>
          <p:cNvSpPr txBox="1"/>
          <p:nvPr/>
        </p:nvSpPr>
        <p:spPr>
          <a:xfrm>
            <a:off x="685800" y="36118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28%</a:t>
            </a:r>
          </a:p>
        </p:txBody>
      </p:sp>
      <p:sp>
        <p:nvSpPr>
          <p:cNvPr id="12" name="Panel 1 text 2"/>
          <p:cNvSpPr txBox="1"/>
          <p:nvPr/>
        </p:nvSpPr>
        <p:spPr>
          <a:xfrm>
            <a:off x="2788920" y="3611880"/>
            <a:ext cx="28940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of June open interest, 16 Apr</a:t>
            </a:r>
          </a:p>
        </p:txBody>
      </p:sp>
      <p:sp>
        <p:nvSpPr>
          <p:cNvPr id="13" name="Panel 1 row 3"/>
          <p:cNvSpPr/>
          <p:nvPr/>
        </p:nvSpPr>
        <p:spPr>
          <a:xfrm>
            <a:off x="457200" y="4663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Panel 1 value 3"/>
          <p:cNvSpPr txBox="1"/>
          <p:nvPr/>
        </p:nvSpPr>
        <p:spPr>
          <a:xfrm>
            <a:off x="685800" y="4754879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~32%</a:t>
            </a:r>
          </a:p>
        </p:txBody>
      </p:sp>
      <p:sp>
        <p:nvSpPr>
          <p:cNvPr id="15" name="Panel 1 text 3"/>
          <p:cNvSpPr txBox="1"/>
          <p:nvPr/>
        </p:nvSpPr>
        <p:spPr>
          <a:xfrm>
            <a:off x="2788920" y="4754879"/>
            <a:ext cx="28940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roll cost, May to June</a:t>
            </a:r>
          </a:p>
        </p:txBody>
      </p:sp>
      <p:sp>
        <p:nvSpPr>
          <p:cNvPr id="16" name="Panel 2 header"/>
          <p:cNvSpPr txBox="1"/>
          <p:nvPr/>
        </p:nvSpPr>
        <p:spPr>
          <a:xfrm>
            <a:off x="6277356" y="1691640"/>
            <a:ext cx="54543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Bank of China "Yuan You Bao"</a:t>
            </a:r>
          </a:p>
        </p:txBody>
      </p:sp>
      <p:sp>
        <p:nvSpPr>
          <p:cNvPr id="17" name="Panel 2 unit"/>
          <p:cNvSpPr txBox="1"/>
          <p:nvPr/>
        </p:nvSpPr>
        <p:spPr>
          <a:xfrm>
            <a:off x="6277356" y="1984248"/>
            <a:ext cx="54543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Held until the day before expiry</a:t>
            </a:r>
          </a:p>
        </p:txBody>
      </p:sp>
      <p:sp>
        <p:nvSpPr>
          <p:cNvPr id="18" name="Panel 2 row 1"/>
          <p:cNvSpPr/>
          <p:nvPr/>
        </p:nvSpPr>
        <p:spPr>
          <a:xfrm>
            <a:off x="6277356" y="2377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Panel 2 value 1"/>
          <p:cNvSpPr txBox="1"/>
          <p:nvPr/>
        </p:nvSpPr>
        <p:spPr>
          <a:xfrm>
            <a:off x="6505956" y="24688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tx1"/>
                </a:solidFill>
                <a:latin typeface="+mj-lt"/>
              </a:rPr>
              <a:t>60,000</a:t>
            </a:r>
          </a:p>
        </p:txBody>
      </p:sp>
      <p:sp>
        <p:nvSpPr>
          <p:cNvPr id="20" name="Panel 2 text 1"/>
          <p:cNvSpPr txBox="1"/>
          <p:nvPr/>
        </p:nvSpPr>
        <p:spPr>
          <a:xfrm>
            <a:off x="8609076" y="2468880"/>
            <a:ext cx="28940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retail clients exposed</a:t>
            </a:r>
          </a:p>
        </p:txBody>
      </p:sp>
      <p:sp>
        <p:nvSpPr>
          <p:cNvPr id="21" name="Panel 2 row 2"/>
          <p:cNvSpPr/>
          <p:nvPr/>
        </p:nvSpPr>
        <p:spPr>
          <a:xfrm>
            <a:off x="6277356" y="3520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Panel 2 value 2"/>
          <p:cNvSpPr txBox="1"/>
          <p:nvPr/>
        </p:nvSpPr>
        <p:spPr>
          <a:xfrm>
            <a:off x="6505956" y="36118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tx1"/>
                </a:solidFill>
                <a:latin typeface="+mj-lt"/>
              </a:rPr>
              <a:t>$1.4bn</a:t>
            </a:r>
          </a:p>
        </p:txBody>
      </p:sp>
      <p:sp>
        <p:nvSpPr>
          <p:cNvPr id="23" name="Panel 2 text 2"/>
          <p:cNvSpPr txBox="1"/>
          <p:nvPr/>
        </p:nvSpPr>
        <p:spPr>
          <a:xfrm>
            <a:off x="8609076" y="3611880"/>
            <a:ext cx="28940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losses, incl. all principal</a:t>
            </a:r>
          </a:p>
        </p:txBody>
      </p:sp>
      <p:sp>
        <p:nvSpPr>
          <p:cNvPr id="24" name="Panel 2 row 3"/>
          <p:cNvSpPr/>
          <p:nvPr/>
        </p:nvSpPr>
        <p:spPr>
          <a:xfrm>
            <a:off x="6277356" y="4663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5" name="Panel 2 value 3"/>
          <p:cNvSpPr txBox="1"/>
          <p:nvPr/>
        </p:nvSpPr>
        <p:spPr>
          <a:xfrm>
            <a:off x="6505956" y="4754879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tx1"/>
                </a:solidFill>
                <a:latin typeface="+mj-lt"/>
              </a:rPr>
              <a:t>¥50.5m</a:t>
            </a:r>
          </a:p>
        </p:txBody>
      </p:sp>
      <p:sp>
        <p:nvSpPr>
          <p:cNvPr id="26" name="Panel 2 text 3"/>
          <p:cNvSpPr txBox="1"/>
          <p:nvPr/>
        </p:nvSpPr>
        <p:spPr>
          <a:xfrm>
            <a:off x="8609076" y="4754879"/>
            <a:ext cx="28940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regulator's fine, Dec 2020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Pumps and funds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In contango, every roll loses money even if spot stays flat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Illustrative. Source: ETF.com (Apr 2020); team analysis</a:t>
            </a:r>
          </a:p>
        </p:txBody>
      </p:sp>
      <p:sp>
        <p:nvSpPr>
          <p:cNvPr id="5" name="Step 1 panel"/>
          <p:cNvSpPr/>
          <p:nvPr/>
        </p:nvSpPr>
        <p:spPr>
          <a:xfrm>
            <a:off x="457200" y="1691640"/>
            <a:ext cx="3392424" cy="2651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Step 1 marker"/>
          <p:cNvSpPr/>
          <p:nvPr/>
        </p:nvSpPr>
        <p:spPr>
          <a:xfrm>
            <a:off x="685800" y="1874519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Step 1 header"/>
          <p:cNvSpPr txBox="1"/>
          <p:nvPr/>
        </p:nvSpPr>
        <p:spPr>
          <a:xfrm>
            <a:off x="685800" y="242316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Hold</a:t>
            </a:r>
          </a:p>
        </p:txBody>
      </p:sp>
      <p:sp>
        <p:nvSpPr>
          <p:cNvPr id="8" name="Step 1 text"/>
          <p:cNvSpPr txBox="1"/>
          <p:nvPr/>
        </p:nvSpPr>
        <p:spPr>
          <a:xfrm>
            <a:off x="685800" y="2788920"/>
            <a:ext cx="2935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$100 in the front month at $20</a:t>
            </a:r>
          </a:p>
        </p:txBody>
      </p:sp>
      <p:sp>
        <p:nvSpPr>
          <p:cNvPr id="9" name="Step 1 value"/>
          <p:cNvSpPr txBox="1"/>
          <p:nvPr/>
        </p:nvSpPr>
        <p:spPr>
          <a:xfrm>
            <a:off x="685800" y="342900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tx1"/>
                </a:solidFill>
                <a:latin typeface="+mj-lt"/>
              </a:rPr>
              <a:t>5 barrels</a:t>
            </a:r>
          </a:p>
        </p:txBody>
      </p:sp>
      <p:cxnSp>
        <p:nvCxnSpPr>
          <p:cNvPr id="10" name="Step arrow 1"/>
          <p:cNvCxnSpPr/>
          <p:nvPr/>
        </p:nvCxnSpPr>
        <p:spPr>
          <a:xfrm>
            <a:off x="3941064" y="3017520"/>
            <a:ext cx="36576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1" name="Step 2 panel"/>
          <p:cNvSpPr/>
          <p:nvPr/>
        </p:nvSpPr>
        <p:spPr>
          <a:xfrm>
            <a:off x="4398264" y="1691640"/>
            <a:ext cx="3392424" cy="2651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Step 2 marker"/>
          <p:cNvSpPr/>
          <p:nvPr/>
        </p:nvSpPr>
        <p:spPr>
          <a:xfrm>
            <a:off x="4626864" y="1874519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Step 2 header"/>
          <p:cNvSpPr txBox="1"/>
          <p:nvPr/>
        </p:nvSpPr>
        <p:spPr>
          <a:xfrm>
            <a:off x="4626864" y="242316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Roll</a:t>
            </a:r>
          </a:p>
        </p:txBody>
      </p:sp>
      <p:sp>
        <p:nvSpPr>
          <p:cNvPr id="14" name="Step 2 text"/>
          <p:cNvSpPr txBox="1"/>
          <p:nvPr/>
        </p:nvSpPr>
        <p:spPr>
          <a:xfrm>
            <a:off x="4626864" y="2788920"/>
            <a:ext cx="2935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Sell at $20, buy next month at $25</a:t>
            </a:r>
          </a:p>
        </p:txBody>
      </p:sp>
      <p:sp>
        <p:nvSpPr>
          <p:cNvPr id="15" name="Step 2 value"/>
          <p:cNvSpPr txBox="1"/>
          <p:nvPr/>
        </p:nvSpPr>
        <p:spPr>
          <a:xfrm>
            <a:off x="4626864" y="342900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tx1"/>
                </a:solidFill>
                <a:latin typeface="+mj-lt"/>
              </a:rPr>
              <a:t>4 barrels</a:t>
            </a:r>
          </a:p>
        </p:txBody>
      </p:sp>
      <p:cxnSp>
        <p:nvCxnSpPr>
          <p:cNvPr id="16" name="Step arrow 2"/>
          <p:cNvCxnSpPr/>
          <p:nvPr/>
        </p:nvCxnSpPr>
        <p:spPr>
          <a:xfrm>
            <a:off x="7882128" y="3017520"/>
            <a:ext cx="36576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7" name="Step 3 panel"/>
          <p:cNvSpPr/>
          <p:nvPr/>
        </p:nvSpPr>
        <p:spPr>
          <a:xfrm>
            <a:off x="8339328" y="1691640"/>
            <a:ext cx="3392424" cy="2651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Step 3 marker"/>
          <p:cNvSpPr/>
          <p:nvPr/>
        </p:nvSpPr>
        <p:spPr>
          <a:xfrm>
            <a:off x="8567928" y="1874519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Step 3 header"/>
          <p:cNvSpPr txBox="1"/>
          <p:nvPr/>
        </p:nvSpPr>
        <p:spPr>
          <a:xfrm>
            <a:off x="8567928" y="242316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Converge</a:t>
            </a:r>
          </a:p>
        </p:txBody>
      </p:sp>
      <p:sp>
        <p:nvSpPr>
          <p:cNvPr id="20" name="Step 3 text"/>
          <p:cNvSpPr txBox="1"/>
          <p:nvPr/>
        </p:nvSpPr>
        <p:spPr>
          <a:xfrm>
            <a:off x="8567928" y="2788920"/>
            <a:ext cx="2935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Next month falls to $20 spot</a:t>
            </a:r>
          </a:p>
        </p:txBody>
      </p:sp>
      <p:sp>
        <p:nvSpPr>
          <p:cNvPr id="21" name="Step 3 value"/>
          <p:cNvSpPr txBox="1"/>
          <p:nvPr/>
        </p:nvSpPr>
        <p:spPr>
          <a:xfrm>
            <a:off x="8567928" y="342900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>
                <a:solidFill>
                  <a:schemeClr val="accent1"/>
                </a:solidFill>
                <a:latin typeface="+mj-lt"/>
              </a:rPr>
              <a:t>$80: −20%</a:t>
            </a:r>
          </a:p>
        </p:txBody>
      </p:sp>
      <p:sp>
        <p:nvSpPr>
          <p:cNvPr id="22" name="April panel"/>
          <p:cNvSpPr/>
          <p:nvPr/>
        </p:nvSpPr>
        <p:spPr>
          <a:xfrm>
            <a:off x="457200" y="4663440"/>
            <a:ext cx="11274552" cy="1005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3" name="April text"/>
          <p:cNvSpPr txBox="1"/>
          <p:nvPr/>
        </p:nvSpPr>
        <p:spPr>
          <a:xfrm>
            <a:off x="685800" y="466344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April 2020: </a:t>
            </a:r>
            <a:r>
              <a:rPr sz="1600" b="0">
                <a:solidFill>
                  <a:schemeClr val="tx1"/>
                </a:solidFill>
              </a:rPr>
              <a:t>USO's May–June roll cost ~32%; June–July ~15%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Pumps and funds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An oil ETF is neither a barrel of oil nor a front-month future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Oil futures ETF vs holding front-month WTI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differences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7295" cy="2788920"/>
        </p:xfrm>
        <a:graphic>
          <a:graphicData uri="http://schemas.openxmlformats.org/drawingml/2006/table">
            <a:tbl>
              <a:tblPr/>
              <a:tblGrid>
                <a:gridCol w="1920240"/>
                <a:gridCol w="4678527"/>
                <a:gridCol w="467852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Oil futures ETF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Front-month WTI future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Delivery risk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None: rolls before expiry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Close out or take delivery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Roll timing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Fixed, public schedule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Holder decides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Contango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Roll cost erodes returns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Same cost, if rolled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Tracking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 drift far from spot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Tracks its own contract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Maximum loss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Capital invested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 exceed margin; price can go negative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Suited to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Short-term exposure, if understood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Hedgers and delivery-ready traders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CFTC; ETF.com; team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Implications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Know where it delivers, when it expires and what it costs to roll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Blue = priorities. Source: CME Clearing advisories 20-152 and 20-171 (Apr 2020); Caixin; team analysis</a:t>
            </a:r>
          </a:p>
        </p:txBody>
      </p:sp>
      <p:sp>
        <p:nvSpPr>
          <p:cNvPr id="5" name="Card 1"/>
          <p:cNvSpPr/>
          <p:nvPr/>
        </p:nvSpPr>
        <p:spPr>
          <a:xfrm>
            <a:off x="457200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Card 1 marker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Card 1 header"/>
          <p:cNvSpPr txBox="1"/>
          <p:nvPr/>
        </p:nvSpPr>
        <p:spPr>
          <a:xfrm>
            <a:off x="685800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Expiry calendar</a:t>
            </a:r>
          </a:p>
        </p:txBody>
      </p:sp>
      <p:sp>
        <p:nvSpPr>
          <p:cNvPr id="8" name="Card 1 text"/>
          <p:cNvSpPr txBox="1"/>
          <p:nvPr/>
        </p:nvSpPr>
        <p:spPr>
          <a:xfrm>
            <a:off x="685800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Last trade, roll dates and delivery terms</a:t>
            </a:r>
          </a:p>
        </p:txBody>
      </p:sp>
      <p:sp>
        <p:nvSpPr>
          <p:cNvPr id="9" name="Card 2"/>
          <p:cNvSpPr/>
          <p:nvPr/>
        </p:nvSpPr>
        <p:spPr>
          <a:xfrm>
            <a:off x="4306824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Card 2 marker"/>
          <p:cNvSpPr/>
          <p:nvPr/>
        </p:nvSpPr>
        <p:spPr>
          <a:xfrm>
            <a:off x="4535424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Card 2 header"/>
          <p:cNvSpPr txBox="1"/>
          <p:nvPr/>
        </p:nvSpPr>
        <p:spPr>
          <a:xfrm>
            <a:off x="4535424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Exit before liquidity</a:t>
            </a:r>
          </a:p>
        </p:txBody>
      </p:sp>
      <p:sp>
        <p:nvSpPr>
          <p:cNvPr id="12" name="Card 2 text"/>
          <p:cNvSpPr txBox="1"/>
          <p:nvPr/>
        </p:nvSpPr>
        <p:spPr>
          <a:xfrm>
            <a:off x="4535424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Open interest drains in the final days</a:t>
            </a:r>
          </a:p>
        </p:txBody>
      </p:sp>
      <p:sp>
        <p:nvSpPr>
          <p:cNvPr id="13" name="Card 3"/>
          <p:cNvSpPr/>
          <p:nvPr/>
        </p:nvSpPr>
        <p:spPr>
          <a:xfrm>
            <a:off x="8156448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Card 3 marker"/>
          <p:cNvSpPr/>
          <p:nvPr/>
        </p:nvSpPr>
        <p:spPr>
          <a:xfrm>
            <a:off x="8385048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Card 3 header"/>
          <p:cNvSpPr txBox="1"/>
          <p:nvPr/>
        </p:nvSpPr>
        <p:spPr>
          <a:xfrm>
            <a:off x="8385048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Physical limits</a:t>
            </a:r>
          </a:p>
        </p:txBody>
      </p:sp>
      <p:sp>
        <p:nvSpPr>
          <p:cNvPr id="16" name="Card 3 text"/>
          <p:cNvSpPr txBox="1"/>
          <p:nvPr/>
        </p:nvSpPr>
        <p:spPr>
          <a:xfrm>
            <a:off x="8385048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Storage, pipelines and the delivery point</a:t>
            </a:r>
          </a:p>
        </p:txBody>
      </p:sp>
      <p:sp>
        <p:nvSpPr>
          <p:cNvPr id="17" name="Card 4"/>
          <p:cNvSpPr/>
          <p:nvPr/>
        </p:nvSpPr>
        <p:spPr>
          <a:xfrm>
            <a:off x="457200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Card 4 marker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Card 4 header"/>
          <p:cNvSpPr txBox="1"/>
          <p:nvPr/>
        </p:nvSpPr>
        <p:spPr>
          <a:xfrm>
            <a:off x="685800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Curve, not spot</a:t>
            </a:r>
          </a:p>
        </p:txBody>
      </p:sp>
      <p:sp>
        <p:nvSpPr>
          <p:cNvPr id="20" name="Card 4 text"/>
          <p:cNvSpPr txBox="1"/>
          <p:nvPr/>
        </p:nvSpPr>
        <p:spPr>
          <a:xfrm>
            <a:off x="685800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Contango and carry set the roll cost</a:t>
            </a:r>
          </a:p>
        </p:txBody>
      </p:sp>
      <p:sp>
        <p:nvSpPr>
          <p:cNvPr id="21" name="Card 5"/>
          <p:cNvSpPr/>
          <p:nvPr/>
        </p:nvSpPr>
        <p:spPr>
          <a:xfrm>
            <a:off x="4306824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Card 5 marker"/>
          <p:cNvSpPr/>
          <p:nvPr/>
        </p:nvSpPr>
        <p:spPr>
          <a:xfrm>
            <a:off x="4535424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Card 5 header"/>
          <p:cNvSpPr txBox="1"/>
          <p:nvPr/>
        </p:nvSpPr>
        <p:spPr>
          <a:xfrm>
            <a:off x="4535424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Negative-price ready</a:t>
            </a:r>
          </a:p>
        </p:txBody>
      </p:sp>
      <p:sp>
        <p:nvSpPr>
          <p:cNvPr id="24" name="Card 5 text"/>
          <p:cNvSpPr txBox="1"/>
          <p:nvPr/>
        </p:nvSpPr>
        <p:spPr>
          <a:xfrm>
            <a:off x="4535424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CME moved options to the Bachelier model on 22 Apr</a:t>
            </a:r>
          </a:p>
        </p:txBody>
      </p:sp>
      <p:sp>
        <p:nvSpPr>
          <p:cNvPr id="25" name="Card 6"/>
          <p:cNvSpPr/>
          <p:nvPr/>
        </p:nvSpPr>
        <p:spPr>
          <a:xfrm>
            <a:off x="8156448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6" name="Card 6 marker"/>
          <p:cNvSpPr/>
          <p:nvPr/>
        </p:nvSpPr>
        <p:spPr>
          <a:xfrm>
            <a:off x="8385048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7" name="Card 6 header"/>
          <p:cNvSpPr txBox="1"/>
          <p:nvPr/>
        </p:nvSpPr>
        <p:spPr>
          <a:xfrm>
            <a:off x="8385048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Product suitability</a:t>
            </a:r>
          </a:p>
        </p:txBody>
      </p:sp>
      <p:sp>
        <p:nvSpPr>
          <p:cNvPr id="28" name="Card 6 text"/>
          <p:cNvSpPr txBox="1"/>
          <p:nvPr/>
        </p:nvSpPr>
        <p:spPr>
          <a:xfrm>
            <a:off x="8385048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Bank of China: refunds and a fine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>
            <a:spLocks noGrp="1"/>
          </p:cNvSpPr>
          <p:nvPr>
            <p:ph type="body" idx="100" hasCustomPrompt="1"/>
          </p:nvPr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message</a:t>
            </a:r>
          </a:p>
        </p:txBody>
      </p:sp>
      <p:sp>
        <p:nvSpPr>
          <p:cNvPr id="3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45720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Oil went negative because one contract demanded delivery when nobody had space to take it</a:t>
            </a:r>
          </a:p>
        </p:txBody>
      </p:sp>
      <p:sp>
        <p:nvSpPr>
          <p:cNvPr id="4" name="Supporting line"/>
          <p:cNvSpPr>
            <a:spLocks noGrp="1"/>
          </p:cNvSpPr>
          <p:nvPr>
            <p:ph type="body" idx="102" hasCustomPrompt="1"/>
          </p:nvPr>
        </p:nvSpPr>
        <p:spPr>
          <a:xfrm>
            <a:off x="45720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futures price is the price of a specific barrel, in a specific place, on a specific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 Classic">
  <a:themeElements>
    <a:clrScheme name="Consulting Classic">
      <a:dk1>
        <a:srgbClr val="051C2C"/>
      </a:dk1>
      <a:lt1>
        <a:srgbClr val="FFFFFF"/>
      </a:lt1>
      <a:dk2>
        <a:srgbClr val="5B6770"/>
      </a:dk2>
      <a:lt2>
        <a:srgbClr val="F0F2F5"/>
      </a:lt2>
      <a:accent1>
        <a:srgbClr val="2251FF"/>
      </a:accent1>
      <a:accent2>
        <a:srgbClr val="051C2C"/>
      </a:accent2>
      <a:accent3>
        <a:srgbClr val="00A9F4"/>
      </a:accent3>
      <a:accent4>
        <a:srgbClr val="AFC3FF"/>
      </a:accent4>
      <a:accent5>
        <a:srgbClr val="8A96A0"/>
      </a:accent5>
      <a:accent6>
        <a:srgbClr val="D0D5DA"/>
      </a:accent6>
      <a:hlink>
        <a:srgbClr val="2251FF"/>
      </a:hlink>
      <a:folHlink>
        <a:srgbClr val="5B6770"/>
      </a:folHlink>
    </a:clrScheme>
    <a:fontScheme name="Consulting Classic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1721</Words>
  <Application>Microsoft Office PowerPoint</Application>
  <PresentationFormat>Widescreen</PresentationFormat>
  <Paragraphs>359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Georgia</vt:lpstr>
      <vt:lpstr>Consulting Classic</vt:lpstr>
      <vt:lpstr>Consulting presentation template</vt:lpstr>
      <vt:lpstr>Contents</vt:lpstr>
      <vt:lpstr>Writing the storyline</vt:lpstr>
      <vt:lpstr>Executive summary</vt:lpstr>
      <vt:lpstr>Topic titles describe a slide; action titles tell the reader what to conclude from it</vt:lpstr>
      <vt:lpstr>Body text supports the title with evidence written in short, parallel, plain-language points</vt:lpstr>
      <vt:lpstr>Structure the storyline as situation, complication and resolution before building a single slide</vt:lpstr>
      <vt:lpstr>Building exhibits</vt:lpstr>
      <vt:lpstr>Online is expected to deliver almost two-thirds of category growth through 2030</vt:lpstr>
      <vt:lpstr>Delivery speed, not price, is the main reason customers would consider switching provider</vt:lpstr>
      <vt:lpstr>Volumes grew 18% while gross margin fell three points, so growth has not yet paid for itself</vt:lpstr>
      <vt:lpstr>Option B offers the best balance of impact, cost and risk, and is recommended for the pilot</vt:lpstr>
      <vt:lpstr>Four of the ten initiatives combine high value with high feasibility and should be launched first</vt:lpstr>
      <vt:lpstr>A three-phase plan delivers the first measurable results within 12 weeks</vt:lpstr>
      <vt:lpstr>PowerPoint Presentation</vt:lpstr>
      <vt:lpstr>Slide master and layout reference</vt:lpstr>
      <vt:lpstr>Every content slide follows the same anatomy, fixed in the slide master so nothing drifts</vt:lpstr>
      <vt:lpstr>A restrained palette and two typefaces keep the audience’s attention on the message</vt:lpstr>
      <vt:lpstr>Sixteen layouts cover every slide type a consulting deck needs; most analysis uses Title only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oil went negative: WTI at -$37.63</dc:title>
  <dc:subject>Negative WTI price event, 20 April 2020</dc:subject>
  <dc:creator/>
  <cp:lastModifiedBy/>
  <cp:revision>2</cp:revision>
  <dcterms:created xsi:type="dcterms:W3CDTF">2026-10-28T02:13:16Z</dcterms:created>
  <dcterms:modified xsi:type="dcterms:W3CDTF">2026-10-29T05:30:03Z</dcterms:modified>
</cp:coreProperties>
</file>