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9" r:id="rId5"/>
    <p:sldId id="276" r:id="rId27"/>
    <p:sldId id="277" r:id="rId28"/>
    <p:sldId id="278" r:id="rId29"/>
    <p:sldId id="279" r:id="rId30"/>
    <p:sldId id="265" r:id="rId11"/>
    <p:sldId id="280" r:id="rId31"/>
    <p:sldId id="262" r:id="rId8"/>
    <p:sldId id="281" r:id="rId32"/>
    <p:sldId id="282" r:id="rId33"/>
    <p:sldId id="264" r:id="rId10"/>
    <p:sldId id="267" r:id="rId13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50815E65-6FCB-C1AC-2560-72ABDEE7E85E}">
          <p14:sldIdLst>
            <p14:sldId id="256"/>
            <p14:sldId id="259"/>
          </p14:sldIdLst>
        </p14:section>
        <p14:section name="The squeeze" id="{09C0099D-6792-A006-2E5F-16B4FE69538A}">
          <p14:sldIdLst>
            <p14:sldId id="276"/>
            <p14:sldId id="277"/>
          </p14:sldIdLst>
        </p14:section>
        <p14:section name="FX swaps under stress" id="{900B71C3-B279-951A-6478-760614E62D27}">
          <p14:sldIdLst>
            <p14:sldId id="278"/>
            <p14:sldId id="279"/>
            <p14:sldId id="265"/>
            <p14:sldId id="280"/>
            <p14:sldId id="262"/>
          </p14:sldIdLst>
        </p14:section>
        <p14:section name="Policy response" id="{2039D411-0FEA-991C-EA7A-91D37FF577C8}">
          <p14:sldIdLst>
            <p14:sldId id="281"/>
            <p14:sldId id="282"/>
            <p14:sldId id="264"/>
            <p14:sldId id="267"/>
          </p14:sldIdLst>
        </p14:section>
        <p14:section name="Implications" id="{6A1F3C2E-4B7D-4E8A-9C10-2D3E4F5A6B7C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5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5" Type="http://schemas.openxmlformats.org/officeDocument/2006/relationships/slide" Target="slides/slide2.xml"/><Relationship Id="rId8" Type="http://schemas.openxmlformats.org/officeDocument/2006/relationships/slide" Target="slides/slide9.xml"/><Relationship Id="rId10" Type="http://schemas.openxmlformats.org/officeDocument/2006/relationships/slide" Target="slides/slide12.xml"/><Relationship Id="rId11" Type="http://schemas.openxmlformats.org/officeDocument/2006/relationships/slide" Target="slides/slide7.xml"/><Relationship Id="rId13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3.xml"/><Relationship Id="rId28" Type="http://schemas.openxmlformats.org/officeDocument/2006/relationships/slide" Target="slides/slide4.xml"/><Relationship Id="rId29" Type="http://schemas.openxmlformats.org/officeDocument/2006/relationships/slide" Target="slides/slide5.xml"/><Relationship Id="rId30" Type="http://schemas.openxmlformats.org/officeDocument/2006/relationships/slide" Target="slides/slide6.xml"/><Relationship Id="rId31" Type="http://schemas.openxmlformats.org/officeDocument/2006/relationships/slide" Target="slides/slide8.xml"/><Relationship Id="rId32" Type="http://schemas.openxmlformats.org/officeDocument/2006/relationships/slide" Target="slides/slide10.xml"/><Relationship Id="rId33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Swaps outstanding</c:v>
                </c:pt>
              </c:strCache>
            </c:strRef>
          </c:tx>
          <c:spPr>
            <a:solidFill>
              <a:srgbClr val="B8C0C7"/>
            </a:solidFill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2251FF"/>
              </a:solidFill>
              <a:effectLst/>
            </c:spPr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51C2C"/>
                    </a:solidFill>
                    <a:latin typeface="+mn-lt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Feb</c:v>
                </c:pt>
                <c:pt idx="1">
                  <c:v>Mar</c:v>
                </c:pt>
                <c:pt idx="2">
                  <c:v>Apr</c:v>
                </c:pt>
                <c:pt idx="3">
                  <c:v>May</c:v>
                </c:pt>
                <c:pt idx="4">
                  <c:v>Jun</c:v>
                </c:pt>
                <c:pt idx="5">
                  <c:v>Jul</c:v>
                </c:pt>
                <c:pt idx="6">
                  <c:v>Aug</c:v>
                </c:pt>
                <c:pt idx="7">
                  <c:v>Sep</c:v>
                </c:pt>
                <c:pt idx="8">
                  <c:v>Oct</c:v>
                </c:pt>
                <c:pt idx="9">
                  <c:v>Nov</c:v>
                </c:pt>
                <c:pt idx="10">
                  <c:v>Dec</c:v>
                </c:pt>
              </c:strCache>
            </c:strRef>
          </c:cat>
          <c:val>
            <c:numRef>
              <c:f>Sheet1!$B$2:$B$12</c:f>
              <c:numCache>
                <c:formatCode>0</c:formatCode>
                <c:ptCount val="11"/>
                <c:pt idx="0">
                  <c:v>0.044</c:v>
                </c:pt>
                <c:pt idx="1">
                  <c:v>206.051</c:v>
                </c:pt>
                <c:pt idx="2">
                  <c:v>438.953</c:v>
                </c:pt>
                <c:pt idx="3">
                  <c:v>448.946</c:v>
                </c:pt>
                <c:pt idx="4">
                  <c:v>274.963</c:v>
                </c:pt>
                <c:pt idx="5">
                  <c:v>117.473</c:v>
                </c:pt>
                <c:pt idx="6">
                  <c:v>92.14</c:v>
                </c:pt>
                <c:pt idx="7">
                  <c:v>23.895</c:v>
                </c:pt>
                <c:pt idx="8">
                  <c:v>6.799</c:v>
                </c:pt>
                <c:pt idx="9">
                  <c:v>7.845</c:v>
                </c:pt>
                <c:pt idx="10">
                  <c:v>17.883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51-4C30-883D-F50BAA2EC8B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0D5DA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Basis premium</c:v>
                </c:pt>
              </c:strCache>
            </c:strRef>
          </c:tx>
          <c:spPr>
            <a:solidFill>
              <a:srgbClr val="2251FF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251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8C0C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8C0C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8C0C7"/>
              </a:solidFill>
              <a:effectLst/>
            </c:spPr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51C2C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Japanese yen</c:v>
                </c:pt>
                <c:pt idx="1">
                  <c:v>Swiss franc</c:v>
                </c:pt>
                <c:pt idx="2">
                  <c:v>Euro</c:v>
                </c:pt>
                <c:pt idx="3">
                  <c:v>Pound sterling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144</c:v>
                </c:pt>
                <c:pt idx="1">
                  <c:v>107</c:v>
                </c:pt>
                <c:pt idx="2">
                  <c:v>85</c:v>
                </c:pt>
                <c:pt idx="3">
                  <c:v>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9F1-40C0-AEF0-0CBC8A7BD74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0D5D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51C2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8126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March 2020 dollar funding stress, seen through the FX swap market.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The Fed lends to the foreign central bank, which lends to its own banks and carries their credit risk. The swap unwinds at the original exchange rate.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Within three weeks the Fed cut the price, lengthened maturities, added nine central banks and opened a repo window for foreign official holders of Treasuries.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Six messages: the squeeze, the instrument, the price, the residual risks, the policy fix, the risk lessons.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The basis measures how much more it costs to get dollars through a swap than to borrow them directly.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Non-US banks and insurers hold large dollar assets funded or hedged with short swaps, so they must roll constantly.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roll is a new trade at current market prices. Keeping the old rate defers the loss and creates a hidden loan, so it should be avoided.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Demand for dollars jumped just as the usual suppliers stepped back. The FX swap market is where that showed up first.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rose almost instantly, peaked in late May and fell away as 84-day swaps matured and markets normalised.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Yen borrowers paid the most: synthetic dollars cost up to 1.44 points over market rates. Swap lines reversed it within weeks.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The near leg gives the bank dollars; the far leg obliges it to return them. Economically, a short-term secured dollar loan.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Same instrument shape, different job. The swap line is a public backstop between central banks; the bank swap is a market funding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The two legs offset currency risk on the principal, but only for the life of the swap. Funding, pricing, counterparty and settlement risk remain.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Top three: the rollover gap, basis cost and counterparty concentration. Then market liquidity, margin calls and access to central bank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on the main point: plan for the roll date, not the trade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otif arc outer"/>
          <p:cNvSpPr/>
          <p:nvPr userDrawn="1"/>
        </p:nvSpPr>
        <p:spPr>
          <a:xfrm>
            <a:off x="8183880" y="2788920"/>
            <a:ext cx="6400800" cy="6400800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Motif arc inner"/>
          <p:cNvSpPr/>
          <p:nvPr userDrawn="1"/>
        </p:nvSpPr>
        <p:spPr>
          <a:xfrm>
            <a:off x="9281160" y="3886200"/>
            <a:ext cx="4206240" cy="4206240"/>
          </a:xfrm>
          <a:prstGeom prst="ellipse">
            <a:avLst/>
          </a:prstGeom>
          <a:noFill/>
          <a:ln w="12700">
            <a:solidFill>
              <a:schemeClr val="accent3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body" idx="103" hasCustomPrompt="1"/>
          </p:nvPr>
        </p:nvSpPr>
        <p:spPr>
          <a:xfrm>
            <a:off x="457200" y="40690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Subtitle or engagement name</a:t>
            </a:r>
            <a:endParaRPr lang="en-US" sz="1800" dirty="0"/>
          </a:p>
        </p:txBody>
      </p:sp>
      <p:sp>
        <p:nvSpPr>
          <p:cNvPr id="6" name="Presentation title"/>
          <p:cNvSpPr>
            <a:spLocks noGrp="1"/>
          </p:cNvSpPr>
          <p:nvPr>
            <p:ph type="title" idx="106" hasCustomPrompt="1"/>
          </p:nvPr>
        </p:nvSpPr>
        <p:spPr>
          <a:xfrm>
            <a:off x="457200" y="201168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indent="0">
              <a:buNone/>
              <a:defRPr lang="en-US" sz="4000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r>
              <a:rPr lang="en-US" sz="4000" dirty="0">
                <a:solidFill>
                  <a:schemeClr val="bg1"/>
                </a:solidFill>
              </a:rPr>
              <a:t>Presentation title in up to two lines</a:t>
            </a:r>
            <a:endParaRPr lang="en-US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ima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image"/>
          <p:cNvSpPr>
            <a:spLocks noGrp="1"/>
          </p:cNvSpPr>
          <p:nvPr>
            <p:ph type="pic" idx="100" hasCustomPrompt="1"/>
          </p:nvPr>
        </p:nvSpPr>
        <p:spPr>
          <a:xfrm>
            <a:off x="6705295" y="0"/>
            <a:ext cx="5486400" cy="6858000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>
            <a:lvl1pPr marL="0" indent="0" algn="ctr">
              <a:buNone/>
              <a:defRPr lang="en-US" dirty="0">
                <a:solidFill>
                  <a:schemeClr val="bg1"/>
                </a:solidFill>
              </a:defRPr>
            </a:lvl1pPr>
          </a:lstStyle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Click the icon to add a cover image</a:t>
            </a:r>
            <a:endParaRPr lang="en-US" dirty="0"/>
          </a:p>
        </p:txBody>
      </p:sp>
      <p:sp>
        <p:nvSpPr>
          <p:cNvPr id="4" name="Subtitle"/>
          <p:cNvSpPr>
            <a:spLocks noGrp="1"/>
          </p:cNvSpPr>
          <p:nvPr>
            <p:ph type="body" idx="102" hasCustomPrompt="1"/>
          </p:nvPr>
        </p:nvSpPr>
        <p:spPr>
          <a:xfrm>
            <a:off x="457200" y="406908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Subtitle or engagement name</a:t>
            </a:r>
            <a:endParaRPr lang="en-US" sz="1800" dirty="0"/>
          </a:p>
        </p:txBody>
      </p:sp>
      <p:sp>
        <p:nvSpPr>
          <p:cNvPr id="7" name="Presentation title"/>
          <p:cNvSpPr>
            <a:spLocks noGrp="1"/>
          </p:cNvSpPr>
          <p:nvPr>
            <p:ph type="title" idx="105" hasCustomPrompt="1"/>
          </p:nvPr>
        </p:nvSpPr>
        <p:spPr>
          <a:xfrm>
            <a:off x="457200" y="2011680"/>
            <a:ext cx="5852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indent="0">
              <a:buNone/>
              <a:defRPr lang="en-US" sz="3600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r>
              <a:rPr lang="en-US" sz="3600" dirty="0">
                <a:solidFill>
                  <a:schemeClr val="bg1"/>
                </a:solidFill>
              </a:rPr>
              <a:t>Presentation title in up to two lines</a:t>
            </a: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title"/>
          <p:cNvSpPr>
            <a:spLocks noGrp="1"/>
          </p:cNvSpPr>
          <p:nvPr>
            <p:ph type="title" idx="100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Contents</a:t>
            </a:r>
            <a:endParaRPr lang="en-US" sz="2400" dirty="0"/>
          </a:p>
        </p:txBody>
      </p:sp>
      <p:sp>
        <p:nvSpPr>
          <p:cNvPr id="3" name="Agenda items"/>
          <p:cNvSpPr>
            <a:spLocks noGrp="1"/>
          </p:cNvSpPr>
          <p:nvPr>
            <p:ph type="body" idx="101" hasCustomPrompt="1"/>
          </p:nvPr>
        </p:nvSpPr>
        <p:spPr>
          <a:xfrm>
            <a:off x="457200" y="1828800"/>
            <a:ext cx="777240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457200" indent="-457200">
              <a:spcAft>
                <a:spcPts val="1800"/>
              </a:spcAft>
              <a:buClr>
                <a:schemeClr val="accent1"/>
              </a:buClr>
              <a:buFont typeface="+mj-lt"/>
              <a:buAutoNum type="arabicPlain"/>
              <a:defRPr lang="en-US" sz="1800" dirty="0">
                <a:solidFill>
                  <a:schemeClr val="tx1"/>
                </a:solidFill>
              </a:defRPr>
            </a:lvl1pPr>
          </a:lstStyle>
          <a:p>
            <a:r>
              <a:rPr lang="en-US" sz="1800" dirty="0">
                <a:solidFill>
                  <a:schemeClr val="tx1"/>
                </a:solidFill>
              </a:rPr>
              <a:t>Section name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divi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otif arc outer"/>
          <p:cNvSpPr/>
          <p:nvPr userDrawn="1"/>
        </p:nvSpPr>
        <p:spPr>
          <a:xfrm>
            <a:off x="8183880" y="2788920"/>
            <a:ext cx="6400800" cy="6400800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Motif arc inner"/>
          <p:cNvSpPr/>
          <p:nvPr userDrawn="1"/>
        </p:nvSpPr>
        <p:spPr>
          <a:xfrm>
            <a:off x="9281160" y="3886200"/>
            <a:ext cx="4206240" cy="4206240"/>
          </a:xfrm>
          <a:prstGeom prst="ellipse">
            <a:avLst/>
          </a:prstGeom>
          <a:noFill/>
          <a:ln w="12700">
            <a:solidFill>
              <a:schemeClr val="accent3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Section number"/>
          <p:cNvSpPr>
            <a:spLocks noGrp="1"/>
          </p:cNvSpPr>
          <p:nvPr>
            <p:ph type="body" idx="102" hasCustomPrompt="1"/>
          </p:nvPr>
        </p:nvSpPr>
        <p:spPr>
          <a:xfrm>
            <a:off x="457200" y="1737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indent="0">
              <a:buNone/>
              <a:defRPr lang="en-US" sz="5400" dirty="0">
                <a:solidFill>
                  <a:schemeClr val="accent3"/>
                </a:solidFill>
                <a:latin typeface="+mj-lt" pitchFamily="34" charset="0"/>
                <a:ea typeface="+mj-ea" pitchFamily="34" charset="-122"/>
                <a:cs typeface="+mj-cs" pitchFamily="34" charset="-120"/>
              </a:defRPr>
            </a:lvl1pPr>
          </a:lstStyle>
          <a:p>
            <a:pPr marL="0" indent="0">
              <a:buNone/>
            </a:pPr>
            <a:r>
              <a:rPr lang="en-US" sz="5400" dirty="0">
                <a:solidFill>
                  <a:schemeClr val="accent3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01</a:t>
            </a:r>
            <a:endParaRPr lang="en-US" sz="5400" dirty="0"/>
          </a:p>
        </p:txBody>
      </p:sp>
      <p:sp>
        <p:nvSpPr>
          <p:cNvPr id="3" name="Section title"/>
          <p:cNvSpPr>
            <a:spLocks noGrp="1"/>
          </p:cNvSpPr>
          <p:nvPr>
            <p:ph type="title" idx="103" hasCustomPrompt="1"/>
          </p:nvPr>
        </p:nvSpPr>
        <p:spPr>
          <a:xfrm>
            <a:off x="457200" y="292608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3600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r>
              <a:rPr lang="en-US" sz="3600" dirty="0">
                <a:solidFill>
                  <a:schemeClr val="bg1"/>
                </a:solidFill>
              </a:rPr>
              <a:t>Section title</a:t>
            </a:r>
            <a:endParaRPr lang="en-US" sz="3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cutive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0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r>
              <a:rPr lang="en-US" sz="1000" dirty="0">
                <a:solidFill>
                  <a:schemeClr val="accent1"/>
                </a:solidFill>
              </a:rPr>
              <a:t>Tracker: section name</a:t>
            </a:r>
            <a:endParaRPr lang="en-US" sz="1000" dirty="0"/>
          </a:p>
        </p:txBody>
      </p:sp>
      <p:sp>
        <p:nvSpPr>
          <p:cNvPr id="4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Executive summary</a:t>
            </a:r>
            <a:endParaRPr lang="en-US" sz="2400" dirty="0"/>
          </a:p>
        </p:txBody>
      </p:sp>
      <p:sp>
        <p:nvSpPr>
          <p:cNvPr id="5" name="Summary text"/>
          <p:cNvSpPr>
            <a:spLocks noGrp="1"/>
          </p:cNvSpPr>
          <p:nvPr>
            <p:ph type="body" idx="103" hasCustomPrompt="1"/>
          </p:nvPr>
        </p:nvSpPr>
        <p:spPr>
          <a:xfrm>
            <a:off x="457200" y="1691640"/>
            <a:ext cx="11277295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spcBef>
                <a:spcPts val="1400"/>
              </a:spcBef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Key point as one full sentence (level 1, bold)</a:t>
            </a:r>
          </a:p>
          <a:p>
            <a:pPr lvl="1"/>
            <a:r>
              <a:rPr lang="en-US" dirty="0"/>
              <a:t>Supporting evidence (level 2): press Tab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0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r>
              <a:rPr lang="en-US" sz="1000" dirty="0">
                <a:solidFill>
                  <a:schemeClr val="accent1"/>
                </a:solidFill>
              </a:rPr>
              <a:t>Tracker: section name</a:t>
            </a:r>
            <a:endParaRPr lang="en-US" sz="1000" dirty="0"/>
          </a:p>
        </p:txBody>
      </p:sp>
      <p:sp>
        <p:nvSpPr>
          <p:cNvPr id="4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Action title: the so-what of this slide as a full sentence, no more than two lines</a:t>
            </a:r>
            <a:endParaRPr lang="en-US" sz="2400" dirty="0"/>
          </a:p>
        </p:txBody>
      </p:sp>
      <p:sp>
        <p:nvSpPr>
          <p:cNvPr id="5" name="Body text"/>
          <p:cNvSpPr>
            <a:spLocks noGrp="1"/>
          </p:cNvSpPr>
          <p:nvPr>
            <p:ph type="body" idx="103" hasCustomPrompt="1"/>
          </p:nvPr>
        </p:nvSpPr>
        <p:spPr>
          <a:xfrm>
            <a:off x="457200" y="1691640"/>
            <a:ext cx="11277295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Body text (level 1)</a:t>
            </a:r>
          </a:p>
          <a:p>
            <a:pPr lvl="1"/>
            <a:r>
              <a:rPr lang="en-US" dirty="0"/>
              <a:t>Bullet (level 2): press Tab</a:t>
            </a:r>
          </a:p>
          <a:p>
            <a:pPr lvl="2"/>
            <a:r>
              <a:rPr lang="en-US" dirty="0"/>
              <a:t>Dash (level 3): press Tab again</a:t>
            </a:r>
          </a:p>
        </p:txBody>
      </p:sp>
      <p:sp>
        <p:nvSpPr>
          <p:cNvPr id="6" name="Source and notes"/>
          <p:cNvSpPr>
            <a:spLocks noGrp="1"/>
          </p:cNvSpPr>
          <p:nvPr>
            <p:ph type="body" idx="104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indent="0">
              <a:buNone/>
              <a:defRPr lang="en-US" sz="10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Source: Author, title, publisher, year; note on method or definitions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0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r>
              <a:rPr lang="en-US" sz="1000" dirty="0">
                <a:solidFill>
                  <a:schemeClr val="accent1"/>
                </a:solidFill>
              </a:rPr>
              <a:t>Tracker: section name</a:t>
            </a:r>
            <a:endParaRPr lang="en-US" sz="1000" dirty="0"/>
          </a:p>
        </p:txBody>
      </p:sp>
      <p:sp>
        <p:nvSpPr>
          <p:cNvPr id="4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Action title: the so-what of this slide as a full sentence, no more than two lines</a:t>
            </a:r>
            <a:endParaRPr lang="en-US" sz="2400" dirty="0"/>
          </a:p>
        </p:txBody>
      </p:sp>
      <p:sp>
        <p:nvSpPr>
          <p:cNvPr id="5" name="Left header"/>
          <p:cNvSpPr>
            <a:spLocks noGrp="1"/>
          </p:cNvSpPr>
          <p:nvPr>
            <p:ph type="body" idx="103" hasCustomPrompt="1"/>
          </p:nvPr>
        </p:nvSpPr>
        <p:spPr>
          <a:xfrm>
            <a:off x="457200" y="169164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Left column header</a:t>
            </a:r>
            <a:endParaRPr lang="en-US" sz="1400" dirty="0"/>
          </a:p>
        </p:txBody>
      </p:sp>
      <p:sp>
        <p:nvSpPr>
          <p:cNvPr id="6" name="Left text"/>
          <p:cNvSpPr>
            <a:spLocks noGrp="1"/>
          </p:cNvSpPr>
          <p:nvPr>
            <p:ph type="body" idx="104" hasCustomPrompt="1"/>
          </p:nvPr>
        </p:nvSpPr>
        <p:spPr>
          <a:xfrm>
            <a:off x="457200" y="2148840"/>
            <a:ext cx="541004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Text (level 1)</a:t>
            </a:r>
          </a:p>
          <a:p>
            <a:pPr lvl="1"/>
            <a:r>
              <a:rPr lang="en-US" dirty="0"/>
              <a:t>Bullet (level 2): press Tab</a:t>
            </a:r>
          </a:p>
          <a:p>
            <a:pPr lvl="2"/>
            <a:r>
              <a:rPr lang="en-US" dirty="0"/>
              <a:t>Dash (level 3)</a:t>
            </a:r>
          </a:p>
        </p:txBody>
      </p:sp>
      <p:sp>
        <p:nvSpPr>
          <p:cNvPr id="7" name="Right header"/>
          <p:cNvSpPr>
            <a:spLocks noGrp="1"/>
          </p:cNvSpPr>
          <p:nvPr>
            <p:ph type="body" idx="105" hasCustomPrompt="1"/>
          </p:nvPr>
        </p:nvSpPr>
        <p:spPr>
          <a:xfrm>
            <a:off x="6324448" y="169164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Right column header</a:t>
            </a:r>
            <a:endParaRPr lang="en-US" sz="1400" dirty="0"/>
          </a:p>
        </p:txBody>
      </p:sp>
      <p:sp>
        <p:nvSpPr>
          <p:cNvPr id="8" name="Right text"/>
          <p:cNvSpPr>
            <a:spLocks noGrp="1"/>
          </p:cNvSpPr>
          <p:nvPr>
            <p:ph type="body" idx="106" hasCustomPrompt="1"/>
          </p:nvPr>
        </p:nvSpPr>
        <p:spPr>
          <a:xfrm>
            <a:off x="6324448" y="2148840"/>
            <a:ext cx="541004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Text (level 1)</a:t>
            </a:r>
          </a:p>
          <a:p>
            <a:pPr lvl="1"/>
            <a:r>
              <a:rPr lang="en-US" dirty="0"/>
              <a:t>Bullet (level 2): press Tab</a:t>
            </a:r>
          </a:p>
          <a:p>
            <a:pPr lvl="2"/>
            <a:r>
              <a:rPr lang="en-US" dirty="0"/>
              <a:t>Dash (level 3)</a:t>
            </a:r>
          </a:p>
        </p:txBody>
      </p:sp>
      <p:sp>
        <p:nvSpPr>
          <p:cNvPr id="9" name="Source and notes"/>
          <p:cNvSpPr>
            <a:spLocks noGrp="1"/>
          </p:cNvSpPr>
          <p:nvPr>
            <p:ph type="body" idx="107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indent="0">
              <a:buNone/>
              <a:defRPr lang="en-US" sz="10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Source: Author, title, publisher, year; note on method or definitions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0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r>
              <a:rPr lang="en-US" sz="1000" dirty="0">
                <a:solidFill>
                  <a:schemeClr val="accent1"/>
                </a:solidFill>
              </a:rPr>
              <a:t>Tracker: section name</a:t>
            </a:r>
            <a:endParaRPr lang="en-US" sz="1000" dirty="0"/>
          </a:p>
        </p:txBody>
      </p:sp>
      <p:sp>
        <p:nvSpPr>
          <p:cNvPr id="4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Action title: the so-what of this slide as a full sentence, no more than two lines</a:t>
            </a:r>
            <a:endParaRPr lang="en-US" sz="2400" dirty="0"/>
          </a:p>
        </p:txBody>
      </p:sp>
      <p:sp>
        <p:nvSpPr>
          <p:cNvPr id="5" name="Column 1 marker"/>
          <p:cNvSpPr>
            <a:spLocks noGrp="1"/>
          </p:cNvSpPr>
          <p:nvPr>
            <p:ph type="body" idx="103" hasCustomPrompt="1"/>
          </p:nvPr>
        </p:nvSpPr>
        <p:spPr>
          <a:xfrm>
            <a:off x="457200" y="1691640"/>
            <a:ext cx="502920" cy="5029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wrap="square" lIns="0" tIns="0" rIns="0" bIns="0" rtlCol="0" anchor="ctr"/>
          <a:lstStyle>
            <a:lvl1pPr marL="0" indent="0" algn="ctr">
              <a:buNone/>
              <a:defRPr lang="en-US" sz="2000" dirty="0">
                <a:solidFill>
                  <a:schemeClr val="bg1"/>
                </a:solidFill>
                <a:latin typeface="+mj-lt" pitchFamily="34" charset="0"/>
                <a:ea typeface="+mj-ea" pitchFamily="34" charset="-122"/>
                <a:cs typeface="+mj-cs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Column 1 header"/>
          <p:cNvSpPr>
            <a:spLocks noGrp="1"/>
          </p:cNvSpPr>
          <p:nvPr>
            <p:ph type="body" idx="104" hasCustomPrompt="1"/>
          </p:nvPr>
        </p:nvSpPr>
        <p:spPr>
          <a:xfrm>
            <a:off x="457200" y="2331720"/>
            <a:ext cx="3515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indent="0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Column header</a:t>
            </a:r>
            <a:endParaRPr lang="en-US" sz="1400" dirty="0"/>
          </a:p>
        </p:txBody>
      </p:sp>
      <p:sp>
        <p:nvSpPr>
          <p:cNvPr id="7" name="Column 1 text"/>
          <p:cNvSpPr>
            <a:spLocks noGrp="1"/>
          </p:cNvSpPr>
          <p:nvPr>
            <p:ph type="body" idx="105" hasCustomPrompt="1"/>
          </p:nvPr>
        </p:nvSpPr>
        <p:spPr>
          <a:xfrm>
            <a:off x="457200" y="3017520"/>
            <a:ext cx="351525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Text (level 1)</a:t>
            </a:r>
          </a:p>
          <a:p>
            <a:pPr lvl="1"/>
            <a:r>
              <a:rPr lang="en-US" dirty="0"/>
              <a:t>Bullet (level 2)</a:t>
            </a:r>
          </a:p>
        </p:txBody>
      </p:sp>
      <p:sp>
        <p:nvSpPr>
          <p:cNvPr id="8" name="Column 2 marker"/>
          <p:cNvSpPr>
            <a:spLocks noGrp="1"/>
          </p:cNvSpPr>
          <p:nvPr>
            <p:ph type="body" idx="106" hasCustomPrompt="1"/>
          </p:nvPr>
        </p:nvSpPr>
        <p:spPr>
          <a:xfrm>
            <a:off x="4338218" y="1691640"/>
            <a:ext cx="502920" cy="5029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wrap="square" lIns="0" tIns="0" rIns="0" bIns="0" rtlCol="0" anchor="ctr"/>
          <a:lstStyle>
            <a:lvl1pPr marL="0" indent="0" algn="ctr">
              <a:buNone/>
              <a:defRPr lang="en-US" sz="2000" dirty="0">
                <a:solidFill>
                  <a:schemeClr val="bg1"/>
                </a:solidFill>
                <a:latin typeface="+mj-lt" pitchFamily="34" charset="0"/>
                <a:ea typeface="+mj-ea" pitchFamily="34" charset="-122"/>
                <a:cs typeface="+mj-cs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Column 2 header"/>
          <p:cNvSpPr>
            <a:spLocks noGrp="1"/>
          </p:cNvSpPr>
          <p:nvPr>
            <p:ph type="body" idx="107" hasCustomPrompt="1"/>
          </p:nvPr>
        </p:nvSpPr>
        <p:spPr>
          <a:xfrm>
            <a:off x="4338218" y="2331720"/>
            <a:ext cx="3515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indent="0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Column header</a:t>
            </a:r>
            <a:endParaRPr lang="en-US" sz="1400" dirty="0"/>
          </a:p>
        </p:txBody>
      </p:sp>
      <p:sp>
        <p:nvSpPr>
          <p:cNvPr id="10" name="Column 2 text"/>
          <p:cNvSpPr>
            <a:spLocks noGrp="1"/>
          </p:cNvSpPr>
          <p:nvPr>
            <p:ph type="body" idx="108" hasCustomPrompt="1"/>
          </p:nvPr>
        </p:nvSpPr>
        <p:spPr>
          <a:xfrm>
            <a:off x="4338218" y="3017520"/>
            <a:ext cx="351525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Text (level 1)</a:t>
            </a:r>
          </a:p>
          <a:p>
            <a:pPr lvl="1"/>
            <a:r>
              <a:rPr lang="en-US" dirty="0"/>
              <a:t>Bullet (level 2)</a:t>
            </a:r>
          </a:p>
        </p:txBody>
      </p:sp>
      <p:sp>
        <p:nvSpPr>
          <p:cNvPr id="11" name="Column 3 marker"/>
          <p:cNvSpPr>
            <a:spLocks noGrp="1"/>
          </p:cNvSpPr>
          <p:nvPr>
            <p:ph type="body" idx="109" hasCustomPrompt="1"/>
          </p:nvPr>
        </p:nvSpPr>
        <p:spPr>
          <a:xfrm>
            <a:off x="8219237" y="1691640"/>
            <a:ext cx="502920" cy="5029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wrap="square" lIns="0" tIns="0" rIns="0" bIns="0" rtlCol="0" anchor="ctr"/>
          <a:lstStyle>
            <a:lvl1pPr marL="0" indent="0" algn="ctr">
              <a:buNone/>
              <a:defRPr lang="en-US" sz="2000" dirty="0">
                <a:solidFill>
                  <a:schemeClr val="bg1"/>
                </a:solidFill>
                <a:latin typeface="+mj-lt" pitchFamily="34" charset="0"/>
                <a:ea typeface="+mj-ea" pitchFamily="34" charset="-122"/>
                <a:cs typeface="+mj-cs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Column 3 header"/>
          <p:cNvSpPr>
            <a:spLocks noGrp="1"/>
          </p:cNvSpPr>
          <p:nvPr>
            <p:ph type="body" idx="110" hasCustomPrompt="1"/>
          </p:nvPr>
        </p:nvSpPr>
        <p:spPr>
          <a:xfrm>
            <a:off x="8219237" y="2331720"/>
            <a:ext cx="3515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indent="0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Column header</a:t>
            </a:r>
            <a:endParaRPr lang="en-US" sz="1400" dirty="0"/>
          </a:p>
        </p:txBody>
      </p:sp>
      <p:sp>
        <p:nvSpPr>
          <p:cNvPr id="13" name="Column 3 text"/>
          <p:cNvSpPr>
            <a:spLocks noGrp="1"/>
          </p:cNvSpPr>
          <p:nvPr>
            <p:ph type="body" idx="111" hasCustomPrompt="1"/>
          </p:nvPr>
        </p:nvSpPr>
        <p:spPr>
          <a:xfrm>
            <a:off x="8219237" y="3017520"/>
            <a:ext cx="351525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Text (level 1)</a:t>
            </a:r>
          </a:p>
          <a:p>
            <a:pPr lvl="1"/>
            <a:r>
              <a:rPr lang="en-US" dirty="0"/>
              <a:t>Bullet (level 2)</a:t>
            </a:r>
          </a:p>
        </p:txBody>
      </p:sp>
      <p:sp>
        <p:nvSpPr>
          <p:cNvPr id="14" name="Source and notes"/>
          <p:cNvSpPr>
            <a:spLocks noGrp="1"/>
          </p:cNvSpPr>
          <p:nvPr>
            <p:ph type="body" idx="112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indent="0">
              <a:buNone/>
              <a:defRPr lang="en-US" sz="10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Source: Author, title, publisher, year; note on method or definitions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0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r>
              <a:rPr lang="en-US" sz="1000" dirty="0">
                <a:solidFill>
                  <a:schemeClr val="accent1"/>
                </a:solidFill>
              </a:rPr>
              <a:t>Tracker: section name</a:t>
            </a:r>
            <a:endParaRPr lang="en-US" sz="1000" dirty="0"/>
          </a:p>
        </p:txBody>
      </p:sp>
      <p:sp>
        <p:nvSpPr>
          <p:cNvPr id="4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Action title: the so-what of this slide as a full sentence, no more than two lines</a:t>
            </a:r>
            <a:endParaRPr lang="en-US" sz="2400" dirty="0"/>
          </a:p>
        </p:txBody>
      </p:sp>
      <p:sp>
        <p:nvSpPr>
          <p:cNvPr id="5" name="Source and notes"/>
          <p:cNvSpPr>
            <a:spLocks noGrp="1"/>
          </p:cNvSpPr>
          <p:nvPr>
            <p:ph type="body" idx="103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indent="0">
              <a:buNone/>
              <a:defRPr lang="en-US" sz="10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Source: Author, title, publisher, year; note on method or definitions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takeawa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0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r>
              <a:rPr lang="en-US" sz="1000" dirty="0">
                <a:solidFill>
                  <a:schemeClr val="accent1"/>
                </a:solidFill>
              </a:rPr>
              <a:t>Tracker: section name</a:t>
            </a:r>
            <a:endParaRPr lang="en-US" sz="1000" dirty="0"/>
          </a:p>
        </p:txBody>
      </p:sp>
      <p:sp>
        <p:nvSpPr>
          <p:cNvPr id="4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Action title: the so-what of this slide as a full sentence, no more than two lines</a:t>
            </a:r>
            <a:endParaRPr lang="en-US" sz="2400" dirty="0"/>
          </a:p>
        </p:txBody>
      </p:sp>
      <p:sp>
        <p:nvSpPr>
          <p:cNvPr id="5" name="Exhibit header"/>
          <p:cNvSpPr>
            <a:spLocks noGrp="1"/>
          </p:cNvSpPr>
          <p:nvPr>
            <p:ph type="body" idx="103" hasCustomPrompt="1"/>
          </p:nvPr>
        </p:nvSpPr>
        <p:spPr>
          <a:xfrm>
            <a:off x="457200" y="16916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Exhibit header: what the chart shows</a:t>
            </a:r>
            <a:endParaRPr lang="en-US" sz="1400" dirty="0"/>
          </a:p>
        </p:txBody>
      </p:sp>
      <p:sp>
        <p:nvSpPr>
          <p:cNvPr id="6" name="Unit of measure"/>
          <p:cNvSpPr>
            <a:spLocks noGrp="1"/>
          </p:cNvSpPr>
          <p:nvPr>
            <p:ph type="body" idx="104" hasCustomPrompt="1"/>
          </p:nvPr>
        </p:nvSpPr>
        <p:spPr>
          <a:xfrm>
            <a:off x="457200" y="1984248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2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Unit of measure, period</a:t>
            </a:r>
            <a:endParaRPr lang="en-US" sz="1200" dirty="0"/>
          </a:p>
        </p:txBody>
      </p:sp>
      <p:sp>
        <p:nvSpPr>
          <p:cNvPr id="7" name="Chart"/>
          <p:cNvSpPr>
            <a:spLocks noGrp="1"/>
          </p:cNvSpPr>
          <p:nvPr>
            <p:ph type="chart" idx="105" hasCustomPrompt="1"/>
          </p:nvPr>
        </p:nvSpPr>
        <p:spPr>
          <a:xfrm>
            <a:off x="457200" y="2331720"/>
            <a:ext cx="7498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Insert chart</a:t>
            </a:r>
            <a:endParaRPr lang="en-US" dirty="0"/>
          </a:p>
        </p:txBody>
      </p:sp>
      <p:sp>
        <p:nvSpPr>
          <p:cNvPr id="8" name="Takeaway panel"/>
          <p:cNvSpPr/>
          <p:nvPr/>
        </p:nvSpPr>
        <p:spPr>
          <a:xfrm>
            <a:off x="8305495" y="1691640"/>
            <a:ext cx="3429000" cy="4206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Takeaways header"/>
          <p:cNvSpPr>
            <a:spLocks noGrp="1"/>
          </p:cNvSpPr>
          <p:nvPr>
            <p:ph type="body" idx="107" hasCustomPrompt="1"/>
          </p:nvPr>
        </p:nvSpPr>
        <p:spPr>
          <a:xfrm>
            <a:off x="8534095" y="19202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Key takeaways</a:t>
            </a:r>
            <a:endParaRPr lang="en-US" sz="1400" dirty="0"/>
          </a:p>
        </p:txBody>
      </p:sp>
      <p:sp>
        <p:nvSpPr>
          <p:cNvPr id="10" name="Takeaways text"/>
          <p:cNvSpPr>
            <a:spLocks noGrp="1"/>
          </p:cNvSpPr>
          <p:nvPr>
            <p:ph type="body" idx="108" hasCustomPrompt="1"/>
          </p:nvPr>
        </p:nvSpPr>
        <p:spPr>
          <a:xfrm>
            <a:off x="8534095" y="2377440"/>
            <a:ext cx="2971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1"/>
            <a:r>
              <a:rPr lang="en-US" dirty="0"/>
              <a:t>Takeaway (level 2 bullet)</a:t>
            </a:r>
          </a:p>
          <a:p>
            <a:pPr lvl="1"/>
            <a:r>
              <a:rPr lang="en-US" dirty="0"/>
              <a:t>Takeaway</a:t>
            </a:r>
          </a:p>
          <a:p>
            <a:pPr lvl="1"/>
            <a:r>
              <a:rPr lang="en-US" dirty="0"/>
              <a:t>Takeaway</a:t>
            </a:r>
          </a:p>
        </p:txBody>
      </p:sp>
      <p:sp>
        <p:nvSpPr>
          <p:cNvPr id="11" name="Source and notes"/>
          <p:cNvSpPr>
            <a:spLocks noGrp="1"/>
          </p:cNvSpPr>
          <p:nvPr>
            <p:ph type="body" idx="109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indent="0">
              <a:buNone/>
              <a:defRPr lang="en-US" sz="10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Source: Author, title, publisher, year; note on method or definitions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wid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0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r>
              <a:rPr lang="en-US" sz="1000" dirty="0">
                <a:solidFill>
                  <a:schemeClr val="accent1"/>
                </a:solidFill>
              </a:rPr>
              <a:t>Tracker: section name</a:t>
            </a:r>
            <a:endParaRPr lang="en-US" sz="1000" dirty="0"/>
          </a:p>
        </p:txBody>
      </p:sp>
      <p:sp>
        <p:nvSpPr>
          <p:cNvPr id="4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Action title: the so-what of this slide as a full sentence, no more than two lines</a:t>
            </a:r>
            <a:endParaRPr lang="en-US" sz="2400" dirty="0"/>
          </a:p>
        </p:txBody>
      </p:sp>
      <p:sp>
        <p:nvSpPr>
          <p:cNvPr id="5" name="Exhibit header"/>
          <p:cNvSpPr>
            <a:spLocks noGrp="1"/>
          </p:cNvSpPr>
          <p:nvPr>
            <p:ph type="body" idx="103" hasCustomPrompt="1"/>
          </p:nvPr>
        </p:nvSpPr>
        <p:spPr>
          <a:xfrm>
            <a:off x="457200" y="16916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Exhibit header: what the chart shows</a:t>
            </a:r>
            <a:endParaRPr lang="en-US" sz="1400" dirty="0"/>
          </a:p>
        </p:txBody>
      </p:sp>
      <p:sp>
        <p:nvSpPr>
          <p:cNvPr id="6" name="Unit of measure"/>
          <p:cNvSpPr>
            <a:spLocks noGrp="1"/>
          </p:cNvSpPr>
          <p:nvPr>
            <p:ph type="body" idx="104" hasCustomPrompt="1"/>
          </p:nvPr>
        </p:nvSpPr>
        <p:spPr>
          <a:xfrm>
            <a:off x="457200" y="1984248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2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Unit of measure, period</a:t>
            </a:r>
            <a:endParaRPr lang="en-US" sz="1200" dirty="0"/>
          </a:p>
        </p:txBody>
      </p:sp>
      <p:sp>
        <p:nvSpPr>
          <p:cNvPr id="7" name="Chart"/>
          <p:cNvSpPr>
            <a:spLocks noGrp="1"/>
          </p:cNvSpPr>
          <p:nvPr>
            <p:ph type="chart" idx="105" hasCustomPrompt="1"/>
          </p:nvPr>
        </p:nvSpPr>
        <p:spPr>
          <a:xfrm>
            <a:off x="457200" y="2331720"/>
            <a:ext cx="11277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Insert chart</a:t>
            </a:r>
            <a:endParaRPr lang="en-US" dirty="0"/>
          </a:p>
        </p:txBody>
      </p:sp>
      <p:sp>
        <p:nvSpPr>
          <p:cNvPr id="8" name="Source and notes"/>
          <p:cNvSpPr>
            <a:spLocks noGrp="1"/>
          </p:cNvSpPr>
          <p:nvPr>
            <p:ph type="body" idx="106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indent="0">
              <a:buNone/>
              <a:defRPr lang="en-US" sz="10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Source: Author, title, publisher, year; note on method or definitions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0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r>
              <a:rPr lang="en-US" sz="1000" dirty="0">
                <a:solidFill>
                  <a:schemeClr val="accent1"/>
                </a:solidFill>
              </a:rPr>
              <a:t>Tracker: section name</a:t>
            </a:r>
            <a:endParaRPr lang="en-US" sz="1000" dirty="0"/>
          </a:p>
        </p:txBody>
      </p:sp>
      <p:sp>
        <p:nvSpPr>
          <p:cNvPr id="4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Action title: the so-what of this slide as a full sentence, no more than two lines</a:t>
            </a:r>
            <a:endParaRPr lang="en-US" sz="2400" dirty="0"/>
          </a:p>
        </p:txBody>
      </p:sp>
      <p:sp>
        <p:nvSpPr>
          <p:cNvPr id="5" name="Left exhibit header"/>
          <p:cNvSpPr>
            <a:spLocks noGrp="1"/>
          </p:cNvSpPr>
          <p:nvPr>
            <p:ph type="body" idx="103" hasCustomPrompt="1"/>
          </p:nvPr>
        </p:nvSpPr>
        <p:spPr>
          <a:xfrm>
            <a:off x="457200" y="169164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Exhibit header</a:t>
            </a:r>
            <a:endParaRPr lang="en-US" sz="1400" dirty="0"/>
          </a:p>
        </p:txBody>
      </p:sp>
      <p:sp>
        <p:nvSpPr>
          <p:cNvPr id="6" name="Left unit of measure"/>
          <p:cNvSpPr>
            <a:spLocks noGrp="1"/>
          </p:cNvSpPr>
          <p:nvPr>
            <p:ph type="body" idx="104" hasCustomPrompt="1"/>
          </p:nvPr>
        </p:nvSpPr>
        <p:spPr>
          <a:xfrm>
            <a:off x="457200" y="1984248"/>
            <a:ext cx="541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2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Unit of measure, period</a:t>
            </a:r>
            <a:endParaRPr lang="en-US" sz="1200" dirty="0"/>
          </a:p>
        </p:txBody>
      </p:sp>
      <p:sp>
        <p:nvSpPr>
          <p:cNvPr id="7" name="Left chart"/>
          <p:cNvSpPr>
            <a:spLocks noGrp="1"/>
          </p:cNvSpPr>
          <p:nvPr>
            <p:ph type="chart" idx="105" hasCustomPrompt="1"/>
          </p:nvPr>
        </p:nvSpPr>
        <p:spPr>
          <a:xfrm>
            <a:off x="457200" y="2331720"/>
            <a:ext cx="54100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Insert chart</a:t>
            </a:r>
            <a:endParaRPr lang="en-US" dirty="0"/>
          </a:p>
        </p:txBody>
      </p:sp>
      <p:sp>
        <p:nvSpPr>
          <p:cNvPr id="8" name="Right exhibit header"/>
          <p:cNvSpPr>
            <a:spLocks noGrp="1"/>
          </p:cNvSpPr>
          <p:nvPr>
            <p:ph type="body" idx="106" hasCustomPrompt="1"/>
          </p:nvPr>
        </p:nvSpPr>
        <p:spPr>
          <a:xfrm>
            <a:off x="6324448" y="169164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Exhibit header</a:t>
            </a:r>
            <a:endParaRPr lang="en-US" sz="1400" dirty="0"/>
          </a:p>
        </p:txBody>
      </p:sp>
      <p:sp>
        <p:nvSpPr>
          <p:cNvPr id="9" name="Right unit of measure"/>
          <p:cNvSpPr>
            <a:spLocks noGrp="1"/>
          </p:cNvSpPr>
          <p:nvPr>
            <p:ph type="body" idx="107" hasCustomPrompt="1"/>
          </p:nvPr>
        </p:nvSpPr>
        <p:spPr>
          <a:xfrm>
            <a:off x="6324448" y="1984248"/>
            <a:ext cx="541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2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Unit of measure, period</a:t>
            </a:r>
            <a:endParaRPr lang="en-US" sz="1200" dirty="0"/>
          </a:p>
        </p:txBody>
      </p:sp>
      <p:sp>
        <p:nvSpPr>
          <p:cNvPr id="10" name="Right chart"/>
          <p:cNvSpPr>
            <a:spLocks noGrp="1"/>
          </p:cNvSpPr>
          <p:nvPr>
            <p:ph type="chart" idx="108" hasCustomPrompt="1"/>
          </p:nvPr>
        </p:nvSpPr>
        <p:spPr>
          <a:xfrm>
            <a:off x="6324448" y="2331720"/>
            <a:ext cx="54100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Insert chart</a:t>
            </a:r>
            <a:endParaRPr lang="en-US" dirty="0"/>
          </a:p>
        </p:txBody>
      </p:sp>
      <p:sp>
        <p:nvSpPr>
          <p:cNvPr id="11" name="Source and notes"/>
          <p:cNvSpPr>
            <a:spLocks noGrp="1"/>
          </p:cNvSpPr>
          <p:nvPr>
            <p:ph type="body" idx="109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indent="0">
              <a:buNone/>
              <a:defRPr lang="en-US" sz="10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Source: Author, title, publisher, year; note on method or definitions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0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r>
              <a:rPr lang="en-US" sz="1000" dirty="0">
                <a:solidFill>
                  <a:schemeClr val="accent1"/>
                </a:solidFill>
              </a:rPr>
              <a:t>Tracker: section name</a:t>
            </a:r>
            <a:endParaRPr lang="en-US" sz="1000" dirty="0"/>
          </a:p>
        </p:txBody>
      </p:sp>
      <p:sp>
        <p:nvSpPr>
          <p:cNvPr id="4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Action title: the so-what of this slide as a full sentence, no more than two lines</a:t>
            </a:r>
            <a:endParaRPr lang="en-US" sz="2400" dirty="0"/>
          </a:p>
        </p:txBody>
      </p:sp>
      <p:sp>
        <p:nvSpPr>
          <p:cNvPr id="5" name="Exhibit header"/>
          <p:cNvSpPr>
            <a:spLocks noGrp="1"/>
          </p:cNvSpPr>
          <p:nvPr>
            <p:ph type="body" idx="103" hasCustomPrompt="1"/>
          </p:nvPr>
        </p:nvSpPr>
        <p:spPr>
          <a:xfrm>
            <a:off x="457200" y="16916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Exhibit header: what the table shows</a:t>
            </a:r>
            <a:endParaRPr lang="en-US" sz="1400" dirty="0"/>
          </a:p>
        </p:txBody>
      </p:sp>
      <p:sp>
        <p:nvSpPr>
          <p:cNvPr id="6" name="Unit of measure"/>
          <p:cNvSpPr>
            <a:spLocks noGrp="1"/>
          </p:cNvSpPr>
          <p:nvPr>
            <p:ph type="body" idx="104" hasCustomPrompt="1"/>
          </p:nvPr>
        </p:nvSpPr>
        <p:spPr>
          <a:xfrm>
            <a:off x="457200" y="1984248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2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Unit of measure or scoring basis</a:t>
            </a:r>
            <a:endParaRPr lang="en-US" sz="1200" dirty="0"/>
          </a:p>
        </p:txBody>
      </p:sp>
      <p:sp>
        <p:nvSpPr>
          <p:cNvPr id="7" name="Table"/>
          <p:cNvSpPr>
            <a:spLocks noGrp="1"/>
          </p:cNvSpPr>
          <p:nvPr>
            <p:ph type="tbl" idx="105" hasCustomPrompt="1"/>
          </p:nvPr>
        </p:nvSpPr>
        <p:spPr>
          <a:xfrm>
            <a:off x="457200" y="2331720"/>
            <a:ext cx="11277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Insert table</a:t>
            </a:r>
            <a:endParaRPr lang="en-US" dirty="0"/>
          </a:p>
        </p:txBody>
      </p:sp>
      <p:sp>
        <p:nvSpPr>
          <p:cNvPr id="8" name="Source and notes"/>
          <p:cNvSpPr>
            <a:spLocks noGrp="1"/>
          </p:cNvSpPr>
          <p:nvPr>
            <p:ph type="body" idx="106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indent="0">
              <a:buNone/>
              <a:defRPr lang="en-US" sz="10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Source: Author, title, publisher, year; note on method or definitions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messa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>
            <a:spLocks noGrp="1"/>
          </p:cNvSpPr>
          <p:nvPr>
            <p:ph type="body" idx="100" hasCustomPrompt="1"/>
          </p:nvPr>
        </p:nvSpPr>
        <p:spPr>
          <a:xfrm>
            <a:off x="457200" y="1737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Key message</a:t>
            </a:r>
            <a:endParaRPr lang="en-US" sz="1200" dirty="0"/>
          </a:p>
        </p:txBody>
      </p:sp>
      <p:sp>
        <p:nvSpPr>
          <p:cNvPr id="3" name="Statement"/>
          <p:cNvSpPr>
            <a:spLocks noGrp="1"/>
          </p:cNvSpPr>
          <p:nvPr>
            <p:ph type="body" idx="101" hasCustomPrompt="1"/>
          </p:nvPr>
        </p:nvSpPr>
        <p:spPr>
          <a:xfrm>
            <a:off x="457200" y="219456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>
              <a:buNone/>
              <a:defRPr lang="en-US" sz="32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defRPr>
            </a:lvl1pPr>
          </a:lstStyle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The one sentence the audience should remember</a:t>
            </a:r>
            <a:endParaRPr lang="en-US" sz="3200" dirty="0"/>
          </a:p>
        </p:txBody>
      </p:sp>
      <p:sp>
        <p:nvSpPr>
          <p:cNvPr id="4" name="Supporting line"/>
          <p:cNvSpPr>
            <a:spLocks noGrp="1"/>
          </p:cNvSpPr>
          <p:nvPr>
            <p:ph type="body" idx="102" hasCustomPrompt="1"/>
          </p:nvPr>
        </p:nvSpPr>
        <p:spPr>
          <a:xfrm>
            <a:off x="457200" y="48006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4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Optional supporting line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otif arc outer"/>
          <p:cNvSpPr/>
          <p:nvPr userDrawn="1"/>
        </p:nvSpPr>
        <p:spPr>
          <a:xfrm>
            <a:off x="8183880" y="2788920"/>
            <a:ext cx="6400800" cy="6400800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Motif arc inner"/>
          <p:cNvSpPr/>
          <p:nvPr userDrawn="1"/>
        </p:nvSpPr>
        <p:spPr>
          <a:xfrm>
            <a:off x="9281160" y="3886200"/>
            <a:ext cx="4206240" cy="4206240"/>
          </a:xfrm>
          <a:prstGeom prst="ellipse">
            <a:avLst/>
          </a:prstGeom>
          <a:noFill/>
          <a:ln w="12700">
            <a:solidFill>
              <a:schemeClr val="accent3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Closing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201168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indent="0">
              <a:buNone/>
              <a:defRPr lang="en-US" sz="3600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r>
              <a:rPr lang="en-US" sz="3600" dirty="0">
                <a:solidFill>
                  <a:schemeClr val="bg1"/>
                </a:solidFill>
              </a:rPr>
              <a:t>Thank you</a:t>
            </a:r>
            <a:endParaRPr lang="en-US" sz="3600" dirty="0"/>
          </a:p>
        </p:txBody>
      </p:sp>
      <p:sp>
        <p:nvSpPr>
          <p:cNvPr id="3" name="Contact details"/>
          <p:cNvSpPr>
            <a:spLocks noGrp="1"/>
          </p:cNvSpPr>
          <p:nvPr>
            <p:ph type="body" idx="103" hasCustomPrompt="1"/>
          </p:nvPr>
        </p:nvSpPr>
        <p:spPr>
          <a:xfrm>
            <a:off x="457200" y="352044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>
              <a:buNone/>
              <a:defRPr lang="en-US" sz="1400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Name, title | email | phone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Consulting Class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Title Placeholder"/>
          <p:cNvSpPr>
            <a:spLocks noGrp="1"/>
          </p:cNvSpPr>
          <p:nvPr>
            <p:ph type="title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Action title: the so-what of the slide as a full sentence, no more than two lines</a:t>
            </a:r>
          </a:p>
        </p:txBody>
      </p:sp>
      <p:sp>
        <p:nvSpPr>
          <p:cNvPr id="3" name="Body Text Placeholder"/>
          <p:cNvSpPr>
            <a:spLocks noGrp="1"/>
          </p:cNvSpPr>
          <p:nvPr>
            <p:ph type="body" idx="1"/>
          </p:nvPr>
        </p:nvSpPr>
        <p:spPr>
          <a:xfrm>
            <a:off x="457200" y="1691640"/>
            <a:ext cx="11277295" cy="420624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en-US" dirty="0"/>
              <a:t>Edit master text styles: level 1, body text</a:t>
            </a:r>
          </a:p>
          <a:p>
            <a:pPr lvl="1"/>
            <a:r>
              <a:rPr lang="en-US" dirty="0"/>
              <a:t>Level 2: bullet</a:t>
            </a:r>
          </a:p>
          <a:p>
            <a:pPr lvl="2"/>
            <a:r>
              <a:rPr lang="en-US" dirty="0"/>
              <a:t>Level 3: dash</a:t>
            </a:r>
          </a:p>
          <a:p>
            <a:pPr lvl="3"/>
            <a:r>
              <a:rPr lang="en-US" dirty="0"/>
              <a:t>Level 4: detail</a:t>
            </a:r>
          </a:p>
          <a:p>
            <a:pPr lvl="4"/>
            <a:r>
              <a:rPr lang="en-US" dirty="0"/>
              <a:t>Level 5: detail</a:t>
            </a:r>
          </a:p>
        </p:txBody>
      </p:sp>
      <p:sp>
        <p:nvSpPr>
          <p:cNvPr id="4" name="Page Number (automatic field)"/>
          <p:cNvSpPr txBox="1"/>
          <p:nvPr userDrawn="1"/>
        </p:nvSpPr>
        <p:spPr>
          <a:xfrm>
            <a:off x="11368735" y="6272784"/>
            <a:ext cx="365760" cy="237744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r"/>
            <a:fld id="{B6F15528-21DE-4FAA-801E-634DDDAF4B2B}" type="slidenum">
              <a:rPr lang="en-US" sz="1000" dirty="0">
                <a:solidFill>
                  <a:schemeClr val="tx2"/>
                </a:solidFill>
                <a:latin typeface="+mn-lt"/>
              </a:rPr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–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Clr>
          <a:schemeClr val="tx2"/>
        </a:buClr>
        <a:buFont typeface="Arial" panose="020B0604020202020204" pitchFamily="34" charset="0"/>
        <a:buChar char="–"/>
        <a:defRPr sz="1200" b="0" kern="1200">
          <a:solidFill>
            <a:schemeClr val="tx2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Clr>
          <a:schemeClr val="tx2"/>
        </a:buClr>
        <a:buFont typeface="Arial" panose="020B0604020202020204" pitchFamily="34" charset="0"/>
        <a:buChar char="›"/>
        <a:defRPr sz="1200" b="0" kern="1200">
          <a:solidFill>
            <a:schemeClr val="tx2"/>
          </a:solidFill>
          <a:latin typeface="+mn-lt"/>
          <a:ea typeface="+mn-ea"/>
          <a:cs typeface="+mn-cs"/>
        </a:defRPr>
      </a:lvl5pPr>
      <a:lvl6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Clr>
          <a:schemeClr val="tx2"/>
        </a:buClr>
        <a:buFont typeface="Arial" panose="020B0604020202020204" pitchFamily="34" charset="0"/>
        <a:buChar char="›"/>
        <a:defRPr sz="1200" b="0" kern="1200">
          <a:solidFill>
            <a:schemeClr val="tx2"/>
          </a:solidFill>
          <a:latin typeface="+mn-lt"/>
          <a:ea typeface="+mn-ea"/>
          <a:cs typeface="+mn-cs"/>
        </a:defRPr>
      </a:lvl6pPr>
      <a:lvl7pPr marL="1371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Clr>
          <a:schemeClr val="tx2"/>
        </a:buClr>
        <a:buFont typeface="Arial" panose="020B0604020202020204" pitchFamily="34" charset="0"/>
        <a:buChar char="›"/>
        <a:defRPr sz="1200" b="0" kern="1200">
          <a:solidFill>
            <a:schemeClr val="tx2"/>
          </a:solidFill>
          <a:latin typeface="+mn-lt"/>
          <a:ea typeface="+mn-ea"/>
          <a:cs typeface="+mn-cs"/>
        </a:defRPr>
      </a:lvl7pPr>
      <a:lvl8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Clr>
          <a:schemeClr val="tx2"/>
        </a:buClr>
        <a:buFont typeface="Arial" panose="020B0604020202020204" pitchFamily="34" charset="0"/>
        <a:buChar char="›"/>
        <a:defRPr sz="1200" b="0" kern="1200">
          <a:solidFill>
            <a:schemeClr val="tx2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Clr>
          <a:schemeClr val="tx2"/>
        </a:buClr>
        <a:buFont typeface="Arial" panose="020B0604020202020204" pitchFamily="34" charset="0"/>
        <a:buChar char="›"/>
        <a:defRPr sz="1200" b="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" userDrawn="1">
          <p15:clr>
            <a:srgbClr val="FBAE40"/>
          </p15:clr>
        </p15:guide>
        <p15:guide id="2" pos="3696" userDrawn="1">
          <p15:clr>
            <a:srgbClr val="FBAE40"/>
          </p15:clr>
        </p15:guide>
        <p15:guide id="3" pos="3984" userDrawn="1">
          <p15:clr>
            <a:srgbClr val="FBAE40"/>
          </p15:clr>
        </p15:guide>
        <p15:guide id="4" pos="7392" userDrawn="1">
          <p15:clr>
            <a:srgbClr val="FBAE40"/>
          </p15:clr>
        </p15:guide>
        <p15:guide id="5" orient="horz" pos="173" userDrawn="1">
          <p15:clr>
            <a:srgbClr val="FBAE40"/>
          </p15:clr>
        </p15:guide>
        <p15:guide id="6" orient="horz" pos="357" userDrawn="1">
          <p15:clr>
            <a:srgbClr val="FBAE40"/>
          </p15:clr>
        </p15:guide>
        <p15:guide id="7" orient="horz" pos="1066" userDrawn="1">
          <p15:clr>
            <a:srgbClr val="FBAE40"/>
          </p15:clr>
        </p15:guide>
        <p15:guide id="8" orient="horz" pos="3715" userDrawn="1">
          <p15:clr>
            <a:srgbClr val="FBAE40"/>
          </p15:clr>
        </p15:guide>
        <p15:guide id="9" orient="horz" pos="4101" userDrawn="1">
          <p15:clr>
            <a:srgbClr val="FBAE40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esentation title"/>
          <p:cNvSpPr>
            <a:spLocks noGrp="1"/>
          </p:cNvSpPr>
          <p:nvPr>
            <p:ph type="title" idx="106" hasCustomPrompt="1"/>
          </p:nvPr>
        </p:nvSpPr>
        <p:spPr>
          <a:xfrm>
            <a:off x="457200" y="201168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t>USD liquidity stress in 2020 and the FX swap market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03" hasCustomPrompt="1"/>
          </p:nvPr>
        </p:nvSpPr>
        <p:spPr>
          <a:xfrm>
            <a:off x="457200" y="40690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A dash for dollars, a swap-market squeeze and the Fed's fix</a:t>
            </a:r>
          </a:p>
          <a:p>
            <a: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Overview</a:t>
            </a:r>
          </a:p>
        </p:txBody>
      </p:sp>
      <p:sp>
        <p:nvSpPr>
          <p:cNvPr id="3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Executive summary</a:t>
            </a:r>
          </a:p>
        </p:txBody>
      </p:sp>
      <p:sp>
        <p:nvSpPr>
          <p:cNvPr id="4" name="Summary text"/>
          <p:cNvSpPr>
            <a:spLocks noGrp="1"/>
          </p:cNvSpPr>
          <p:nvPr>
            <p:ph type="body" idx="103" hasCustomPrompt="1"/>
          </p:nvPr>
        </p:nvSpPr>
        <p:spPr>
          <a:xfrm>
            <a:off x="457200" y="1691640"/>
            <a:ext cx="11277295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March 2020: the world needed dollars at once</a:t>
            </a:r>
          </a:p>
          <a:p>
            <a:pPr lvl="1"/>
            <a:r>
              <a:t>Firms drew credit lines, investors sold assets, dealers pulled back</a:t>
            </a:r>
          </a:p>
          <a:p>
            <a:r>
              <a:t>FX swaps are synthetic dollar loans</a:t>
            </a:r>
          </a:p>
          <a:p>
            <a:pPr lvl="1"/>
            <a:r>
              <a:t>Near leg delivers dollars; far leg creates a dollar debt</a:t>
            </a:r>
          </a:p>
          <a:p>
            <a:r>
              <a:t>Synthetic dollars became scarce and expensive</a:t>
            </a:r>
          </a:p>
          <a:p>
            <a:pPr lvl="1"/>
            <a:r>
              <a:t>3-month basis: yen −144bp, euro −85bp; fewer quotes, smaller limits</a:t>
            </a:r>
          </a:p>
          <a:p>
            <a:r>
              <a:t>Opposite legs do not remove risk</a:t>
            </a:r>
          </a:p>
          <a:p>
            <a:pPr lvl="1"/>
            <a:r>
              <a:t>Rollover, basis, counterparty and settlement risk remain; rolls reset at today's prices</a:t>
            </a:r>
          </a:p>
          <a:p>
            <a:r>
              <a:t>Fed swap lines capped the price of dollars</a:t>
            </a:r>
          </a:p>
          <a:p>
            <a:pPr lvl="1"/>
            <a:r>
              <a:t>14 central banks, OIS + 25bp; $449bn drawn by May; basis back near zero by April</a:t>
            </a:r>
          </a:p>
          <a:p>
            <a:r>
              <a:t>Run FX swap books as funding, not just FX</a:t>
            </a:r>
          </a:p>
          <a:p>
            <a:pPr lvl="1"/>
            <a:r>
              <a:t>Limit roll gaps, basis exposure and counterparty concentration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The squeeze</a:t>
            </a:r>
          </a:p>
        </p:txBody>
      </p:sp>
      <p:sp>
        <p:nvSpPr>
          <p:cNvPr id="3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March 2020: everyone wanted dollars at once</a:t>
            </a:r>
          </a:p>
        </p:txBody>
      </p:sp>
      <p:sp>
        <p:nvSpPr>
          <p:cNvPr id="4" name="Source and notes"/>
          <p:cNvSpPr>
            <a:spLocks noGrp="1"/>
          </p:cNvSpPr>
          <p:nvPr>
            <p:ph type="body" idx="103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t>Source: BIS Bulletins No 1 and 15 (2020); IMF Special Note (2020); Cboe</a:t>
            </a:r>
          </a:p>
        </p:txBody>
      </p:sp>
      <p:sp>
        <p:nvSpPr>
          <p:cNvPr id="5" name="Col 1 header"/>
          <p:cNvSpPr txBox="1"/>
          <p:nvPr/>
        </p:nvSpPr>
        <p:spPr>
          <a:xfrm>
            <a:off x="457200" y="1691640"/>
            <a:ext cx="5504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Demand surged</a:t>
            </a:r>
          </a:p>
        </p:txBody>
      </p:sp>
      <p:sp>
        <p:nvSpPr>
          <p:cNvPr id="6" name="Col 1 text"/>
          <p:cNvSpPr txBox="1"/>
          <p:nvPr/>
        </p:nvSpPr>
        <p:spPr>
          <a:xfrm>
            <a:off x="457200" y="2057400"/>
            <a:ext cx="550468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spcAft>
                <a:spcPts val="400"/>
              </a:spcAft>
              <a:buClr>
                <a:schemeClr val="accent1"/>
              </a:buClr>
              <a:buFont typeface="Arial"/>
              <a:buChar char="•"/>
            </a:pPr>
            <a:r>
              <a:rPr sz="1400" b="0">
                <a:solidFill>
                  <a:schemeClr val="tx1"/>
                </a:solidFill>
              </a:rPr>
              <a:t>Firms drew bank credit lines</a:t>
            </a:r>
          </a:p>
          <a:p>
            <a:pPr algn="l" marL="146304" indent="-146304">
              <a:spcAft>
                <a:spcPts val="400"/>
              </a:spcAft>
              <a:buClr>
                <a:schemeClr val="accent1"/>
              </a:buClr>
              <a:buFont typeface="Arial"/>
              <a:buChar char="•"/>
            </a:pPr>
            <a:r>
              <a:rPr sz="1400" b="0">
                <a:solidFill>
                  <a:schemeClr val="tx1"/>
                </a:solidFill>
              </a:rPr>
              <a:t>Investors sold assets for cash</a:t>
            </a:r>
          </a:p>
          <a:p>
            <a:pPr algn="l" marL="146304" indent="-146304">
              <a:spcAft>
                <a:spcPts val="400"/>
              </a:spcAft>
              <a:buClr>
                <a:schemeClr val="accent1"/>
              </a:buClr>
              <a:buFont typeface="Arial"/>
              <a:buChar char="•"/>
            </a:pPr>
            <a:r>
              <a:rPr sz="1400" b="0">
                <a:solidFill>
                  <a:schemeClr val="tx1"/>
                </a:solidFill>
              </a:rPr>
              <a:t>Hedgers still had to roll dollar swaps</a:t>
            </a:r>
          </a:p>
        </p:txBody>
      </p:sp>
      <p:sp>
        <p:nvSpPr>
          <p:cNvPr id="7" name="Col 2 header"/>
          <p:cNvSpPr txBox="1"/>
          <p:nvPr/>
        </p:nvSpPr>
        <p:spPr>
          <a:xfrm>
            <a:off x="6227064" y="1691640"/>
            <a:ext cx="5504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Supply shrank</a:t>
            </a:r>
          </a:p>
        </p:txBody>
      </p:sp>
      <p:sp>
        <p:nvSpPr>
          <p:cNvPr id="8" name="Col 2 text"/>
          <p:cNvSpPr txBox="1"/>
          <p:nvPr/>
        </p:nvSpPr>
        <p:spPr>
          <a:xfrm>
            <a:off x="6227064" y="2057400"/>
            <a:ext cx="550468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spcAft>
                <a:spcPts val="400"/>
              </a:spcAft>
              <a:buClr>
                <a:schemeClr val="accent1"/>
              </a:buClr>
              <a:buFont typeface="Arial"/>
              <a:buChar char="•"/>
            </a:pPr>
            <a:r>
              <a:rPr sz="1400" b="0">
                <a:solidFill>
                  <a:schemeClr val="tx1"/>
                </a:solidFill>
              </a:rPr>
              <a:t>Money funds pulled funding from banks</a:t>
            </a:r>
          </a:p>
          <a:p>
            <a:pPr algn="l" marL="146304" indent="-146304">
              <a:spcAft>
                <a:spcPts val="400"/>
              </a:spcAft>
              <a:buClr>
                <a:schemeClr val="accent1"/>
              </a:buClr>
              <a:buFont typeface="Arial"/>
              <a:buChar char="•"/>
            </a:pPr>
            <a:r>
              <a:rPr sz="1400" b="0">
                <a:solidFill>
                  <a:schemeClr val="tx1"/>
                </a:solidFill>
              </a:rPr>
              <a:t>Dealer balance sheets hit limits</a:t>
            </a:r>
          </a:p>
          <a:p>
            <a:pPr algn="l" marL="146304" indent="-146304">
              <a:spcAft>
                <a:spcPts val="400"/>
              </a:spcAft>
              <a:buClr>
                <a:schemeClr val="accent1"/>
              </a:buClr>
              <a:buFont typeface="Arial"/>
              <a:buChar char="•"/>
            </a:pPr>
            <a:r>
              <a:rPr sz="1400" b="0">
                <a:solidFill>
                  <a:schemeClr val="tx1"/>
                </a:solidFill>
              </a:rPr>
              <a:t>Quotes thinned; credit limits cut</a:t>
            </a:r>
          </a:p>
        </p:txBody>
      </p:sp>
      <p:sp>
        <p:nvSpPr>
          <p:cNvPr id="9" name="Stress 1 panel"/>
          <p:cNvSpPr/>
          <p:nvPr/>
        </p:nvSpPr>
        <p:spPr>
          <a:xfrm>
            <a:off x="457200" y="3520440"/>
            <a:ext cx="2612898" cy="21031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0" name="Stress 1 value"/>
          <p:cNvSpPr txBox="1"/>
          <p:nvPr/>
        </p:nvSpPr>
        <p:spPr>
          <a:xfrm>
            <a:off x="658368" y="3657600"/>
            <a:ext cx="2210562" cy="685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0">
                <a:solidFill>
                  <a:schemeClr val="accent1"/>
                </a:solidFill>
                <a:latin typeface="+mj-lt"/>
              </a:rPr>
              <a:t>82.7</a:t>
            </a:r>
          </a:p>
        </p:txBody>
      </p:sp>
      <p:sp>
        <p:nvSpPr>
          <p:cNvPr id="11" name="Stress 1 label"/>
          <p:cNvSpPr txBox="1"/>
          <p:nvPr/>
        </p:nvSpPr>
        <p:spPr>
          <a:xfrm>
            <a:off x="658368" y="4434840"/>
            <a:ext cx="2210562" cy="1097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chemeClr val="tx1"/>
                </a:solidFill>
              </a:rPr>
              <a:t>VIX record close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chemeClr val="tx2"/>
                </a:solidFill>
              </a:rPr>
              <a:t>16 Mar 2020</a:t>
            </a:r>
          </a:p>
        </p:txBody>
      </p:sp>
      <p:sp>
        <p:nvSpPr>
          <p:cNvPr id="12" name="Stress 2 panel"/>
          <p:cNvSpPr/>
          <p:nvPr/>
        </p:nvSpPr>
        <p:spPr>
          <a:xfrm>
            <a:off x="3344418" y="3520440"/>
            <a:ext cx="2612898" cy="21031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3" name="Stress 2 value"/>
          <p:cNvSpPr txBox="1"/>
          <p:nvPr/>
        </p:nvSpPr>
        <p:spPr>
          <a:xfrm>
            <a:off x="3545586" y="3657600"/>
            <a:ext cx="2210562" cy="685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0">
                <a:solidFill>
                  <a:schemeClr val="accent1"/>
                </a:solidFill>
                <a:latin typeface="+mj-lt"/>
              </a:rPr>
              <a:t>−144bp</a:t>
            </a:r>
          </a:p>
        </p:txBody>
      </p:sp>
      <p:sp>
        <p:nvSpPr>
          <p:cNvPr id="14" name="Stress 2 label"/>
          <p:cNvSpPr txBox="1"/>
          <p:nvPr/>
        </p:nvSpPr>
        <p:spPr>
          <a:xfrm>
            <a:off x="3545586" y="4434840"/>
            <a:ext cx="2210562" cy="1097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chemeClr val="tx1"/>
                </a:solidFill>
              </a:rPr>
              <a:t>3-month yen basis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chemeClr val="tx2"/>
                </a:solidFill>
              </a:rPr>
              <a:t>Peak, March 2020</a:t>
            </a:r>
          </a:p>
        </p:txBody>
      </p:sp>
      <p:sp>
        <p:nvSpPr>
          <p:cNvPr id="15" name="Stress 3 panel"/>
          <p:cNvSpPr/>
          <p:nvPr/>
        </p:nvSpPr>
        <p:spPr>
          <a:xfrm>
            <a:off x="6231636" y="3520440"/>
            <a:ext cx="2612898" cy="21031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6" name="Stress 3 value"/>
          <p:cNvSpPr txBox="1"/>
          <p:nvPr/>
        </p:nvSpPr>
        <p:spPr>
          <a:xfrm>
            <a:off x="6432803" y="3657600"/>
            <a:ext cx="2210562" cy="685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0">
                <a:solidFill>
                  <a:schemeClr val="accent1"/>
                </a:solidFill>
                <a:latin typeface="+mj-lt"/>
              </a:rPr>
              <a:t>&gt;110bp</a:t>
            </a:r>
          </a:p>
        </p:txBody>
      </p:sp>
      <p:sp>
        <p:nvSpPr>
          <p:cNvPr id="17" name="Stress 3 label"/>
          <p:cNvSpPr txBox="1"/>
          <p:nvPr/>
        </p:nvSpPr>
        <p:spPr>
          <a:xfrm>
            <a:off x="6432803" y="4434840"/>
            <a:ext cx="2210562" cy="1097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chemeClr val="tx1"/>
                </a:solidFill>
              </a:rPr>
              <a:t>CP spread over OIS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chemeClr val="tx2"/>
                </a:solidFill>
              </a:rPr>
              <a:t>16 Mar 2020</a:t>
            </a:r>
          </a:p>
        </p:txBody>
      </p:sp>
      <p:sp>
        <p:nvSpPr>
          <p:cNvPr id="18" name="Stress 4 panel"/>
          <p:cNvSpPr/>
          <p:nvPr/>
        </p:nvSpPr>
        <p:spPr>
          <a:xfrm>
            <a:off x="9118854" y="3520440"/>
            <a:ext cx="2612898" cy="21031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9" name="Stress 4 value"/>
          <p:cNvSpPr txBox="1"/>
          <p:nvPr/>
        </p:nvSpPr>
        <p:spPr>
          <a:xfrm>
            <a:off x="9320022" y="3657600"/>
            <a:ext cx="2210562" cy="685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0">
                <a:solidFill>
                  <a:schemeClr val="accent1"/>
                </a:solidFill>
                <a:latin typeface="+mj-lt"/>
              </a:rPr>
              <a:t>$124bn</a:t>
            </a:r>
          </a:p>
        </p:txBody>
      </p:sp>
      <p:sp>
        <p:nvSpPr>
          <p:cNvPr id="20" name="Stress 4 label"/>
          <p:cNvSpPr txBox="1"/>
          <p:nvPr/>
        </p:nvSpPr>
        <p:spPr>
          <a:xfrm>
            <a:off x="9320022" y="4434840"/>
            <a:ext cx="2210562" cy="1097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chemeClr val="tx1"/>
                </a:solidFill>
              </a:rPr>
              <a:t>Corporate credit-line draws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chemeClr val="tx2"/>
                </a:solidFill>
              </a:rPr>
              <a:t>Since 1 Mar 2020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The squeeze</a:t>
            </a:r>
          </a:p>
        </p:txBody>
      </p:sp>
      <p:sp>
        <p:nvSpPr>
          <p:cNvPr id="3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Much of the world's dollar funding runs through short-dated FX swaps</a:t>
            </a:r>
          </a:p>
        </p:txBody>
      </p:sp>
      <p:sp>
        <p:nvSpPr>
          <p:cNvPr id="4" name="Source and notes"/>
          <p:cNvSpPr>
            <a:spLocks noGrp="1"/>
          </p:cNvSpPr>
          <p:nvPr>
            <p:ph type="body" idx="103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t>Source: BIS Bulletin No 1 (Apr 2020), data for end-June 2019</a:t>
            </a:r>
          </a:p>
        </p:txBody>
      </p:sp>
      <p:sp>
        <p:nvSpPr>
          <p:cNvPr id="5" name="Need 1 panel"/>
          <p:cNvSpPr/>
          <p:nvPr/>
        </p:nvSpPr>
        <p:spPr>
          <a:xfrm>
            <a:off x="457200" y="1691640"/>
            <a:ext cx="2612898" cy="23774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6" name="Need 1 value"/>
          <p:cNvSpPr txBox="1"/>
          <p:nvPr/>
        </p:nvSpPr>
        <p:spPr>
          <a:xfrm>
            <a:off x="658368" y="1828800"/>
            <a:ext cx="2210562" cy="685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3600" b="0">
                <a:solidFill>
                  <a:schemeClr val="accent1"/>
                </a:solidFill>
                <a:latin typeface="+mj-lt"/>
              </a:rPr>
              <a:t>89%</a:t>
            </a:r>
          </a:p>
        </p:txBody>
      </p:sp>
      <p:sp>
        <p:nvSpPr>
          <p:cNvPr id="7" name="Need 1 label"/>
          <p:cNvSpPr txBox="1"/>
          <p:nvPr/>
        </p:nvSpPr>
        <p:spPr>
          <a:xfrm>
            <a:off x="658368" y="2606040"/>
            <a:ext cx="221056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chemeClr val="tx1"/>
                </a:solidFill>
              </a:rPr>
              <a:t>FX derivatives with the dollar on one side</a:t>
            </a:r>
          </a:p>
        </p:txBody>
      </p:sp>
      <p:sp>
        <p:nvSpPr>
          <p:cNvPr id="8" name="Need 2 panel"/>
          <p:cNvSpPr/>
          <p:nvPr/>
        </p:nvSpPr>
        <p:spPr>
          <a:xfrm>
            <a:off x="3344418" y="1691640"/>
            <a:ext cx="2612898" cy="23774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9" name="Need 2 value"/>
          <p:cNvSpPr txBox="1"/>
          <p:nvPr/>
        </p:nvSpPr>
        <p:spPr>
          <a:xfrm>
            <a:off x="3545586" y="1828800"/>
            <a:ext cx="2210562" cy="685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3600" b="0">
                <a:solidFill>
                  <a:schemeClr val="accent1"/>
                </a:solidFill>
                <a:latin typeface="+mj-lt"/>
              </a:rPr>
              <a:t>≤1 week</a:t>
            </a:r>
          </a:p>
        </p:txBody>
      </p:sp>
      <p:sp>
        <p:nvSpPr>
          <p:cNvPr id="10" name="Need 2 label"/>
          <p:cNvSpPr txBox="1"/>
          <p:nvPr/>
        </p:nvSpPr>
        <p:spPr>
          <a:xfrm>
            <a:off x="3545586" y="2606040"/>
            <a:ext cx="221056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chemeClr val="tx1"/>
                </a:solidFill>
              </a:rPr>
              <a:t>Most common FX swap maturity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chemeClr val="tx2"/>
                </a:solidFill>
              </a:rPr>
              <a:t>~75% mature within a year</a:t>
            </a:r>
          </a:p>
        </p:txBody>
      </p:sp>
      <p:sp>
        <p:nvSpPr>
          <p:cNvPr id="11" name="Need 3 panel"/>
          <p:cNvSpPr/>
          <p:nvPr/>
        </p:nvSpPr>
        <p:spPr>
          <a:xfrm>
            <a:off x="6231636" y="1691640"/>
            <a:ext cx="2612898" cy="23774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2" name="Need 3 value"/>
          <p:cNvSpPr txBox="1"/>
          <p:nvPr/>
        </p:nvSpPr>
        <p:spPr>
          <a:xfrm>
            <a:off x="6432803" y="1828800"/>
            <a:ext cx="2210562" cy="685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3600" b="0">
                <a:solidFill>
                  <a:schemeClr val="accent1"/>
                </a:solidFill>
                <a:latin typeface="+mj-lt"/>
              </a:rPr>
              <a:t>$1.5–2tn</a:t>
            </a:r>
          </a:p>
        </p:txBody>
      </p:sp>
      <p:sp>
        <p:nvSpPr>
          <p:cNvPr id="13" name="Need 3 label"/>
          <p:cNvSpPr txBox="1"/>
          <p:nvPr/>
        </p:nvSpPr>
        <p:spPr>
          <a:xfrm>
            <a:off x="6432803" y="2606040"/>
            <a:ext cx="221056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chemeClr val="tx1"/>
                </a:solidFill>
              </a:rPr>
              <a:t>Asian life insurers' foreign bonds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chemeClr val="tx2"/>
                </a:solidFill>
              </a:rPr>
              <a:t>Mostly dollar; hedged with rolling swaps</a:t>
            </a:r>
          </a:p>
        </p:txBody>
      </p:sp>
      <p:sp>
        <p:nvSpPr>
          <p:cNvPr id="14" name="Need 4 panel"/>
          <p:cNvSpPr/>
          <p:nvPr/>
        </p:nvSpPr>
        <p:spPr>
          <a:xfrm>
            <a:off x="9118854" y="1691640"/>
            <a:ext cx="2612898" cy="23774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5" name="Need 4 value"/>
          <p:cNvSpPr txBox="1"/>
          <p:nvPr/>
        </p:nvSpPr>
        <p:spPr>
          <a:xfrm>
            <a:off x="9320022" y="1828800"/>
            <a:ext cx="2210562" cy="685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3600" b="0">
                <a:solidFill>
                  <a:schemeClr val="accent1"/>
                </a:solidFill>
                <a:latin typeface="+mj-lt"/>
              </a:rPr>
              <a:t>$320bn</a:t>
            </a:r>
          </a:p>
        </p:txBody>
      </p:sp>
      <p:sp>
        <p:nvSpPr>
          <p:cNvPr id="16" name="Need 4 label"/>
          <p:cNvSpPr txBox="1"/>
          <p:nvPr/>
        </p:nvSpPr>
        <p:spPr>
          <a:xfrm>
            <a:off x="9320022" y="2606040"/>
            <a:ext cx="221056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chemeClr val="tx1"/>
                </a:solidFill>
              </a:rPr>
              <a:t>Insurer hedges to roll each month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chemeClr val="tx2"/>
                </a:solidFill>
              </a:rPr>
              <a:t>BIS illustration</a:t>
            </a:r>
          </a:p>
        </p:txBody>
      </p:sp>
      <p:sp>
        <p:nvSpPr>
          <p:cNvPr id="17" name="Implication panel"/>
          <p:cNvSpPr/>
          <p:nvPr/>
        </p:nvSpPr>
        <p:spPr>
          <a:xfrm>
            <a:off x="457200" y="4434840"/>
            <a:ext cx="11274552" cy="914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8" name="Implication icon"/>
          <p:cNvSpPr/>
          <p:nvPr/>
        </p:nvSpPr>
        <p:spPr>
          <a:xfrm>
            <a:off x="685800" y="4736592"/>
            <a:ext cx="310896" cy="3108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chemeClr val="bg1"/>
                </a:solidFill>
              </a:rPr>
              <a:t>!</a:t>
            </a:r>
          </a:p>
        </p:txBody>
      </p:sp>
      <p:sp>
        <p:nvSpPr>
          <p:cNvPr id="19" name="Implication text"/>
          <p:cNvSpPr txBox="1"/>
          <p:nvPr/>
        </p:nvSpPr>
        <p:spPr>
          <a:xfrm>
            <a:off x="1188720" y="443484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Implication: </a:t>
            </a:r>
            <a:r>
              <a:rPr sz="1400" b="0">
                <a:solidFill>
                  <a:schemeClr val="tx1"/>
                </a:solidFill>
              </a:rPr>
              <a:t>short tenors mean constant rolling; Japanese, Swiss and Canadian banks are net dollar borrowers via swaps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FX swaps under stress</a:t>
            </a:r>
          </a:p>
        </p:txBody>
      </p:sp>
      <p:sp>
        <p:nvSpPr>
          <p:cNvPr id="3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An FX swap is a secured dollar loan: dollars now, dollars back later</a:t>
            </a:r>
          </a:p>
        </p:txBody>
      </p:sp>
      <p:sp>
        <p:nvSpPr>
          <p:cNvPr id="4" name="Source and notes"/>
          <p:cNvSpPr>
            <a:spLocks noGrp="1"/>
          </p:cNvSpPr>
          <p:nvPr>
            <p:ph type="body" idx="103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t>Note: Illustrative. Source: BIS; team analysis</a:t>
            </a:r>
          </a:p>
        </p:txBody>
      </p:sp>
      <p:sp>
        <p:nvSpPr>
          <p:cNvPr id="5" name="Diagram header"/>
          <p:cNvSpPr txBox="1"/>
          <p:nvPr/>
        </p:nvSpPr>
        <p:spPr>
          <a:xfrm>
            <a:off x="457200" y="169164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3-month USD/JPY swap</a:t>
            </a:r>
          </a:p>
        </p:txBody>
      </p:sp>
      <p:sp>
        <p:nvSpPr>
          <p:cNvPr id="6" name="Diagram unit"/>
          <p:cNvSpPr txBox="1"/>
          <p:nvPr/>
        </p:nvSpPr>
        <p:spPr>
          <a:xfrm>
            <a:off x="457200" y="1984248"/>
            <a:ext cx="5394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chemeClr val="tx2"/>
                </a:solidFill>
              </a:rPr>
              <a:t>Japanese bank needs $100m; spot 108</a:t>
            </a:r>
          </a:p>
        </p:txBody>
      </p:sp>
      <p:sp>
        <p:nvSpPr>
          <p:cNvPr id="7" name="NEAR LEG · SPOT label"/>
          <p:cNvSpPr txBox="1"/>
          <p:nvPr/>
        </p:nvSpPr>
        <p:spPr>
          <a:xfrm>
            <a:off x="457200" y="2377440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chemeClr val="tx2"/>
                </a:solidFill>
              </a:rPr>
              <a:t>NEAR LEG · SPOT</a:t>
            </a:r>
          </a:p>
        </p:txBody>
      </p:sp>
      <p:sp>
        <p:nvSpPr>
          <p:cNvPr id="8" name="NEAR LEG · SPOT bank"/>
          <p:cNvSpPr/>
          <p:nvPr/>
        </p:nvSpPr>
        <p:spPr>
          <a:xfrm>
            <a:off x="457200" y="2651760"/>
            <a:ext cx="1325880" cy="685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chemeClr val="bg1"/>
                </a:solidFill>
              </a:rPr>
              <a:t>Bank</a:t>
            </a:r>
          </a:p>
        </p:txBody>
      </p:sp>
      <p:sp>
        <p:nvSpPr>
          <p:cNvPr id="9" name="NEAR LEG · SPOT dealer"/>
          <p:cNvSpPr/>
          <p:nvPr/>
        </p:nvSpPr>
        <p:spPr>
          <a:xfrm>
            <a:off x="4526280" y="2651760"/>
            <a:ext cx="1325880" cy="6858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chemeClr val="tx1"/>
                </a:solidFill>
              </a:rPr>
              <a:t>Dealer</a:t>
            </a:r>
          </a:p>
        </p:txBody>
      </p:sp>
      <p:cxnSp>
        <p:nvCxnSpPr>
          <p:cNvPr id="10" name="NEAR LEG · SPOT pay"/>
          <p:cNvCxnSpPr/>
          <p:nvPr/>
        </p:nvCxnSpPr>
        <p:spPr>
          <a:xfrm>
            <a:off x="1874519" y="2852928"/>
            <a:ext cx="2560321" cy="0"/>
          </a:xfrm>
          <a:prstGeom prst="line">
            <a:avLst/>
          </a:prstGeom>
          <a:ln w="19050">
            <a:solidFill>
              <a:schemeClr val="accent1"/>
            </a:solidFill>
            <a:tailEnd type="triangle" w="med" len="med"/>
          </a:ln>
        </p:spPr>
      </p:cxnSp>
      <p:sp>
        <p:nvSpPr>
          <p:cNvPr id="11" name="NEAR LEG · SPOT pay text"/>
          <p:cNvSpPr txBox="1"/>
          <p:nvPr/>
        </p:nvSpPr>
        <p:spPr>
          <a:xfrm>
            <a:off x="1874519" y="262432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chemeClr val="tx1"/>
                </a:solidFill>
              </a:rPr>
              <a:t>¥10.8bn</a:t>
            </a:r>
          </a:p>
        </p:txBody>
      </p:sp>
      <p:cxnSp>
        <p:nvCxnSpPr>
          <p:cNvPr id="12" name="NEAR LEG · SPOT receive"/>
          <p:cNvCxnSpPr/>
          <p:nvPr/>
        </p:nvCxnSpPr>
        <p:spPr>
          <a:xfrm flipH="1">
            <a:off x="1874519" y="3145536"/>
            <a:ext cx="2560321" cy="0"/>
          </a:xfrm>
          <a:prstGeom prst="line">
            <a:avLst/>
          </a:prstGeom>
          <a:ln w="19050">
            <a:solidFill>
              <a:schemeClr val="accent5"/>
            </a:solidFill>
            <a:tailEnd type="triangle" w="med" len="med"/>
          </a:ln>
        </p:spPr>
      </p:cxnSp>
      <p:sp>
        <p:nvSpPr>
          <p:cNvPr id="13" name="NEAR LEG · SPOT receive text"/>
          <p:cNvSpPr txBox="1"/>
          <p:nvPr/>
        </p:nvSpPr>
        <p:spPr>
          <a:xfrm>
            <a:off x="1874519" y="317296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chemeClr val="tx1"/>
                </a:solidFill>
              </a:rPr>
              <a:t>$100m</a:t>
            </a:r>
          </a:p>
        </p:txBody>
      </p:sp>
      <p:sp>
        <p:nvSpPr>
          <p:cNvPr id="14" name="FAR LEG · FORWARD, 3 MONTHS label"/>
          <p:cNvSpPr txBox="1"/>
          <p:nvPr/>
        </p:nvSpPr>
        <p:spPr>
          <a:xfrm>
            <a:off x="457200" y="3611880"/>
            <a:ext cx="5394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chemeClr val="tx2"/>
                </a:solidFill>
              </a:rPr>
              <a:t>FAR LEG · FORWARD, 3 MONTHS</a:t>
            </a:r>
          </a:p>
        </p:txBody>
      </p:sp>
      <p:sp>
        <p:nvSpPr>
          <p:cNvPr id="15" name="FAR LEG · FORWARD, 3 MONTHS bank"/>
          <p:cNvSpPr/>
          <p:nvPr/>
        </p:nvSpPr>
        <p:spPr>
          <a:xfrm>
            <a:off x="457200" y="3886200"/>
            <a:ext cx="1325880" cy="685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chemeClr val="bg1"/>
                </a:solidFill>
              </a:rPr>
              <a:t>Bank</a:t>
            </a:r>
          </a:p>
        </p:txBody>
      </p:sp>
      <p:sp>
        <p:nvSpPr>
          <p:cNvPr id="16" name="FAR LEG · FORWARD, 3 MONTHS dealer"/>
          <p:cNvSpPr/>
          <p:nvPr/>
        </p:nvSpPr>
        <p:spPr>
          <a:xfrm>
            <a:off x="4526280" y="3886200"/>
            <a:ext cx="1325880" cy="6858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chemeClr val="tx1"/>
                </a:solidFill>
              </a:rPr>
              <a:t>Dealer</a:t>
            </a:r>
          </a:p>
        </p:txBody>
      </p:sp>
      <p:cxnSp>
        <p:nvCxnSpPr>
          <p:cNvPr id="17" name="FAR LEG · FORWARD, 3 MONTHS pay"/>
          <p:cNvCxnSpPr/>
          <p:nvPr/>
        </p:nvCxnSpPr>
        <p:spPr>
          <a:xfrm>
            <a:off x="1874519" y="4087368"/>
            <a:ext cx="2560321" cy="0"/>
          </a:xfrm>
          <a:prstGeom prst="line">
            <a:avLst/>
          </a:prstGeom>
          <a:ln w="19050">
            <a:solidFill>
              <a:schemeClr val="accent1"/>
            </a:solidFill>
            <a:tailEnd type="triangle" w="med" len="med"/>
          </a:ln>
        </p:spPr>
      </p:cxnSp>
      <p:sp>
        <p:nvSpPr>
          <p:cNvPr id="18" name="FAR LEG · FORWARD, 3 MONTHS pay text"/>
          <p:cNvSpPr txBox="1"/>
          <p:nvPr/>
        </p:nvSpPr>
        <p:spPr>
          <a:xfrm>
            <a:off x="1874519" y="385876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chemeClr val="tx1"/>
                </a:solidFill>
              </a:rPr>
              <a:t>$100m</a:t>
            </a:r>
          </a:p>
        </p:txBody>
      </p:sp>
      <p:cxnSp>
        <p:nvCxnSpPr>
          <p:cNvPr id="19" name="FAR LEG · FORWARD, 3 MONTHS receive"/>
          <p:cNvCxnSpPr/>
          <p:nvPr/>
        </p:nvCxnSpPr>
        <p:spPr>
          <a:xfrm flipH="1">
            <a:off x="1874519" y="4379976"/>
            <a:ext cx="2560321" cy="0"/>
          </a:xfrm>
          <a:prstGeom prst="line">
            <a:avLst/>
          </a:prstGeom>
          <a:ln w="19050">
            <a:solidFill>
              <a:schemeClr val="accent5"/>
            </a:solidFill>
            <a:tailEnd type="triangle" w="med" len="med"/>
          </a:ln>
        </p:spPr>
      </p:cxnSp>
      <p:sp>
        <p:nvSpPr>
          <p:cNvPr id="20" name="FAR LEG · FORWARD, 3 MONTHS receive text"/>
          <p:cNvSpPr txBox="1"/>
          <p:nvPr/>
        </p:nvSpPr>
        <p:spPr>
          <a:xfrm>
            <a:off x="1874519" y="440740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chemeClr val="tx1"/>
                </a:solidFill>
              </a:rPr>
              <a:t>¥ back at the forward rate</a:t>
            </a:r>
          </a:p>
        </p:txBody>
      </p:sp>
      <p:sp>
        <p:nvSpPr>
          <p:cNvPr id="21" name="Collateral panel"/>
          <p:cNvSpPr/>
          <p:nvPr/>
        </p:nvSpPr>
        <p:spPr>
          <a:xfrm>
            <a:off x="457200" y="4892040"/>
            <a:ext cx="5394960" cy="9601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22" name="Collateral text"/>
          <p:cNvSpPr txBox="1"/>
          <p:nvPr/>
        </p:nvSpPr>
        <p:spPr>
          <a:xfrm>
            <a:off x="640080" y="4937760"/>
            <a:ext cx="50292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chemeClr val="tx1"/>
                </a:solidFill>
              </a:rPr>
              <a:t>Yen acts as collateral; </a:t>
            </a:r>
            <a:r>
              <a:rPr sz="1200" b="0">
                <a:solidFill>
                  <a:schemeClr val="tx1"/>
                </a:solidFill>
              </a:rPr>
              <a:t>swap points price the loan.</a:t>
            </a:r>
          </a:p>
        </p:txBody>
      </p:sp>
      <p:sp>
        <p:nvSpPr>
          <p:cNvPr id="23" name="Role 1 marker"/>
          <p:cNvSpPr/>
          <p:nvPr/>
        </p:nvSpPr>
        <p:spPr>
          <a:xfrm>
            <a:off x="6400800" y="1691640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4" name="Role 1 header"/>
          <p:cNvSpPr txBox="1"/>
          <p:nvPr/>
        </p:nvSpPr>
        <p:spPr>
          <a:xfrm>
            <a:off x="6949440" y="1737360"/>
            <a:ext cx="47823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Near leg: get dollars</a:t>
            </a:r>
          </a:p>
        </p:txBody>
      </p:sp>
      <p:sp>
        <p:nvSpPr>
          <p:cNvPr id="25" name="Role 1 text"/>
          <p:cNvSpPr txBox="1"/>
          <p:nvPr/>
        </p:nvSpPr>
        <p:spPr>
          <a:xfrm>
            <a:off x="6949440" y="2057400"/>
            <a:ext cx="47823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chemeClr val="tx1"/>
                </a:solidFill>
              </a:rPr>
              <a:t>Funds dollar assets today, without an unsecured dollar loan</a:t>
            </a:r>
          </a:p>
        </p:txBody>
      </p:sp>
      <p:sp>
        <p:nvSpPr>
          <p:cNvPr id="26" name="Role 2 marker"/>
          <p:cNvSpPr/>
          <p:nvPr/>
        </p:nvSpPr>
        <p:spPr>
          <a:xfrm>
            <a:off x="6400800" y="2743200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7" name="Role 2 header"/>
          <p:cNvSpPr txBox="1"/>
          <p:nvPr/>
        </p:nvSpPr>
        <p:spPr>
          <a:xfrm>
            <a:off x="6949440" y="2788920"/>
            <a:ext cx="47823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Far leg: repay dollars</a:t>
            </a:r>
          </a:p>
        </p:txBody>
      </p:sp>
      <p:sp>
        <p:nvSpPr>
          <p:cNvPr id="28" name="Role 2 text"/>
          <p:cNvSpPr txBox="1"/>
          <p:nvPr/>
        </p:nvSpPr>
        <p:spPr>
          <a:xfrm>
            <a:off x="6949440" y="3108960"/>
            <a:ext cx="47823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chemeClr val="tx1"/>
                </a:solidFill>
              </a:rPr>
              <a:t>A fixed dollar payment on a fixed date</a:t>
            </a:r>
          </a:p>
        </p:txBody>
      </p:sp>
      <p:sp>
        <p:nvSpPr>
          <p:cNvPr id="29" name="Role 3 marker"/>
          <p:cNvSpPr/>
          <p:nvPr/>
        </p:nvSpPr>
        <p:spPr>
          <a:xfrm>
            <a:off x="6400800" y="3794760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0" name="Role 3 header"/>
          <p:cNvSpPr txBox="1"/>
          <p:nvPr/>
        </p:nvSpPr>
        <p:spPr>
          <a:xfrm>
            <a:off x="6949440" y="3840480"/>
            <a:ext cx="47823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Net effect: short-term funding</a:t>
            </a:r>
          </a:p>
        </p:txBody>
      </p:sp>
      <p:sp>
        <p:nvSpPr>
          <p:cNvPr id="31" name="Role 3 text"/>
          <p:cNvSpPr txBox="1"/>
          <p:nvPr/>
        </p:nvSpPr>
        <p:spPr>
          <a:xfrm>
            <a:off x="6949440" y="4160520"/>
            <a:ext cx="47823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chemeClr val="tx1"/>
                </a:solidFill>
              </a:rPr>
              <a:t>FX on principal locked to maturity; funding must be renewed</a:t>
            </a:r>
          </a:p>
        </p:txBody>
      </p:sp>
      <p:sp>
        <p:nvSpPr>
          <p:cNvPr id="32" name="Debt panel"/>
          <p:cNvSpPr/>
          <p:nvPr/>
        </p:nvSpPr>
        <p:spPr>
          <a:xfrm>
            <a:off x="6400800" y="4892040"/>
            <a:ext cx="5330952" cy="9601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33" name="Debt text"/>
          <p:cNvSpPr txBox="1"/>
          <p:nvPr/>
        </p:nvSpPr>
        <p:spPr>
          <a:xfrm>
            <a:off x="6583680" y="4937760"/>
            <a:ext cx="4965192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chemeClr val="tx1"/>
                </a:solidFill>
              </a:rPr>
              <a:t>Key point: </a:t>
            </a:r>
            <a:r>
              <a:rPr sz="1200" b="0">
                <a:solidFill>
                  <a:schemeClr val="tx1"/>
                </a:solidFill>
              </a:rPr>
              <a:t>the far leg is a future dollar debt.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FX swaps under stress</a:t>
            </a:r>
          </a:p>
        </p:txBody>
      </p:sp>
      <p:sp>
        <p:nvSpPr>
          <p:cNvPr id="3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The cross-currency basis is the premium for borrowing dollars through a swap</a:t>
            </a:r>
          </a:p>
        </p:txBody>
      </p:sp>
      <p:sp>
        <p:nvSpPr>
          <p:cNvPr id="4" name="Source and notes"/>
          <p:cNvSpPr>
            <a:spLocks noGrp="1"/>
          </p:cNvSpPr>
          <p:nvPr>
            <p:ph type="body" idx="103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t>Note: Basis sign convention as in BIS; cost = 1.44% × 0.25 × $100m. Source: BIS; team analysis</a:t>
            </a:r>
          </a:p>
        </p:txBody>
      </p:sp>
      <p:sp>
        <p:nvSpPr>
          <p:cNvPr id="5" name="Route A tag"/>
          <p:cNvSpPr/>
          <p:nvPr/>
        </p:nvSpPr>
        <p:spPr>
          <a:xfrm>
            <a:off x="457200" y="1783080"/>
            <a:ext cx="146304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chemeClr val="bg1"/>
                </a:solidFill>
              </a:rPr>
              <a:t>Route A</a:t>
            </a:r>
          </a:p>
        </p:txBody>
      </p:sp>
      <p:sp>
        <p:nvSpPr>
          <p:cNvPr id="6" name="Route A panel"/>
          <p:cNvSpPr/>
          <p:nvPr/>
        </p:nvSpPr>
        <p:spPr>
          <a:xfrm>
            <a:off x="1920240" y="1783080"/>
            <a:ext cx="4206240" cy="914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7" name="Route A text"/>
          <p:cNvSpPr txBox="1"/>
          <p:nvPr/>
        </p:nvSpPr>
        <p:spPr>
          <a:xfrm>
            <a:off x="2148840" y="1783080"/>
            <a:ext cx="38404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Borrow dollars directly</a:t>
            </a:r>
          </a:p>
          <a:p>
            <a:pPr algn="l"/>
            <a:r>
              <a:rPr sz="1400" b="0">
                <a:solidFill>
                  <a:schemeClr val="tx2"/>
                </a:solidFill>
              </a:rPr>
              <a:t>Pay the dollar money-market rate</a:t>
            </a:r>
          </a:p>
        </p:txBody>
      </p:sp>
      <p:sp>
        <p:nvSpPr>
          <p:cNvPr id="8" name="Route B tag"/>
          <p:cNvSpPr/>
          <p:nvPr/>
        </p:nvSpPr>
        <p:spPr>
          <a:xfrm>
            <a:off x="457200" y="2971800"/>
            <a:ext cx="146304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chemeClr val="bg1"/>
                </a:solidFill>
              </a:rPr>
              <a:t>Route B</a:t>
            </a:r>
          </a:p>
        </p:txBody>
      </p:sp>
      <p:sp>
        <p:nvSpPr>
          <p:cNvPr id="9" name="Route B panel"/>
          <p:cNvSpPr/>
          <p:nvPr/>
        </p:nvSpPr>
        <p:spPr>
          <a:xfrm>
            <a:off x="1920240" y="2971800"/>
            <a:ext cx="4206240" cy="914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0" name="Route B text"/>
          <p:cNvSpPr txBox="1"/>
          <p:nvPr/>
        </p:nvSpPr>
        <p:spPr>
          <a:xfrm>
            <a:off x="2148840" y="2971800"/>
            <a:ext cx="38404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Borrow yen, swap into dollars</a:t>
            </a:r>
          </a:p>
          <a:p>
            <a:pPr algn="l"/>
            <a:r>
              <a:rPr sz="1400" b="0">
                <a:solidFill>
                  <a:schemeClr val="tx2"/>
                </a:solidFill>
              </a:rPr>
              <a:t>Pay the dollar rate + basis premium</a:t>
            </a:r>
          </a:p>
        </p:txBody>
      </p:sp>
      <p:sp>
        <p:nvSpPr>
          <p:cNvPr id="11" name="Formula panel"/>
          <p:cNvSpPr/>
          <p:nvPr/>
        </p:nvSpPr>
        <p:spPr>
          <a:xfrm>
            <a:off x="457200" y="4343400"/>
            <a:ext cx="5669280" cy="1371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2" name="Formula text"/>
          <p:cNvSpPr txBox="1"/>
          <p:nvPr/>
        </p:nvSpPr>
        <p:spPr>
          <a:xfrm>
            <a:off x="685800" y="4434840"/>
            <a:ext cx="52120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chemeClr val="tx1"/>
                </a:solidFill>
              </a:rPr>
              <a:t>Basis = </a:t>
            </a:r>
            <a:r>
              <a:rPr sz="1400" b="0">
                <a:solidFill>
                  <a:schemeClr val="tx1"/>
                </a:solidFill>
              </a:rPr>
              <a:t>Route A cost − Route B cost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chemeClr val="tx1"/>
                </a:solidFill>
              </a:rPr>
              <a:t>Negative basis </a:t>
            </a:r>
            <a:r>
              <a:rPr sz="1400" b="0">
                <a:solidFill>
                  <a:schemeClr val="tx1"/>
                </a:solidFill>
              </a:rPr>
              <a:t>= synthetic dollars cost more</a:t>
            </a:r>
          </a:p>
        </p:txBody>
      </p:sp>
      <p:sp>
        <p:nvSpPr>
          <p:cNvPr id="13" name="Why header"/>
          <p:cNvSpPr txBox="1"/>
          <p:nvPr/>
        </p:nvSpPr>
        <p:spPr>
          <a:xfrm>
            <a:off x="6675120" y="1691640"/>
            <a:ext cx="5056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Why it is not zero</a:t>
            </a:r>
          </a:p>
        </p:txBody>
      </p:sp>
      <p:sp>
        <p:nvSpPr>
          <p:cNvPr id="14" name="Why text"/>
          <p:cNvSpPr txBox="1"/>
          <p:nvPr/>
        </p:nvSpPr>
        <p:spPr>
          <a:xfrm>
            <a:off x="6675120" y="2103120"/>
            <a:ext cx="505663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spcAft>
                <a:spcPts val="1000"/>
              </a:spcAft>
              <a:buClr>
                <a:schemeClr val="accent1"/>
              </a:buClr>
              <a:buFont typeface="Arial"/>
              <a:buChar char="•"/>
            </a:pPr>
            <a:r>
              <a:rPr sz="1400" b="1">
                <a:solidFill>
                  <a:schemeClr val="tx1"/>
                </a:solidFill>
              </a:rPr>
              <a:t>Theory: </a:t>
            </a:r>
            <a:r>
              <a:rPr sz="1400" b="0">
                <a:solidFill>
                  <a:schemeClr val="tx1"/>
                </a:solidFill>
              </a:rPr>
              <a:t>covered interest parity says zero</a:t>
            </a:r>
          </a:p>
          <a:p>
            <a:pPr algn="l" marL="146304" indent="-146304">
              <a:spcAft>
                <a:spcPts val="1000"/>
              </a:spcAft>
              <a:buClr>
                <a:schemeClr val="accent1"/>
              </a:buClr>
              <a:buFont typeface="Arial"/>
              <a:buChar char="•"/>
            </a:pPr>
            <a:r>
              <a:rPr sz="1400" b="1">
                <a:solidFill>
                  <a:schemeClr val="tx1"/>
                </a:solidFill>
              </a:rPr>
              <a:t>Practice: </a:t>
            </a:r>
            <a:r>
              <a:rPr sz="1400" b="0">
                <a:solidFill>
                  <a:schemeClr val="tx1"/>
                </a:solidFill>
              </a:rPr>
              <a:t>dealer balance sheets are costly and limited</a:t>
            </a:r>
          </a:p>
          <a:p>
            <a:pPr algn="l" marL="146304" indent="-146304">
              <a:spcAft>
                <a:spcPts val="1000"/>
              </a:spcAft>
              <a:buClr>
                <a:schemeClr val="accent1"/>
              </a:buClr>
              <a:buFont typeface="Arial"/>
              <a:buChar char="•"/>
            </a:pPr>
            <a:r>
              <a:rPr sz="1400" b="1">
                <a:solidFill>
                  <a:schemeClr val="tx1"/>
                </a:solidFill>
              </a:rPr>
              <a:t>Stress: </a:t>
            </a:r>
            <a:r>
              <a:rPr sz="1400" b="0">
                <a:solidFill>
                  <a:schemeClr val="tx1"/>
                </a:solidFill>
              </a:rPr>
              <a:t>dollar demand jumps; the premium widens</a:t>
            </a:r>
          </a:p>
        </p:txBody>
      </p:sp>
      <p:sp>
        <p:nvSpPr>
          <p:cNvPr id="15" name="Cost panel"/>
          <p:cNvSpPr/>
          <p:nvPr/>
        </p:nvSpPr>
        <p:spPr>
          <a:xfrm>
            <a:off x="6675120" y="4343400"/>
            <a:ext cx="5056632" cy="1371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6" name="Cost text"/>
          <p:cNvSpPr txBox="1"/>
          <p:nvPr/>
        </p:nvSpPr>
        <p:spPr>
          <a:xfrm>
            <a:off x="6903720" y="4434840"/>
            <a:ext cx="4599432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−144bp on $100m for 3 months</a:t>
            </a:r>
          </a:p>
          <a:p>
            <a:pPr algn="l"/>
            <a:r>
              <a:rPr sz="1400" b="0">
                <a:solidFill>
                  <a:schemeClr val="tx2"/>
                </a:solidFill>
              </a:rPr>
              <a:t>≈ $0.36m extra funding cost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FX swaps under stress</a:t>
            </a:r>
          </a:p>
        </p:txBody>
      </p:sp>
      <p:sp>
        <p:nvSpPr>
          <p:cNvPr id="4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At the peak, banks paid up to 1.44 points over market rates for swapped dollars</a:t>
            </a:r>
          </a:p>
        </p:txBody>
      </p:sp>
      <p:sp>
        <p:nvSpPr>
          <p:cNvPr id="5" name="Exhibit header"/>
          <p:cNvSpPr>
            <a:spLocks noGrp="1"/>
          </p:cNvSpPr>
          <p:nvPr>
            <p:ph type="body" idx="103" hasCustomPrompt="1"/>
          </p:nvPr>
        </p:nvSpPr>
        <p:spPr>
          <a:xfrm>
            <a:off x="457200" y="16916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3-month cross-currency basis at peak, March 2020</a:t>
            </a:r>
          </a:p>
        </p:txBody>
      </p:sp>
      <p:sp>
        <p:nvSpPr>
          <p:cNvPr id="6" name="Unit of measure"/>
          <p:cNvSpPr>
            <a:spLocks noGrp="1"/>
          </p:cNvSpPr>
          <p:nvPr>
            <p:ph type="body" idx="104" hasCustomPrompt="1"/>
          </p:nvPr>
        </p:nvSpPr>
        <p:spPr>
          <a:xfrm>
            <a:off x="457200" y="1984248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Premium over dollar rate, bp (basis shown as a positive cost)</a:t>
            </a:r>
          </a:p>
        </p:txBody>
      </p:sp>
      <p:graphicFrame>
        <p:nvGraphicFramePr>
          <p:cNvPr id="7" name="Chart"/>
          <p:cNvGraphicFramePr>
            <a:graphicFrameLocks noGrp="1"/>
          </p:cNvGraphicFramePr>
          <p:nvPr>
            <p:ph type="chart" idx="105" hasCustomPrompt="1"/>
          </p:nvPr>
        </p:nvGraphicFramePr>
        <p:xfrm>
          <a:off x="457200" y="2331720"/>
          <a:ext cx="7498079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ource and notes"/>
          <p:cNvSpPr>
            <a:spLocks noGrp="1"/>
          </p:cNvSpPr>
          <p:nvPr>
            <p:ph type="body" idx="106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t>Source: BIS Bulletin No 1 (Apr 2020); IMF Special Note on dollar funding (2020)</a:t>
            </a:r>
          </a:p>
        </p:txBody>
      </p:sp>
      <p:sp>
        <p:nvSpPr>
          <p:cNvPr id="9" name="Basis panel"/>
          <p:cNvSpPr/>
          <p:nvPr/>
        </p:nvSpPr>
        <p:spPr>
          <a:xfrm>
            <a:off x="8348472" y="1691640"/>
            <a:ext cx="3383280" cy="42062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0" name="Basis header"/>
          <p:cNvSpPr txBox="1"/>
          <p:nvPr/>
        </p:nvSpPr>
        <p:spPr>
          <a:xfrm>
            <a:off x="8577072" y="1874519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How it moved</a:t>
            </a:r>
          </a:p>
        </p:txBody>
      </p:sp>
      <p:sp>
        <p:nvSpPr>
          <p:cNvPr id="11" name="Basis text"/>
          <p:cNvSpPr txBox="1"/>
          <p:nvPr/>
        </p:nvSpPr>
        <p:spPr>
          <a:xfrm>
            <a:off x="8577072" y="2331720"/>
            <a:ext cx="292608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spcAft>
                <a:spcPts val="1400"/>
              </a:spcAft>
              <a:buClr>
                <a:schemeClr val="accent1"/>
              </a:buClr>
              <a:buFont typeface="Arial"/>
              <a:buChar char="•"/>
            </a:pPr>
            <a:r>
              <a:rPr sz="1400" b="1">
                <a:solidFill>
                  <a:schemeClr val="tx1"/>
                </a:solidFill>
              </a:rPr>
              <a:t>Week after 11 Mar: </a:t>
            </a:r>
            <a:r>
              <a:rPr sz="1400" b="0">
                <a:solidFill>
                  <a:schemeClr val="tx1"/>
                </a:solidFill>
              </a:rPr>
              <a:t>+40bp advanced, +70bp emerging</a:t>
            </a:r>
          </a:p>
          <a:p>
            <a:pPr algn="l" marL="146304" indent="-146304">
              <a:spcAft>
                <a:spcPts val="1400"/>
              </a:spcAft>
              <a:buClr>
                <a:schemeClr val="accent1"/>
              </a:buClr>
              <a:buFont typeface="Arial"/>
              <a:buChar char="•"/>
            </a:pPr>
            <a:r>
              <a:rPr sz="1400" b="1">
                <a:solidFill>
                  <a:schemeClr val="tx1"/>
                </a:solidFill>
              </a:rPr>
              <a:t>Swap-line news: </a:t>
            </a:r>
            <a:r>
              <a:rPr sz="1400" b="0">
                <a:solidFill>
                  <a:schemeClr val="tx1"/>
                </a:solidFill>
              </a:rPr>
              <a:t>~80bp narrower for swap-line currencies</a:t>
            </a:r>
          </a:p>
          <a:p>
            <a:pPr algn="l" marL="146304" indent="-146304">
              <a:spcAft>
                <a:spcPts val="1400"/>
              </a:spcAft>
              <a:buClr>
                <a:schemeClr val="accent1"/>
              </a:buClr>
              <a:buFont typeface="Arial"/>
              <a:buChar char="•"/>
            </a:pPr>
            <a:r>
              <a:rPr sz="1400" b="1">
                <a:solidFill>
                  <a:schemeClr val="tx1"/>
                </a:solidFill>
              </a:rPr>
              <a:t>By April: </a:t>
            </a:r>
            <a:r>
              <a:rPr sz="1400" b="0">
                <a:solidFill>
                  <a:schemeClr val="tx1"/>
                </a:solidFill>
              </a:rPr>
              <a:t>euro, yen, pound, franc basis back above zero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FX swaps under stress</a:t>
            </a:r>
          </a:p>
        </p:txBody>
      </p:sp>
      <p:sp>
        <p:nvSpPr>
          <p:cNvPr id="3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Opposite legs cancel the FX exposure, not the risk</a:t>
            </a:r>
          </a:p>
        </p:txBody>
      </p:sp>
      <p:sp>
        <p:nvSpPr>
          <p:cNvPr id="4" name="Source and notes"/>
          <p:cNvSpPr>
            <a:spLocks noGrp="1"/>
          </p:cNvSpPr>
          <p:nvPr>
            <p:ph type="body" idx="103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t>Source: BIS; team analysis</a:t>
            </a:r>
          </a:p>
        </p:txBody>
      </p:sp>
      <p:sp>
        <p:nvSpPr>
          <p:cNvPr id="5" name="Offsets panel"/>
          <p:cNvSpPr/>
          <p:nvPr/>
        </p:nvSpPr>
        <p:spPr>
          <a:xfrm>
            <a:off x="457200" y="1691640"/>
            <a:ext cx="3474720" cy="42062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6" name="Offsets header"/>
          <p:cNvSpPr txBox="1"/>
          <p:nvPr/>
        </p:nvSpPr>
        <p:spPr>
          <a:xfrm>
            <a:off x="685800" y="1874519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What offsets</a:t>
            </a:r>
          </a:p>
        </p:txBody>
      </p:sp>
      <p:sp>
        <p:nvSpPr>
          <p:cNvPr id="7" name="Offsets text"/>
          <p:cNvSpPr txBox="1"/>
          <p:nvPr/>
        </p:nvSpPr>
        <p:spPr>
          <a:xfrm>
            <a:off x="685800" y="2377440"/>
            <a:ext cx="301752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FX on principal</a:t>
            </a:r>
          </a:p>
          <a:p>
            <a:pPr algn="l"/>
            <a:r>
              <a:rPr sz="1400" b="0">
                <a:solidFill>
                  <a:schemeClr val="tx2"/>
                </a:solidFill>
              </a:rPr>
              <a:t>Locked from near leg to far leg</a:t>
            </a:r>
          </a:p>
          <a:p>
            <a:pPr algn="l"/>
            <a:r>
              <a:rPr sz="1400" b="0">
                <a:solidFill>
                  <a:schemeClr val="tx1"/>
                </a:solidFill>
              </a:rPr>
              <a:t/>
            </a:r>
          </a:p>
          <a:p>
            <a:pPr algn="l"/>
            <a:r>
              <a:rPr sz="1400" b="1">
                <a:solidFill>
                  <a:schemeClr val="accent1"/>
                </a:solidFill>
              </a:rPr>
              <a:t>Only for the swap's life</a:t>
            </a:r>
          </a:p>
        </p:txBody>
      </p:sp>
      <p:sp>
        <p:nvSpPr>
          <p:cNvPr id="8" name="Remains header"/>
          <p:cNvSpPr txBox="1"/>
          <p:nvPr/>
        </p:nvSpPr>
        <p:spPr>
          <a:xfrm>
            <a:off x="4389120" y="1691640"/>
            <a:ext cx="73426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What remains</a:t>
            </a:r>
          </a:p>
        </p:txBody>
      </p:sp>
      <p:sp>
        <p:nvSpPr>
          <p:cNvPr id="9" name="Remain 1 marker"/>
          <p:cNvSpPr/>
          <p:nvPr/>
        </p:nvSpPr>
        <p:spPr>
          <a:xfrm>
            <a:off x="4389120" y="222199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0" name="Remain 1 head"/>
          <p:cNvSpPr txBox="1"/>
          <p:nvPr/>
        </p:nvSpPr>
        <p:spPr>
          <a:xfrm>
            <a:off x="4892040" y="214884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Rollover</a:t>
            </a:r>
          </a:p>
        </p:txBody>
      </p:sp>
      <p:sp>
        <p:nvSpPr>
          <p:cNvPr id="11" name="Remain 1 text"/>
          <p:cNvSpPr txBox="1"/>
          <p:nvPr/>
        </p:nvSpPr>
        <p:spPr>
          <a:xfrm>
            <a:off x="6949440" y="2148840"/>
            <a:ext cx="478231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chemeClr val="tx2"/>
                </a:solidFill>
              </a:rPr>
              <a:t>Dollars must be replaced at maturity</a:t>
            </a:r>
          </a:p>
        </p:txBody>
      </p:sp>
      <p:cxnSp>
        <p:nvCxnSpPr>
          <p:cNvPr id="12" name="Remain rule 1"/>
          <p:cNvCxnSpPr/>
          <p:nvPr/>
        </p:nvCxnSpPr>
        <p:spPr>
          <a:xfrm>
            <a:off x="4389120" y="2770632"/>
            <a:ext cx="7342631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13" name="Remain 2 marker"/>
          <p:cNvSpPr/>
          <p:nvPr/>
        </p:nvSpPr>
        <p:spPr>
          <a:xfrm>
            <a:off x="4389120" y="2953512"/>
            <a:ext cx="347472" cy="3474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4" name="Remain 2 head"/>
          <p:cNvSpPr txBox="1"/>
          <p:nvPr/>
        </p:nvSpPr>
        <p:spPr>
          <a:xfrm>
            <a:off x="4892040" y="288036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Basis</a:t>
            </a:r>
          </a:p>
        </p:txBody>
      </p:sp>
      <p:sp>
        <p:nvSpPr>
          <p:cNvPr id="15" name="Remain 2 text"/>
          <p:cNvSpPr txBox="1"/>
          <p:nvPr/>
        </p:nvSpPr>
        <p:spPr>
          <a:xfrm>
            <a:off x="6949440" y="2880360"/>
            <a:ext cx="478231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chemeClr val="tx2"/>
                </a:solidFill>
              </a:rPr>
              <a:t>Funding cost resets at every roll</a:t>
            </a:r>
          </a:p>
        </p:txBody>
      </p:sp>
      <p:cxnSp>
        <p:nvCxnSpPr>
          <p:cNvPr id="16" name="Remain rule 2"/>
          <p:cNvCxnSpPr/>
          <p:nvPr/>
        </p:nvCxnSpPr>
        <p:spPr>
          <a:xfrm>
            <a:off x="4389120" y="3502152"/>
            <a:ext cx="7342631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17" name="Remain 3 marker"/>
          <p:cNvSpPr/>
          <p:nvPr/>
        </p:nvSpPr>
        <p:spPr>
          <a:xfrm>
            <a:off x="4389120" y="3685032"/>
            <a:ext cx="347472" cy="3474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8" name="Remain 3 head"/>
          <p:cNvSpPr txBox="1"/>
          <p:nvPr/>
        </p:nvSpPr>
        <p:spPr>
          <a:xfrm>
            <a:off x="4892040" y="361188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Counterparty</a:t>
            </a:r>
          </a:p>
        </p:txBody>
      </p:sp>
      <p:sp>
        <p:nvSpPr>
          <p:cNvPr id="19" name="Remain 3 text"/>
          <p:cNvSpPr txBox="1"/>
          <p:nvPr/>
        </p:nvSpPr>
        <p:spPr>
          <a:xfrm>
            <a:off x="6949440" y="3611880"/>
            <a:ext cx="478231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chemeClr val="tx2"/>
                </a:solidFill>
              </a:rPr>
              <a:t>Replacement cost if the dealer fails before the far leg</a:t>
            </a:r>
          </a:p>
        </p:txBody>
      </p:sp>
      <p:cxnSp>
        <p:nvCxnSpPr>
          <p:cNvPr id="20" name="Remain rule 3"/>
          <p:cNvCxnSpPr/>
          <p:nvPr/>
        </p:nvCxnSpPr>
        <p:spPr>
          <a:xfrm>
            <a:off x="4389120" y="4233672"/>
            <a:ext cx="7342631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21" name="Remain 4 marker"/>
          <p:cNvSpPr/>
          <p:nvPr/>
        </p:nvSpPr>
        <p:spPr>
          <a:xfrm>
            <a:off x="4389120" y="4416552"/>
            <a:ext cx="347472" cy="3474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2" name="Remain 4 head"/>
          <p:cNvSpPr txBox="1"/>
          <p:nvPr/>
        </p:nvSpPr>
        <p:spPr>
          <a:xfrm>
            <a:off x="4892040" y="434340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Settlement</a:t>
            </a:r>
          </a:p>
        </p:txBody>
      </p:sp>
      <p:sp>
        <p:nvSpPr>
          <p:cNvPr id="23" name="Remain 4 text"/>
          <p:cNvSpPr txBox="1"/>
          <p:nvPr/>
        </p:nvSpPr>
        <p:spPr>
          <a:xfrm>
            <a:off x="6949440" y="4343400"/>
            <a:ext cx="478231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chemeClr val="tx2"/>
                </a:solidFill>
              </a:rPr>
              <a:t>Full principal changes hands on both legs</a:t>
            </a:r>
          </a:p>
        </p:txBody>
      </p:sp>
      <p:cxnSp>
        <p:nvCxnSpPr>
          <p:cNvPr id="24" name="Remain rule 4"/>
          <p:cNvCxnSpPr/>
          <p:nvPr/>
        </p:nvCxnSpPr>
        <p:spPr>
          <a:xfrm>
            <a:off x="4389120" y="4965192"/>
            <a:ext cx="7342631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25" name="Remain 5 marker"/>
          <p:cNvSpPr/>
          <p:nvPr/>
        </p:nvSpPr>
        <p:spPr>
          <a:xfrm>
            <a:off x="4389120" y="5148072"/>
            <a:ext cx="347472" cy="3474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6" name="Remain 5 head"/>
          <p:cNvSpPr txBox="1"/>
          <p:nvPr/>
        </p:nvSpPr>
        <p:spPr>
          <a:xfrm>
            <a:off x="4892040" y="507492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Margin</a:t>
            </a:r>
          </a:p>
        </p:txBody>
      </p:sp>
      <p:sp>
        <p:nvSpPr>
          <p:cNvPr id="27" name="Remain 5 text"/>
          <p:cNvSpPr txBox="1"/>
          <p:nvPr/>
        </p:nvSpPr>
        <p:spPr>
          <a:xfrm>
            <a:off x="6949440" y="5074920"/>
            <a:ext cx="478231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chemeClr val="tx2"/>
                </a:solidFill>
              </a:rPr>
              <a:t>Mark-to-market moves trigger cash collateral calls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FX swaps under stress</a:t>
            </a:r>
          </a:p>
        </p:txBody>
      </p:sp>
      <p:sp>
        <p:nvSpPr>
          <p:cNvPr id="3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At the far date, a bank still needing dollars must re-borrow at today's prices</a:t>
            </a:r>
          </a:p>
        </p:txBody>
      </p:sp>
      <p:sp>
        <p:nvSpPr>
          <p:cNvPr id="4" name="Column 1 marker"/>
          <p:cNvSpPr>
            <a:spLocks noGrp="1"/>
          </p:cNvSpPr>
          <p:nvPr>
            <p:ph type="body" idx="103" hasCustomPrompt="1"/>
          </p:nvPr>
        </p:nvSpPr>
        <p:spPr>
          <a:xfrm>
            <a:off x="457200" y="1691640"/>
            <a:ext cx="502920" cy="502920"/>
          </a:xfrm>
        </p:spPr>
        <p:txBody>
          <a:bodyPr wrap="square" lIns="0" tIns="0" rIns="0" bIns="0" rtlCol="0" anchor="ctr"/>
          <a:lstStyle/>
          <a:p>
            <a:r>
              <a:t>1</a:t>
            </a:r>
          </a:p>
        </p:txBody>
      </p:sp>
      <p:sp>
        <p:nvSpPr>
          <p:cNvPr id="5" name="Connector 1"/>
          <p:cNvSpPr/>
          <p:nvPr/>
        </p:nvSpPr>
        <p:spPr>
          <a:xfrm>
            <a:off x="1097280" y="1943100"/>
            <a:ext cx="3103778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6" name="Column 1 header"/>
          <p:cNvSpPr>
            <a:spLocks noGrp="1"/>
          </p:cNvSpPr>
          <p:nvPr>
            <p:ph type="body" idx="104" hasCustomPrompt="1"/>
          </p:nvPr>
        </p:nvSpPr>
        <p:spPr>
          <a:xfrm>
            <a:off x="457200" y="2331720"/>
            <a:ext cx="3515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t>Repay</a:t>
            </a:r>
          </a:p>
        </p:txBody>
      </p:sp>
      <p:sp>
        <p:nvSpPr>
          <p:cNvPr id="7" name="Column 1 text"/>
          <p:cNvSpPr>
            <a:spLocks noGrp="1"/>
          </p:cNvSpPr>
          <p:nvPr>
            <p:ph type="body" idx="105" hasCustomPrompt="1"/>
          </p:nvPr>
        </p:nvSpPr>
        <p:spPr>
          <a:xfrm>
            <a:off x="457200" y="3017520"/>
            <a:ext cx="351525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Far leg settles</a:t>
            </a:r>
          </a:p>
          <a:p>
            <a:pPr lvl="1"/>
            <a:r>
              <a:t>$100m leaves on a fixed date</a:t>
            </a:r>
          </a:p>
        </p:txBody>
      </p:sp>
      <p:sp>
        <p:nvSpPr>
          <p:cNvPr id="8" name="Example panel 1"/>
          <p:cNvSpPr/>
          <p:nvPr/>
        </p:nvSpPr>
        <p:spPr>
          <a:xfrm>
            <a:off x="457200" y="4206240"/>
            <a:ext cx="3515258" cy="14630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4370832"/>
            <a:ext cx="31494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MARCH 2020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45152"/>
            <a:ext cx="31494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Dollars still needed the same day</a:t>
            </a:r>
            <a:endParaRPr lang="en-US" sz="1400" dirty="0"/>
          </a:p>
        </p:txBody>
      </p:sp>
      <p:sp>
        <p:nvSpPr>
          <p:cNvPr id="11" name="Column 2 marker"/>
          <p:cNvSpPr>
            <a:spLocks noGrp="1"/>
          </p:cNvSpPr>
          <p:nvPr>
            <p:ph type="body" idx="106" hasCustomPrompt="1"/>
          </p:nvPr>
        </p:nvSpPr>
        <p:spPr>
          <a:xfrm>
            <a:off x="4338218" y="1691640"/>
            <a:ext cx="502920" cy="502920"/>
          </a:xfrm>
        </p:spPr>
        <p:txBody>
          <a:bodyPr wrap="square" lIns="0" tIns="0" rIns="0" bIns="0" rtlCol="0" anchor="ctr"/>
          <a:lstStyle/>
          <a:p>
            <a:r>
              <a:t>2</a:t>
            </a:r>
          </a:p>
        </p:txBody>
      </p:sp>
      <p:sp>
        <p:nvSpPr>
          <p:cNvPr id="12" name="Connector 2"/>
          <p:cNvSpPr/>
          <p:nvPr/>
        </p:nvSpPr>
        <p:spPr>
          <a:xfrm>
            <a:off x="4978298" y="1943100"/>
            <a:ext cx="3103778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3" name="Column 2 header"/>
          <p:cNvSpPr>
            <a:spLocks noGrp="1"/>
          </p:cNvSpPr>
          <p:nvPr>
            <p:ph type="body" idx="107" hasCustomPrompt="1"/>
          </p:nvPr>
        </p:nvSpPr>
        <p:spPr>
          <a:xfrm>
            <a:off x="4338218" y="2331720"/>
            <a:ext cx="3515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t>Re-borrow</a:t>
            </a:r>
          </a:p>
        </p:txBody>
      </p:sp>
      <p:sp>
        <p:nvSpPr>
          <p:cNvPr id="14" name="Column 2 text"/>
          <p:cNvSpPr>
            <a:spLocks noGrp="1"/>
          </p:cNvSpPr>
          <p:nvPr>
            <p:ph type="body" idx="108" hasCustomPrompt="1"/>
          </p:nvPr>
        </p:nvSpPr>
        <p:spPr>
          <a:xfrm>
            <a:off x="4338218" y="3017520"/>
            <a:ext cx="351525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New swap at today's spot and points</a:t>
            </a:r>
          </a:p>
          <a:p>
            <a:pPr lvl="1"/>
            <a:r>
              <a:t>Or repo, deposits, CP, central bank</a:t>
            </a:r>
          </a:p>
        </p:txBody>
      </p:sp>
      <p:sp>
        <p:nvSpPr>
          <p:cNvPr id="15" name="Example panel 2"/>
          <p:cNvSpPr/>
          <p:nvPr/>
        </p:nvSpPr>
        <p:spPr>
          <a:xfrm>
            <a:off x="4338218" y="4206240"/>
            <a:ext cx="3515258" cy="14630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21098" y="4370832"/>
            <a:ext cx="31494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COST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521098" y="4645152"/>
            <a:ext cx="31494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Each 100bp of basis ≈ $0.25m per quarter on $100m</a:t>
            </a:r>
            <a:endParaRPr lang="en-US" sz="1400" dirty="0"/>
          </a:p>
        </p:txBody>
      </p:sp>
      <p:sp>
        <p:nvSpPr>
          <p:cNvPr id="18" name="Column 3 marker"/>
          <p:cNvSpPr>
            <a:spLocks noGrp="1"/>
          </p:cNvSpPr>
          <p:nvPr>
            <p:ph type="body" idx="109" hasCustomPrompt="1"/>
          </p:nvPr>
        </p:nvSpPr>
        <p:spPr>
          <a:xfrm>
            <a:off x="8219237" y="1691640"/>
            <a:ext cx="502920" cy="502920"/>
          </a:xfrm>
          <a:solidFill>
            <a:schemeClr val="accent1"/>
          </a:solidFill>
        </p:spPr>
        <p:txBody>
          <a:bodyPr wrap="square" lIns="0" tIns="0" rIns="0" bIns="0" rtlCol="0" anchor="ctr"/>
          <a:lstStyle/>
          <a:p>
            <a:r>
              <a:t>3</a:t>
            </a:r>
          </a:p>
        </p:txBody>
      </p:sp>
      <p:sp>
        <p:nvSpPr>
          <p:cNvPr id="19" name="Column 3 header"/>
          <p:cNvSpPr>
            <a:spLocks noGrp="1"/>
          </p:cNvSpPr>
          <p:nvPr>
            <p:ph type="body" idx="110" hasCustomPrompt="1"/>
          </p:nvPr>
        </p:nvSpPr>
        <p:spPr>
          <a:xfrm>
            <a:off x="8219237" y="2331720"/>
            <a:ext cx="3515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t>Not at the old rate</a:t>
            </a:r>
          </a:p>
        </p:txBody>
      </p:sp>
      <p:sp>
        <p:nvSpPr>
          <p:cNvPr id="20" name="Column 3 text"/>
          <p:cNvSpPr>
            <a:spLocks noGrp="1"/>
          </p:cNvSpPr>
          <p:nvPr>
            <p:ph type="body" idx="111" hasCustomPrompt="1"/>
          </p:nvPr>
        </p:nvSpPr>
        <p:spPr>
          <a:xfrm>
            <a:off x="8219237" y="3017520"/>
            <a:ext cx="351525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Historical-rate rolls hide losses</a:t>
            </a:r>
          </a:p>
          <a:p>
            <a:pPr lvl="1"/>
            <a:r>
              <a:t>They embed an off-book loan</a:t>
            </a:r>
          </a:p>
        </p:txBody>
      </p:sp>
      <p:sp>
        <p:nvSpPr>
          <p:cNvPr id="21" name="Example panel 3"/>
          <p:cNvSpPr/>
          <p:nvPr/>
        </p:nvSpPr>
        <p:spPr>
          <a:xfrm>
            <a:off x="8219237" y="4206240"/>
            <a:ext cx="3515258" cy="14630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402117" y="4370832"/>
            <a:ext cx="31494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GOOD PRACTICE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402117" y="4645152"/>
            <a:ext cx="31494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NY Fed FX Committee: avoid absent compelling reason</a:t>
            </a:r>
            <a:endParaRPr lang="en-US" sz="1400" dirty="0"/>
          </a:p>
        </p:txBody>
      </p:sp>
      <p:sp>
        <p:nvSpPr>
          <p:cNvPr id="24" name="Source and notes"/>
          <p:cNvSpPr>
            <a:spLocks noGrp="1"/>
          </p:cNvSpPr>
          <p:nvPr>
            <p:ph type="body" idx="112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t>Source: Federal Reserve Bank of New York, Foreign Exchange Committee (1991); BIS; team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Policy response</a:t>
            </a:r>
          </a:p>
        </p:txBody>
      </p:sp>
      <p:sp>
        <p:nvSpPr>
          <p:cNvPr id="3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The Fed rebuilt the dollar backstop within three weeks</a:t>
            </a:r>
          </a:p>
        </p:txBody>
      </p:sp>
      <p:sp>
        <p:nvSpPr>
          <p:cNvPr id="4" name="Source and notes"/>
          <p:cNvSpPr>
            <a:spLocks noGrp="1"/>
          </p:cNvSpPr>
          <p:nvPr>
            <p:ph type="body" idx="103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t>Source: Federal Reserve press releases (15, 19, 20, 31 Mar 2020; 28 Jul 2021); FRED (SWPT); Japan MOF (3 Aug 2026)</a:t>
            </a:r>
          </a:p>
        </p:txBody>
      </p:sp>
      <p:cxnSp>
        <p:nvCxnSpPr>
          <p:cNvPr id="5" name="Timeline line"/>
          <p:cNvCxnSpPr/>
          <p:nvPr/>
        </p:nvCxnSpPr>
        <p:spPr>
          <a:xfrm>
            <a:off x="457200" y="1920240"/>
            <a:ext cx="11274552" cy="0"/>
          </a:xfrm>
          <a:prstGeom prst="line">
            <a:avLst/>
          </a:prstGeom>
          <a:ln w="19050">
            <a:solidFill>
              <a:schemeClr val="accent6"/>
            </a:solidFill>
          </a:ln>
        </p:spPr>
      </p:cxnSp>
      <p:sp>
        <p:nvSpPr>
          <p:cNvPr id="6" name="Event 1 dot"/>
          <p:cNvSpPr/>
          <p:nvPr/>
        </p:nvSpPr>
        <p:spPr>
          <a:xfrm>
            <a:off x="457200" y="1837944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7" name="Event 1 date"/>
          <p:cNvSpPr txBox="1"/>
          <p:nvPr/>
        </p:nvSpPr>
        <p:spPr>
          <a:xfrm>
            <a:off x="457200" y="2103120"/>
            <a:ext cx="16962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chemeClr val="accent1"/>
                </a:solidFill>
              </a:rPr>
              <a:t>15 Mar 2020</a:t>
            </a:r>
          </a:p>
        </p:txBody>
      </p:sp>
      <p:sp>
        <p:nvSpPr>
          <p:cNvPr id="8" name="Event 1 text"/>
          <p:cNvSpPr txBox="1"/>
          <p:nvPr/>
        </p:nvSpPr>
        <p:spPr>
          <a:xfrm>
            <a:off x="457200" y="2377440"/>
            <a:ext cx="16962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chemeClr val="tx1"/>
                </a:solidFill>
              </a:rPr>
              <a:t>Five standing lines: cheaper, longer</a:t>
            </a:r>
          </a:p>
        </p:txBody>
      </p:sp>
      <p:sp>
        <p:nvSpPr>
          <p:cNvPr id="9" name="Event 2 dot"/>
          <p:cNvSpPr/>
          <p:nvPr/>
        </p:nvSpPr>
        <p:spPr>
          <a:xfrm>
            <a:off x="2336292" y="1837944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0" name="Event 2 date"/>
          <p:cNvSpPr txBox="1"/>
          <p:nvPr/>
        </p:nvSpPr>
        <p:spPr>
          <a:xfrm>
            <a:off x="2336292" y="2103120"/>
            <a:ext cx="16962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chemeClr val="accent1"/>
                </a:solidFill>
              </a:rPr>
              <a:t>19 Mar</a:t>
            </a:r>
          </a:p>
        </p:txBody>
      </p:sp>
      <p:sp>
        <p:nvSpPr>
          <p:cNvPr id="11" name="Event 2 text"/>
          <p:cNvSpPr txBox="1"/>
          <p:nvPr/>
        </p:nvSpPr>
        <p:spPr>
          <a:xfrm>
            <a:off x="2336292" y="2377440"/>
            <a:ext cx="16962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chemeClr val="tx1"/>
                </a:solidFill>
              </a:rPr>
              <a:t>Nine temporary lines, $450bn in total</a:t>
            </a:r>
          </a:p>
        </p:txBody>
      </p:sp>
      <p:sp>
        <p:nvSpPr>
          <p:cNvPr id="12" name="Event 3 dot"/>
          <p:cNvSpPr/>
          <p:nvPr/>
        </p:nvSpPr>
        <p:spPr>
          <a:xfrm>
            <a:off x="4215384" y="1837944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3" name="Event 3 date"/>
          <p:cNvSpPr txBox="1"/>
          <p:nvPr/>
        </p:nvSpPr>
        <p:spPr>
          <a:xfrm>
            <a:off x="4215384" y="2103120"/>
            <a:ext cx="16962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chemeClr val="accent1"/>
                </a:solidFill>
              </a:rPr>
              <a:t>20 Mar</a:t>
            </a:r>
          </a:p>
        </p:txBody>
      </p:sp>
      <p:sp>
        <p:nvSpPr>
          <p:cNvPr id="14" name="Event 3 text"/>
          <p:cNvSpPr txBox="1"/>
          <p:nvPr/>
        </p:nvSpPr>
        <p:spPr>
          <a:xfrm>
            <a:off x="4215384" y="2377440"/>
            <a:ext cx="16962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chemeClr val="tx1"/>
                </a:solidFill>
              </a:rPr>
              <a:t>7-day operations daily from 23 Mar</a:t>
            </a:r>
          </a:p>
        </p:txBody>
      </p:sp>
      <p:sp>
        <p:nvSpPr>
          <p:cNvPr id="15" name="Event 4 dot"/>
          <p:cNvSpPr/>
          <p:nvPr/>
        </p:nvSpPr>
        <p:spPr>
          <a:xfrm>
            <a:off x="6094476" y="1837944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6" name="Event 4 date"/>
          <p:cNvSpPr txBox="1"/>
          <p:nvPr/>
        </p:nvSpPr>
        <p:spPr>
          <a:xfrm>
            <a:off x="6094476" y="2103120"/>
            <a:ext cx="16962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chemeClr val="accent1"/>
                </a:solidFill>
              </a:rPr>
              <a:t>31 Mar</a:t>
            </a:r>
          </a:p>
        </p:txBody>
      </p:sp>
      <p:sp>
        <p:nvSpPr>
          <p:cNvPr id="17" name="Event 4 text"/>
          <p:cNvSpPr txBox="1"/>
          <p:nvPr/>
        </p:nvSpPr>
        <p:spPr>
          <a:xfrm>
            <a:off x="6094476" y="2377440"/>
            <a:ext cx="16962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chemeClr val="tx1"/>
                </a:solidFill>
              </a:rPr>
              <a:t>FIMA repo: dollars against Treasuries</a:t>
            </a:r>
          </a:p>
        </p:txBody>
      </p:sp>
      <p:sp>
        <p:nvSpPr>
          <p:cNvPr id="18" name="Event 5 dot"/>
          <p:cNvSpPr/>
          <p:nvPr/>
        </p:nvSpPr>
        <p:spPr>
          <a:xfrm>
            <a:off x="7973568" y="1837944"/>
            <a:ext cx="164592" cy="16459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9" name="Event 5 date"/>
          <p:cNvSpPr txBox="1"/>
          <p:nvPr/>
        </p:nvSpPr>
        <p:spPr>
          <a:xfrm>
            <a:off x="7973568" y="2103120"/>
            <a:ext cx="16962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chemeClr val="tx1"/>
                </a:solidFill>
              </a:rPr>
              <a:t>28 Jul 2021</a:t>
            </a:r>
          </a:p>
        </p:txBody>
      </p:sp>
      <p:sp>
        <p:nvSpPr>
          <p:cNvPr id="20" name="Event 5 text"/>
          <p:cNvSpPr txBox="1"/>
          <p:nvPr/>
        </p:nvSpPr>
        <p:spPr>
          <a:xfrm>
            <a:off x="7973568" y="2377440"/>
            <a:ext cx="16962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chemeClr val="tx1"/>
                </a:solidFill>
              </a:rPr>
              <a:t>FIMA repo made standing</a:t>
            </a:r>
          </a:p>
        </p:txBody>
      </p:sp>
      <p:sp>
        <p:nvSpPr>
          <p:cNvPr id="21" name="Event 6 dot"/>
          <p:cNvSpPr/>
          <p:nvPr/>
        </p:nvSpPr>
        <p:spPr>
          <a:xfrm>
            <a:off x="9852660" y="1837944"/>
            <a:ext cx="164592" cy="16459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22" name="Event 6 date"/>
          <p:cNvSpPr txBox="1"/>
          <p:nvPr/>
        </p:nvSpPr>
        <p:spPr>
          <a:xfrm>
            <a:off x="9852660" y="2103120"/>
            <a:ext cx="16962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chemeClr val="tx1"/>
                </a:solidFill>
              </a:rPr>
              <a:t>Aug 2026</a:t>
            </a:r>
          </a:p>
        </p:txBody>
      </p:sp>
      <p:sp>
        <p:nvSpPr>
          <p:cNvPr id="23" name="Event 6 text"/>
          <p:cNvSpPr txBox="1"/>
          <p:nvPr/>
        </p:nvSpPr>
        <p:spPr>
          <a:xfrm>
            <a:off x="9852660" y="2377440"/>
            <a:ext cx="16962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chemeClr val="tx1"/>
                </a:solidFill>
              </a:rPr>
              <a:t>Japan plans to use FIMA repo</a:t>
            </a:r>
          </a:p>
        </p:txBody>
      </p:sp>
      <p:sp>
        <p:nvSpPr>
          <p:cNvPr id="24" name="Fed 1 panel"/>
          <p:cNvSpPr/>
          <p:nvPr/>
        </p:nvSpPr>
        <p:spPr>
          <a:xfrm>
            <a:off x="457200" y="3520440"/>
            <a:ext cx="3575304" cy="21031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25" name="Fed 1 value"/>
          <p:cNvSpPr txBox="1"/>
          <p:nvPr/>
        </p:nvSpPr>
        <p:spPr>
          <a:xfrm>
            <a:off x="658368" y="3657600"/>
            <a:ext cx="3172968" cy="685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0">
                <a:solidFill>
                  <a:schemeClr val="accent1"/>
                </a:solidFill>
                <a:latin typeface="+mj-lt"/>
              </a:rPr>
              <a:t>14</a:t>
            </a:r>
          </a:p>
        </p:txBody>
      </p:sp>
      <p:sp>
        <p:nvSpPr>
          <p:cNvPr id="26" name="Fed 1 label"/>
          <p:cNvSpPr txBox="1"/>
          <p:nvPr/>
        </p:nvSpPr>
        <p:spPr>
          <a:xfrm>
            <a:off x="658368" y="4434840"/>
            <a:ext cx="3172968" cy="1097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chemeClr val="tx1"/>
                </a:solidFill>
              </a:rPr>
              <a:t>Central banks with Fed lines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chemeClr val="tx2"/>
                </a:solidFill>
              </a:rPr>
              <a:t>5 standing + 9 temporary</a:t>
            </a:r>
          </a:p>
        </p:txBody>
      </p:sp>
      <p:sp>
        <p:nvSpPr>
          <p:cNvPr id="27" name="Fed 2 panel"/>
          <p:cNvSpPr/>
          <p:nvPr/>
        </p:nvSpPr>
        <p:spPr>
          <a:xfrm>
            <a:off x="4306824" y="3520440"/>
            <a:ext cx="3575304" cy="21031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28" name="Fed 2 value"/>
          <p:cNvSpPr txBox="1"/>
          <p:nvPr/>
        </p:nvSpPr>
        <p:spPr>
          <a:xfrm>
            <a:off x="4507992" y="3657600"/>
            <a:ext cx="3172968" cy="685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0">
                <a:solidFill>
                  <a:schemeClr val="accent1"/>
                </a:solidFill>
                <a:latin typeface="+mj-lt"/>
              </a:rPr>
              <a:t>OIS + 25bp</a:t>
            </a:r>
          </a:p>
        </p:txBody>
      </p:sp>
      <p:sp>
        <p:nvSpPr>
          <p:cNvPr id="29" name="Fed 2 label"/>
          <p:cNvSpPr txBox="1"/>
          <p:nvPr/>
        </p:nvSpPr>
        <p:spPr>
          <a:xfrm>
            <a:off x="4507992" y="4434840"/>
            <a:ext cx="3172968" cy="1097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chemeClr val="tx1"/>
                </a:solidFill>
              </a:rPr>
              <a:t>Swap line price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chemeClr val="tx2"/>
                </a:solidFill>
              </a:rPr>
              <a:t>Cut from OIS + 50bp</a:t>
            </a:r>
          </a:p>
        </p:txBody>
      </p:sp>
      <p:sp>
        <p:nvSpPr>
          <p:cNvPr id="30" name="Fed 3 panel"/>
          <p:cNvSpPr/>
          <p:nvPr/>
        </p:nvSpPr>
        <p:spPr>
          <a:xfrm>
            <a:off x="8156448" y="3520440"/>
            <a:ext cx="3575304" cy="21031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31" name="Fed 3 value"/>
          <p:cNvSpPr txBox="1"/>
          <p:nvPr/>
        </p:nvSpPr>
        <p:spPr>
          <a:xfrm>
            <a:off x="8357616" y="3657600"/>
            <a:ext cx="3172968" cy="685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0">
                <a:solidFill>
                  <a:schemeClr val="accent1"/>
                </a:solidFill>
                <a:latin typeface="+mj-lt"/>
              </a:rPr>
              <a:t>$449bn</a:t>
            </a:r>
          </a:p>
        </p:txBody>
      </p:sp>
      <p:sp>
        <p:nvSpPr>
          <p:cNvPr id="32" name="Fed 3 label"/>
          <p:cNvSpPr txBox="1"/>
          <p:nvPr/>
        </p:nvSpPr>
        <p:spPr>
          <a:xfrm>
            <a:off x="8357616" y="4434840"/>
            <a:ext cx="3172968" cy="1097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chemeClr val="tx1"/>
                </a:solidFill>
              </a:rPr>
              <a:t>Peak use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chemeClr val="tx2"/>
                </a:solidFill>
              </a:rPr>
              <a:t>27 May 2020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Policy response</a:t>
            </a:r>
          </a:p>
        </p:txBody>
      </p:sp>
      <p:sp>
        <p:nvSpPr>
          <p:cNvPr id="3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Swap lines move dollars through central banks, keeping credit risk local</a:t>
            </a:r>
          </a:p>
        </p:txBody>
      </p:sp>
      <p:sp>
        <p:nvSpPr>
          <p:cNvPr id="4" name="Source and notes"/>
          <p:cNvSpPr>
            <a:spLocks noGrp="1"/>
          </p:cNvSpPr>
          <p:nvPr>
            <p:ph type="body" idx="103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t>Source: Federal Reserve, "Central bank liquidity swaps"; press release of 20 Mar 2020</a:t>
            </a:r>
          </a:p>
        </p:txBody>
      </p:sp>
      <p:sp>
        <p:nvSpPr>
          <p:cNvPr id="5" name="Flow Federal Reserve"/>
          <p:cNvSpPr/>
          <p:nvPr/>
        </p:nvSpPr>
        <p:spPr>
          <a:xfrm>
            <a:off x="457200" y="2011680"/>
            <a:ext cx="3136392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chemeClr val="bg1"/>
                </a:solidFill>
              </a:rPr>
              <a:t>Federal Reserve</a:t>
            </a:r>
          </a:p>
        </p:txBody>
      </p:sp>
      <p:sp>
        <p:nvSpPr>
          <p:cNvPr id="6" name="Flow Foreign central bank"/>
          <p:cNvSpPr/>
          <p:nvPr/>
        </p:nvSpPr>
        <p:spPr>
          <a:xfrm>
            <a:off x="4526280" y="2011680"/>
            <a:ext cx="3136392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chemeClr val="bg1"/>
                </a:solidFill>
              </a:rPr>
              <a:t>Foreign central bank</a:t>
            </a:r>
          </a:p>
        </p:txBody>
      </p:sp>
      <p:sp>
        <p:nvSpPr>
          <p:cNvPr id="7" name="Flow Local banks"/>
          <p:cNvSpPr/>
          <p:nvPr/>
        </p:nvSpPr>
        <p:spPr>
          <a:xfrm>
            <a:off x="8595360" y="2011680"/>
            <a:ext cx="3136392" cy="9144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chemeClr val="tx1"/>
                </a:solidFill>
              </a:rPr>
              <a:t>Local banks</a:t>
            </a:r>
          </a:p>
        </p:txBody>
      </p:sp>
      <p:cxnSp>
        <p:nvCxnSpPr>
          <p:cNvPr id="8" name="Flow out 1"/>
          <p:cNvCxnSpPr/>
          <p:nvPr/>
        </p:nvCxnSpPr>
        <p:spPr>
          <a:xfrm>
            <a:off x="3666744" y="2304288"/>
            <a:ext cx="786384" cy="0"/>
          </a:xfrm>
          <a:prstGeom prst="line">
            <a:avLst/>
          </a:prstGeom>
          <a:ln w="19050">
            <a:solidFill>
              <a:schemeClr val="accent1"/>
            </a:solidFill>
            <a:tailEnd type="triangle" w="med" len="med"/>
          </a:ln>
        </p:spPr>
      </p:cxnSp>
      <p:cxnSp>
        <p:nvCxnSpPr>
          <p:cNvPr id="9" name="Flow back 1"/>
          <p:cNvCxnSpPr/>
          <p:nvPr/>
        </p:nvCxnSpPr>
        <p:spPr>
          <a:xfrm flipH="1">
            <a:off x="3666744" y="2633472"/>
            <a:ext cx="786384" cy="0"/>
          </a:xfrm>
          <a:prstGeom prst="line">
            <a:avLst/>
          </a:prstGeom>
          <a:ln w="19050">
            <a:solidFill>
              <a:schemeClr val="accent5"/>
            </a:solidFill>
            <a:tailEnd type="triangle" w="med" len="med"/>
          </a:ln>
        </p:spPr>
      </p:cxnSp>
      <p:cxnSp>
        <p:nvCxnSpPr>
          <p:cNvPr id="10" name="Flow out 2"/>
          <p:cNvCxnSpPr/>
          <p:nvPr/>
        </p:nvCxnSpPr>
        <p:spPr>
          <a:xfrm>
            <a:off x="7735824" y="2304288"/>
            <a:ext cx="786384" cy="0"/>
          </a:xfrm>
          <a:prstGeom prst="line">
            <a:avLst/>
          </a:prstGeom>
          <a:ln w="19050">
            <a:solidFill>
              <a:schemeClr val="accent1"/>
            </a:solidFill>
            <a:tailEnd type="triangle" w="med" len="med"/>
          </a:ln>
        </p:spPr>
      </p:cxnSp>
      <p:cxnSp>
        <p:nvCxnSpPr>
          <p:cNvPr id="11" name="Flow back 2"/>
          <p:cNvCxnSpPr/>
          <p:nvPr/>
        </p:nvCxnSpPr>
        <p:spPr>
          <a:xfrm flipH="1">
            <a:off x="7735824" y="2633472"/>
            <a:ext cx="786384" cy="0"/>
          </a:xfrm>
          <a:prstGeom prst="line">
            <a:avLst/>
          </a:prstGeom>
          <a:ln w="19050">
            <a:solidFill>
              <a:schemeClr val="accent5"/>
            </a:solidFill>
            <a:tailEnd type="triangle" w="med" len="med"/>
          </a:ln>
        </p:spPr>
      </p:cxnSp>
      <p:sp>
        <p:nvSpPr>
          <p:cNvPr id="12" name="Lab A"/>
          <p:cNvSpPr txBox="1"/>
          <p:nvPr/>
        </p:nvSpPr>
        <p:spPr>
          <a:xfrm>
            <a:off x="457200" y="3154680"/>
            <a:ext cx="3136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chemeClr val="accent1"/>
                </a:solidFill>
              </a:rPr>
              <a:t>Dollars out</a:t>
            </a:r>
          </a:p>
        </p:txBody>
      </p:sp>
      <p:sp>
        <p:nvSpPr>
          <p:cNvPr id="13" name="Lab A text"/>
          <p:cNvSpPr txBox="1"/>
          <p:nvPr/>
        </p:nvSpPr>
        <p:spPr>
          <a:xfrm>
            <a:off x="457200" y="3429000"/>
            <a:ext cx="31363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chemeClr val="tx1"/>
                </a:solidFill>
              </a:rPr>
              <a:t>Against local currency at market rate</a:t>
            </a:r>
          </a:p>
        </p:txBody>
      </p:sp>
      <p:sp>
        <p:nvSpPr>
          <p:cNvPr id="14" name="Lab B"/>
          <p:cNvSpPr txBox="1"/>
          <p:nvPr/>
        </p:nvSpPr>
        <p:spPr>
          <a:xfrm>
            <a:off x="4526280" y="3154680"/>
            <a:ext cx="3136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chemeClr val="accent1"/>
                </a:solidFill>
              </a:rPr>
              <a:t>Lends on</a:t>
            </a:r>
          </a:p>
        </p:txBody>
      </p:sp>
      <p:sp>
        <p:nvSpPr>
          <p:cNvPr id="15" name="Lab B text"/>
          <p:cNvSpPr txBox="1"/>
          <p:nvPr/>
        </p:nvSpPr>
        <p:spPr>
          <a:xfrm>
            <a:off x="4526280" y="3429000"/>
            <a:ext cx="31363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chemeClr val="tx1"/>
                </a:solidFill>
              </a:rPr>
              <a:t>7-day daily, 84-day weekly auctions</a:t>
            </a:r>
          </a:p>
        </p:txBody>
      </p:sp>
      <p:sp>
        <p:nvSpPr>
          <p:cNvPr id="16" name="Lab C"/>
          <p:cNvSpPr txBox="1"/>
          <p:nvPr/>
        </p:nvSpPr>
        <p:spPr>
          <a:xfrm>
            <a:off x="8595360" y="3154680"/>
            <a:ext cx="3136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chemeClr val="accent1"/>
                </a:solidFill>
              </a:rPr>
              <a:t>Funds dollar books</a:t>
            </a:r>
          </a:p>
        </p:txBody>
      </p:sp>
      <p:sp>
        <p:nvSpPr>
          <p:cNvPr id="17" name="Lab C text"/>
          <p:cNvSpPr txBox="1"/>
          <p:nvPr/>
        </p:nvSpPr>
        <p:spPr>
          <a:xfrm>
            <a:off x="8595360" y="3429000"/>
            <a:ext cx="31363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chemeClr val="tx1"/>
                </a:solidFill>
              </a:rPr>
              <a:t>Instead of a dried-up swap market</a:t>
            </a:r>
          </a:p>
        </p:txBody>
      </p:sp>
      <p:sp>
        <p:nvSpPr>
          <p:cNvPr id="18" name="Fact 1 panel"/>
          <p:cNvSpPr/>
          <p:nvPr/>
        </p:nvSpPr>
        <p:spPr>
          <a:xfrm>
            <a:off x="457200" y="4343400"/>
            <a:ext cx="3575304" cy="1371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9" name="Fact 1 text"/>
          <p:cNvSpPr txBox="1"/>
          <p:nvPr/>
        </p:nvSpPr>
        <p:spPr>
          <a:xfrm>
            <a:off x="685800" y="4434840"/>
            <a:ext cx="311810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chemeClr val="tx1"/>
                </a:solidFill>
              </a:rPr>
              <a:t>No FX risk for the Fed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chemeClr val="tx2"/>
                </a:solidFill>
              </a:rPr>
              <a:t>Unwinds at the same exchange rate</a:t>
            </a:r>
          </a:p>
        </p:txBody>
      </p:sp>
      <p:sp>
        <p:nvSpPr>
          <p:cNvPr id="20" name="Fact 2 panel"/>
          <p:cNvSpPr/>
          <p:nvPr/>
        </p:nvSpPr>
        <p:spPr>
          <a:xfrm>
            <a:off x="4306824" y="4343400"/>
            <a:ext cx="3575304" cy="1371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21" name="Fact 2 text"/>
          <p:cNvSpPr txBox="1"/>
          <p:nvPr/>
        </p:nvSpPr>
        <p:spPr>
          <a:xfrm>
            <a:off x="4535424" y="4434840"/>
            <a:ext cx="311810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chemeClr val="tx1"/>
                </a:solidFill>
              </a:rPr>
              <a:t>No bank credit risk for the Fed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chemeClr val="tx2"/>
                </a:solidFill>
              </a:rPr>
              <a:t>Foreign central bank bears it</a:t>
            </a:r>
          </a:p>
        </p:txBody>
      </p:sp>
      <p:sp>
        <p:nvSpPr>
          <p:cNvPr id="22" name="Fact 3 panel"/>
          <p:cNvSpPr/>
          <p:nvPr/>
        </p:nvSpPr>
        <p:spPr>
          <a:xfrm>
            <a:off x="8156448" y="4343400"/>
            <a:ext cx="3575304" cy="1371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23" name="Fact 3 text"/>
          <p:cNvSpPr txBox="1"/>
          <p:nvPr/>
        </p:nvSpPr>
        <p:spPr>
          <a:xfrm>
            <a:off x="8385048" y="4434840"/>
            <a:ext cx="311810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chemeClr val="tx1"/>
                </a:solidFill>
              </a:rPr>
              <a:t>Priced as a backstop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chemeClr val="tx2"/>
                </a:solidFill>
              </a:rPr>
              <a:t>OIS + 25bp, above normal market rates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Policy response</a:t>
            </a:r>
          </a:p>
        </p:txBody>
      </p:sp>
      <p:sp>
        <p:nvSpPr>
          <p:cNvPr id="4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Take-up hit $449bn in ten weeks, then faded as markets healed</a:t>
            </a:r>
          </a:p>
        </p:txBody>
      </p:sp>
      <p:sp>
        <p:nvSpPr>
          <p:cNvPr id="5" name="Exhibit header"/>
          <p:cNvSpPr>
            <a:spLocks noGrp="1"/>
          </p:cNvSpPr>
          <p:nvPr>
            <p:ph type="body" idx="103" hasCustomPrompt="1"/>
          </p:nvPr>
        </p:nvSpPr>
        <p:spPr>
          <a:xfrm>
            <a:off x="457200" y="16916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Fed central bank liquidity swaps outstanding</a:t>
            </a:r>
          </a:p>
        </p:txBody>
      </p:sp>
      <p:sp>
        <p:nvSpPr>
          <p:cNvPr id="6" name="Unit of measure"/>
          <p:cNvSpPr>
            <a:spLocks noGrp="1"/>
          </p:cNvSpPr>
          <p:nvPr>
            <p:ph type="body" idx="104" hasCustomPrompt="1"/>
          </p:nvPr>
        </p:nvSpPr>
        <p:spPr>
          <a:xfrm>
            <a:off x="457200" y="1984248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$bn, last Wednesday of each month, 2020</a:t>
            </a:r>
          </a:p>
        </p:txBody>
      </p:sp>
      <p:graphicFrame>
        <p:nvGraphicFramePr>
          <p:cNvPr id="7" name="Chart"/>
          <p:cNvGraphicFramePr>
            <a:graphicFrameLocks noGrp="1"/>
          </p:cNvGraphicFramePr>
          <p:nvPr>
            <p:ph type="chart" idx="105" hasCustomPrompt="1"/>
          </p:nvPr>
        </p:nvGraphicFramePr>
        <p:xfrm>
          <a:off x="457200" y="2331720"/>
          <a:ext cx="74980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akeaways header"/>
          <p:cNvSpPr>
            <a:spLocks noGrp="1"/>
          </p:cNvSpPr>
          <p:nvPr>
            <p:ph type="body" idx="107" hasCustomPrompt="1"/>
          </p:nvPr>
        </p:nvSpPr>
        <p:spPr>
          <a:xfrm>
            <a:off x="8534095" y="19202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Takeaways</a:t>
            </a:r>
          </a:p>
        </p:txBody>
      </p:sp>
      <p:sp>
        <p:nvSpPr>
          <p:cNvPr id="9" name="Takeaways text"/>
          <p:cNvSpPr>
            <a:spLocks noGrp="1"/>
          </p:cNvSpPr>
          <p:nvPr>
            <p:ph type="body" idx="108" hasCustomPrompt="1"/>
          </p:nvPr>
        </p:nvSpPr>
        <p:spPr>
          <a:xfrm>
            <a:off x="8534095" y="2377440"/>
            <a:ext cx="2971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/>
            <a:r>
              <a:t>$0 to $206bn in one week (18–25 Mar)</a:t>
            </a:r>
          </a:p>
          <a:p>
            <a:pPr lvl="1"/>
            <a:r>
              <a:t>Bank of Japan the largest user: ~$226bn at peak</a:t>
            </a:r>
          </a:p>
          <a:p>
            <a:pPr lvl="1"/>
            <a:r>
              <a:t>Below $10bn by mid-October</a:t>
            </a:r>
          </a:p>
          <a:p>
            <a:pPr lvl="1"/>
            <a:r>
              <a:t>2008 peak: $554bn</a:t>
            </a:r>
          </a:p>
        </p:txBody>
      </p:sp>
      <p:sp>
        <p:nvSpPr>
          <p:cNvPr id="10" name="Source and notes"/>
          <p:cNvSpPr>
            <a:spLocks noGrp="1"/>
          </p:cNvSpPr>
          <p:nvPr>
            <p:ph type="body" idx="109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t>Source: Federal Reserve via FRED (SWPT, weekly); Exante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Policy response</a:t>
            </a:r>
          </a:p>
        </p:txBody>
      </p:sp>
      <p:sp>
        <p:nvSpPr>
          <p:cNvPr id="4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Swap lines backstop the system; commercial FX swaps fund the bank</a:t>
            </a:r>
          </a:p>
        </p:txBody>
      </p:sp>
      <p:sp>
        <p:nvSpPr>
          <p:cNvPr id="5" name="Exhibit header"/>
          <p:cNvSpPr>
            <a:spLocks noGrp="1"/>
          </p:cNvSpPr>
          <p:nvPr>
            <p:ph type="body" idx="103" hasCustomPrompt="1"/>
          </p:nvPr>
        </p:nvSpPr>
        <p:spPr>
          <a:xfrm>
            <a:off x="457200" y="16916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Fed swap line vs bank FX swap</a:t>
            </a:r>
          </a:p>
        </p:txBody>
      </p:sp>
      <p:sp>
        <p:nvSpPr>
          <p:cNvPr id="6" name="Unit of measure"/>
          <p:cNvSpPr>
            <a:spLocks noGrp="1"/>
          </p:cNvSpPr>
          <p:nvPr>
            <p:ph type="body" idx="104" hasCustomPrompt="1"/>
          </p:nvPr>
        </p:nvSpPr>
        <p:spPr>
          <a:xfrm>
            <a:off x="457200" y="1984248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Key differences</a:t>
            </a:r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11277295" cy="2788920"/>
        </p:xfrm>
        <a:graphic>
          <a:graphicData uri="http://schemas.openxmlformats.org/drawingml/2006/table">
            <a:tbl>
              <a:tblPr/>
              <a:tblGrid>
                <a:gridCol w="1920240"/>
                <a:gridCol w="4678527"/>
                <a:gridCol w="4678528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51C2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Fed swap line</a:t>
                      </a: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51C2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Bank FX swap</a:t>
                      </a: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51C2C"/>
                      </a:solidFill>
                      <a:prstDash val="soli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Purpose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Ease dollar shortages abroad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Fund, hedge or serve clients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Counterparties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Fed and a foreign central bank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Bank and dealer or client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Onward lending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Central bank lends to its banks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None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Exchange rate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Unwinds at the same rate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Far leg at forward rate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Price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OIS + 25bp, set by policy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Market: rate gap + basis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Credit risk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Central bank; bank risk stays local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Counterparty limits and collateral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In stress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  <a:solidFill>
                      <a:srgbClr val="E6EC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Expands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  <a:solidFill>
                      <a:srgbClr val="E6EC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Shrinks: fewer quotes, lower limits</a:t>
                      </a: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A"/>
                      </a:solidFill>
                      <a:prstDash val="solid"/>
                    </a:lnB>
                    <a:solidFill>
                      <a:srgbClr val="E6ECFF"/>
                    </a:solidFill>
                  </a:tcPr>
                </a:tc>
              </a:tr>
            </a:tbl>
          </a:graphicData>
        </a:graphic>
      </p:graphicFrame>
      <p:sp>
        <p:nvSpPr>
          <p:cNvPr id="8" name="Source and notes"/>
          <p:cNvSpPr>
            <a:spLocks noGrp="1"/>
          </p:cNvSpPr>
          <p:nvPr>
            <p:ph type="body" idx="106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t>Source: Federal Reserve; BIS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cker"/>
          <p:cNvSpPr>
            <a:spLocks noGrp="1"/>
          </p:cNvSpPr>
          <p:nvPr>
            <p:ph type="body" idx="100" hasCustomPrompt="1"/>
          </p:nvPr>
        </p:nvSpPr>
        <p:spPr>
          <a:xfrm>
            <a:off x="457200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Implications</a:t>
            </a:r>
          </a:p>
        </p:txBody>
      </p:sp>
      <p:sp>
        <p:nvSpPr>
          <p:cNvPr id="3" name="Action title"/>
          <p:cNvSpPr>
            <a:spLocks noGrp="1"/>
          </p:cNvSpPr>
          <p:nvPr>
            <p:ph type="title" idx="102" hasCustomPrompt="1"/>
          </p:nvPr>
        </p:nvSpPr>
        <p:spPr>
          <a:xfrm>
            <a:off x="457200" y="566928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In a dollar squeeze, watch funding first, then price, then counterparties</a:t>
            </a:r>
          </a:p>
        </p:txBody>
      </p:sp>
      <p:sp>
        <p:nvSpPr>
          <p:cNvPr id="4" name="Source and notes"/>
          <p:cNvSpPr>
            <a:spLocks noGrp="1"/>
          </p:cNvSpPr>
          <p:nvPr>
            <p:ph type="body" idx="103" hasCustomPrompt="1"/>
          </p:nvPr>
        </p:nvSpPr>
        <p:spPr>
          <a:xfrm>
            <a:off x="457200" y="60533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t>Note: Blue = priorities. Source: team analysis</a:t>
            </a:r>
          </a:p>
        </p:txBody>
      </p:sp>
      <p:sp>
        <p:nvSpPr>
          <p:cNvPr id="5" name="Card 1"/>
          <p:cNvSpPr/>
          <p:nvPr/>
        </p:nvSpPr>
        <p:spPr>
          <a:xfrm>
            <a:off x="457200" y="1691640"/>
            <a:ext cx="3575304" cy="19202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6" name="Card 1 marker"/>
          <p:cNvSpPr/>
          <p:nvPr/>
        </p:nvSpPr>
        <p:spPr>
          <a:xfrm>
            <a:off x="685800" y="1920240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7" name="Card 1 header"/>
          <p:cNvSpPr txBox="1"/>
          <p:nvPr/>
        </p:nvSpPr>
        <p:spPr>
          <a:xfrm>
            <a:off x="685800" y="2468880"/>
            <a:ext cx="31181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chemeClr val="tx1"/>
                </a:solidFill>
              </a:rPr>
              <a:t>Rollover gap</a:t>
            </a:r>
          </a:p>
        </p:txBody>
      </p:sp>
      <p:sp>
        <p:nvSpPr>
          <p:cNvPr id="8" name="Card 1 text"/>
          <p:cNvSpPr txBox="1"/>
          <p:nvPr/>
        </p:nvSpPr>
        <p:spPr>
          <a:xfrm>
            <a:off x="685800" y="2834640"/>
            <a:ext cx="31181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chemeClr val="tx2"/>
                </a:solidFill>
              </a:rPr>
              <a:t>Dollars due in 1, 7 and 30 days vs sources</a:t>
            </a:r>
          </a:p>
        </p:txBody>
      </p:sp>
      <p:sp>
        <p:nvSpPr>
          <p:cNvPr id="9" name="Card 2"/>
          <p:cNvSpPr/>
          <p:nvPr/>
        </p:nvSpPr>
        <p:spPr>
          <a:xfrm>
            <a:off x="4306824" y="1691640"/>
            <a:ext cx="3575304" cy="19202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0" name="Card 2 marker"/>
          <p:cNvSpPr/>
          <p:nvPr/>
        </p:nvSpPr>
        <p:spPr>
          <a:xfrm>
            <a:off x="4535424" y="1920240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1" name="Card 2 header"/>
          <p:cNvSpPr txBox="1"/>
          <p:nvPr/>
        </p:nvSpPr>
        <p:spPr>
          <a:xfrm>
            <a:off x="4535424" y="2468880"/>
            <a:ext cx="31181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chemeClr val="tx1"/>
                </a:solidFill>
              </a:rPr>
              <a:t>Basis cost</a:t>
            </a:r>
          </a:p>
        </p:txBody>
      </p:sp>
      <p:sp>
        <p:nvSpPr>
          <p:cNvPr id="12" name="Card 2 text"/>
          <p:cNvSpPr txBox="1"/>
          <p:nvPr/>
        </p:nvSpPr>
        <p:spPr>
          <a:xfrm>
            <a:off x="4535424" y="2834640"/>
            <a:ext cx="31181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chemeClr val="tx2"/>
                </a:solidFill>
              </a:rPr>
              <a:t>P&amp;L hit per 100bp of basis widening</a:t>
            </a:r>
          </a:p>
        </p:txBody>
      </p:sp>
      <p:sp>
        <p:nvSpPr>
          <p:cNvPr id="13" name="Card 3"/>
          <p:cNvSpPr/>
          <p:nvPr/>
        </p:nvSpPr>
        <p:spPr>
          <a:xfrm>
            <a:off x="8156448" y="1691640"/>
            <a:ext cx="3575304" cy="19202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4" name="Card 3 marker"/>
          <p:cNvSpPr/>
          <p:nvPr/>
        </p:nvSpPr>
        <p:spPr>
          <a:xfrm>
            <a:off x="8385048" y="1920240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5" name="Card 3 header"/>
          <p:cNvSpPr txBox="1"/>
          <p:nvPr/>
        </p:nvSpPr>
        <p:spPr>
          <a:xfrm>
            <a:off x="8385048" y="2468880"/>
            <a:ext cx="31181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chemeClr val="tx1"/>
                </a:solidFill>
              </a:rPr>
              <a:t>Counterparty concentration</a:t>
            </a:r>
          </a:p>
        </p:txBody>
      </p:sp>
      <p:sp>
        <p:nvSpPr>
          <p:cNvPr id="16" name="Card 3 text"/>
          <p:cNvSpPr txBox="1"/>
          <p:nvPr/>
        </p:nvSpPr>
        <p:spPr>
          <a:xfrm>
            <a:off x="8385048" y="2834640"/>
            <a:ext cx="31181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chemeClr val="tx2"/>
                </a:solidFill>
              </a:rPr>
              <a:t>Few dealers, same-day maturities</a:t>
            </a:r>
          </a:p>
        </p:txBody>
      </p:sp>
      <p:sp>
        <p:nvSpPr>
          <p:cNvPr id="17" name="Card 4"/>
          <p:cNvSpPr/>
          <p:nvPr/>
        </p:nvSpPr>
        <p:spPr>
          <a:xfrm>
            <a:off x="457200" y="3886200"/>
            <a:ext cx="3575304" cy="19202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8" name="Card 4 marker"/>
          <p:cNvSpPr/>
          <p:nvPr/>
        </p:nvSpPr>
        <p:spPr>
          <a:xfrm>
            <a:off x="685800" y="4114800"/>
            <a:ext cx="384048" cy="38404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9" name="Card 4 header"/>
          <p:cNvSpPr txBox="1"/>
          <p:nvPr/>
        </p:nvSpPr>
        <p:spPr>
          <a:xfrm>
            <a:off x="685800" y="4663440"/>
            <a:ext cx="31181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chemeClr val="tx1"/>
                </a:solidFill>
              </a:rPr>
              <a:t>Market liquidity</a:t>
            </a:r>
          </a:p>
        </p:txBody>
      </p:sp>
      <p:sp>
        <p:nvSpPr>
          <p:cNvPr id="20" name="Card 4 text"/>
          <p:cNvSpPr txBox="1"/>
          <p:nvPr/>
        </p:nvSpPr>
        <p:spPr>
          <a:xfrm>
            <a:off x="685800" y="5029200"/>
            <a:ext cx="31181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chemeClr val="tx2"/>
                </a:solidFill>
              </a:rPr>
              <a:t>Quote depth and limit cuts</a:t>
            </a:r>
          </a:p>
        </p:txBody>
      </p:sp>
      <p:sp>
        <p:nvSpPr>
          <p:cNvPr id="21" name="Card 5"/>
          <p:cNvSpPr/>
          <p:nvPr/>
        </p:nvSpPr>
        <p:spPr>
          <a:xfrm>
            <a:off x="4306824" y="3886200"/>
            <a:ext cx="3575304" cy="19202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22" name="Card 5 marker"/>
          <p:cNvSpPr/>
          <p:nvPr/>
        </p:nvSpPr>
        <p:spPr>
          <a:xfrm>
            <a:off x="4535424" y="4114800"/>
            <a:ext cx="384048" cy="38404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3" name="Card 5 header"/>
          <p:cNvSpPr txBox="1"/>
          <p:nvPr/>
        </p:nvSpPr>
        <p:spPr>
          <a:xfrm>
            <a:off x="4535424" y="4663440"/>
            <a:ext cx="31181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chemeClr val="tx1"/>
                </a:solidFill>
              </a:rPr>
              <a:t>Margin calls</a:t>
            </a:r>
          </a:p>
        </p:txBody>
      </p:sp>
      <p:sp>
        <p:nvSpPr>
          <p:cNvPr id="24" name="Card 5 text"/>
          <p:cNvSpPr txBox="1"/>
          <p:nvPr/>
        </p:nvSpPr>
        <p:spPr>
          <a:xfrm>
            <a:off x="4535424" y="5029200"/>
            <a:ext cx="31181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chemeClr val="tx2"/>
                </a:solidFill>
              </a:rPr>
              <a:t>Cash needed for swap mark-to-market</a:t>
            </a:r>
          </a:p>
        </p:txBody>
      </p:sp>
      <p:sp>
        <p:nvSpPr>
          <p:cNvPr id="25" name="Card 6"/>
          <p:cNvSpPr/>
          <p:nvPr/>
        </p:nvSpPr>
        <p:spPr>
          <a:xfrm>
            <a:off x="8156448" y="3886200"/>
            <a:ext cx="3575304" cy="19202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26" name="Card 6 marker"/>
          <p:cNvSpPr/>
          <p:nvPr/>
        </p:nvSpPr>
        <p:spPr>
          <a:xfrm>
            <a:off x="8385048" y="4114800"/>
            <a:ext cx="384048" cy="38404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27" name="Card 6 header"/>
          <p:cNvSpPr txBox="1"/>
          <p:nvPr/>
        </p:nvSpPr>
        <p:spPr>
          <a:xfrm>
            <a:off x="8385048" y="4663440"/>
            <a:ext cx="31181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chemeClr val="tx1"/>
                </a:solidFill>
              </a:rPr>
              <a:t>Contingency access</a:t>
            </a:r>
          </a:p>
        </p:txBody>
      </p:sp>
      <p:sp>
        <p:nvSpPr>
          <p:cNvPr id="28" name="Card 6 text"/>
          <p:cNvSpPr txBox="1"/>
          <p:nvPr/>
        </p:nvSpPr>
        <p:spPr>
          <a:xfrm>
            <a:off x="8385048" y="5029200"/>
            <a:ext cx="31181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chemeClr val="tx2"/>
                </a:solidFill>
              </a:rPr>
              <a:t>Collateral eligible for central bank dollar operations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>
            <a:spLocks noGrp="1"/>
          </p:cNvSpPr>
          <p:nvPr>
            <p:ph type="body" idx="100" hasCustomPrompt="1"/>
          </p:nvPr>
        </p:nvSpPr>
        <p:spPr>
          <a:xfrm>
            <a:off x="457200" y="1737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Key message</a:t>
            </a:r>
          </a:p>
        </p:txBody>
      </p:sp>
      <p:sp>
        <p:nvSpPr>
          <p:cNvPr id="3" name="Statement"/>
          <p:cNvSpPr>
            <a:spLocks noGrp="1"/>
          </p:cNvSpPr>
          <p:nvPr>
            <p:ph type="body" idx="101" hasCustomPrompt="1"/>
          </p:nvPr>
        </p:nvSpPr>
        <p:spPr>
          <a:xfrm>
            <a:off x="457200" y="219456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An FX swap is a dollar loan that must be refinanced; in a squeeze, access matters more than price</a:t>
            </a:r>
          </a:p>
        </p:txBody>
      </p:sp>
      <p:sp>
        <p:nvSpPr>
          <p:cNvPr id="4" name="Supporting line"/>
          <p:cNvSpPr>
            <a:spLocks noGrp="1"/>
          </p:cNvSpPr>
          <p:nvPr>
            <p:ph type="body" idx="102" hasCustomPrompt="1"/>
          </p:nvPr>
        </p:nvSpPr>
        <p:spPr>
          <a:xfrm>
            <a:off x="457200" y="48006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Swap lines and FIMA repo now backstop the system, but banks reach them only through their central bank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sulting Classic">
  <a:themeElements>
    <a:clrScheme name="Consulting Classic">
      <a:dk1>
        <a:srgbClr val="051C2C"/>
      </a:dk1>
      <a:lt1>
        <a:srgbClr val="FFFFFF"/>
      </a:lt1>
      <a:dk2>
        <a:srgbClr val="5B6770"/>
      </a:dk2>
      <a:lt2>
        <a:srgbClr val="F0F2F5"/>
      </a:lt2>
      <a:accent1>
        <a:srgbClr val="2251FF"/>
      </a:accent1>
      <a:accent2>
        <a:srgbClr val="051C2C"/>
      </a:accent2>
      <a:accent3>
        <a:srgbClr val="00A9F4"/>
      </a:accent3>
      <a:accent4>
        <a:srgbClr val="AFC3FF"/>
      </a:accent4>
      <a:accent5>
        <a:srgbClr val="8A96A0"/>
      </a:accent5>
      <a:accent6>
        <a:srgbClr val="D0D5DA"/>
      </a:accent6>
      <a:hlink>
        <a:srgbClr val="2251FF"/>
      </a:hlink>
      <a:folHlink>
        <a:srgbClr val="5B6770"/>
      </a:folHlink>
    </a:clrScheme>
    <a:fontScheme name="Consulting Classic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1721</Words>
  <Application>Microsoft Office PowerPoint</Application>
  <PresentationFormat>Widescreen</PresentationFormat>
  <Paragraphs>359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Georgia</vt:lpstr>
      <vt:lpstr>Consulting Classic</vt:lpstr>
      <vt:lpstr>Consulting presentation template</vt:lpstr>
      <vt:lpstr>Contents</vt:lpstr>
      <vt:lpstr>Writing the storyline</vt:lpstr>
      <vt:lpstr>Executive summary</vt:lpstr>
      <vt:lpstr>Topic titles describe a slide; action titles tell the reader what to conclude from it</vt:lpstr>
      <vt:lpstr>Body text supports the title with evidence written in short, parallel, plain-language points</vt:lpstr>
      <vt:lpstr>Structure the storyline as situation, complication and resolution before building a single slide</vt:lpstr>
      <vt:lpstr>Building exhibits</vt:lpstr>
      <vt:lpstr>Online is expected to deliver almost two-thirds of category growth through 2030</vt:lpstr>
      <vt:lpstr>Delivery speed, not price, is the main reason customers would consider switching provider</vt:lpstr>
      <vt:lpstr>Volumes grew 18% while gross margin fell three points, so growth has not yet paid for itself</vt:lpstr>
      <vt:lpstr>Option B offers the best balance of impact, cost and risk, and is recommended for the pilot</vt:lpstr>
      <vt:lpstr>Four of the ten initiatives combine high value with high feasibility and should be launched first</vt:lpstr>
      <vt:lpstr>A three-phase plan delivers the first measurable results within 12 weeks</vt:lpstr>
      <vt:lpstr>PowerPoint Presentation</vt:lpstr>
      <vt:lpstr>Slide master and layout reference</vt:lpstr>
      <vt:lpstr>Every content slide follows the same anatomy, fixed in the slide master so nothing drifts</vt:lpstr>
      <vt:lpstr>A restrained palette and two typefaces keep the audience’s attention on the message</vt:lpstr>
      <vt:lpstr>Sixteen layouts cover every slide type a consulting deck needs; most analysis uses Title only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USD liquidity stress in 2020 and the FX swap market</dc:title>
  <dc:subject>Dollar funding stress, FX swaps and Fed swap lines</dc:subject>
  <dc:creator/>
  <cp:lastModifiedBy/>
  <cp:revision>2</cp:revision>
  <dcterms:created xsi:type="dcterms:W3CDTF">2026-10-28T02:13:16Z</dcterms:created>
  <dcterms:modified xsi:type="dcterms:W3CDTF">2026-10-29T05:30:03Z</dcterms:modified>
</cp:coreProperties>
</file>