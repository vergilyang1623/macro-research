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5"/>
    <p:sldId id="264" r:id="rId10"/>
    <p:sldId id="262" r:id="rId8"/>
    <p:sldId id="276" r:id="rId27"/>
    <p:sldId id="277" r:id="rId28"/>
    <p:sldId id="278" r:id="rId29"/>
    <p:sldId id="279" r:id="rId30"/>
    <p:sldId id="280" r:id="rId31"/>
    <p:sldId id="267" r:id="rId13"/>
    <p:sldId id="265" r:id="rId11"/>
    <p:sldId id="258" r:id="rId4"/>
    <p:sldId id="266" r:id="rId12"/>
    <p:sldId id="281" r:id="rId32"/>
    <p:sldId id="282" r:id="rId33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0815E65-6FCB-C1AC-2560-72ABDEE7E85E}">
          <p14:sldIdLst>
            <p14:sldId id="256"/>
            <p14:sldId id="259"/>
          </p14:sldIdLst>
        </p14:section>
        <p14:section name="Yen carry trade" id="{09C0099D-6792-A006-2E5F-16B4FE69538A}">
          <p14:sldIdLst>
            <p14:sldId id="264"/>
            <p14:sldId id="262"/>
            <p14:sldId id="276"/>
            <p14:sldId id="277"/>
            <p14:sldId id="278"/>
            <p14:sldId id="279"/>
            <p14:sldId id="280"/>
          </p14:sldIdLst>
        </p14:section>
        <p14:section name="Policy response" id="{900B71C3-B279-951A-6478-760614E62D27}">
          <p14:sldIdLst>
            <p14:sldId id="267"/>
            <p14:sldId id="265"/>
          </p14:sldIdLst>
        </p14:section>
        <p14:section name="Rand comparison" id="{2039D411-0FEA-991C-EA7A-91D37FF577C8}">
          <p14:sldIdLst>
            <p14:sldId id="258"/>
            <p14:sldId id="266"/>
            <p14:sldId id="281"/>
            <p14:sldId id="282"/>
          </p14:sldIdLst>
        </p14:section>
        <p14:section name="Implications" id="{6A1F3C2E-4B7D-4E8A-9C10-2D3E4F5A6B7C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12.xml"/><Relationship Id="rId5" Type="http://schemas.openxmlformats.org/officeDocument/2006/relationships/slide" Target="slides/slide2.xml"/><Relationship Id="rId8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slide" Target="slides/slide10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4.xml"/><Relationship Id="rId33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Fed funds (upper bound)</c:v>
                </c:pt>
              </c:strCache>
            </c:strRef>
          </c:tx>
          <c:spPr>
            <a:solidFill>
              <a:srgbClr val="B8C0C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51C2C"/>
                    </a:solidFill>
                    <a:latin typeface="+mn-l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Oct 2026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0.25</c:v>
                </c:pt>
                <c:pt idx="1">
                  <c:v>4.5</c:v>
                </c:pt>
                <c:pt idx="2">
                  <c:v>5.5</c:v>
                </c:pt>
                <c:pt idx="3">
                  <c:v>4.5</c:v>
                </c:pt>
                <c:pt idx="4">
                  <c:v>3.75</c:v>
                </c:pt>
                <c:pt idx="5">
                  <c:v>4.0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51-4C30-883D-F50BAA2EC8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BOJ policy rate</c:v>
                </c:pt>
              </c:strCache>
            </c:strRef>
          </c:tx>
          <c:spPr>
            <a:solidFill>
              <a:srgbClr val="2251F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51C2C"/>
                    </a:solidFill>
                    <a:latin typeface="+mn-l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Oct 2026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-0.1</c:v>
                </c:pt>
                <c:pt idx="1">
                  <c:v>-0.1</c:v>
                </c:pt>
                <c:pt idx="2">
                  <c:v>-0.1</c:v>
                </c:pt>
                <c:pt idx="3">
                  <c:v>0.25</c:v>
                </c:pt>
                <c:pt idx="4">
                  <c:v>0.75</c:v>
                </c:pt>
                <c:pt idx="5">
                  <c:v>1.25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51-4C30-883D-F50BAA2EC8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51C2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Yen bought</c:v>
                </c:pt>
              </c:strCache>
            </c:strRef>
          </c:tx>
          <c:spPr>
            <a:solidFill>
              <a:srgbClr val="2251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8C0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C0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0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51C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Sep–Oct 2022</c:v>
                </c:pt>
                <c:pt idx="1">
                  <c:v>Apr–May 2024</c:v>
                </c:pt>
                <c:pt idx="2">
                  <c:v>Jul 2024</c:v>
                </c:pt>
                <c:pt idx="3">
                  <c:v>Apr–May 2026</c:v>
                </c:pt>
                <c:pt idx="4">
                  <c:v>Jul–Aug 2026 (with US)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9.188</c:v>
                </c:pt>
                <c:pt idx="1">
                  <c:v>9.7885</c:v>
                </c:pt>
                <c:pt idx="2">
                  <c:v>5.5348</c:v>
                </c:pt>
                <c:pt idx="3">
                  <c:v>11.7349</c:v>
                </c:pt>
                <c:pt idx="4">
                  <c:v>15.3993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9F1-40C0-AEF0-0CBC8A7BD7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51C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</c:v>
                </c:pt>
              </c:strCache>
            </c:strRef>
          </c:tx>
          <c:spPr>
            <a:solidFill>
              <a:srgbClr val="B8C0C7"/>
            </a:solidFill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Lbls>
            <c:numFmt formatCode="+0;&quot;−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51C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Interest earned</c:v>
                </c:pt>
                <c:pt idx="1">
                  <c:v>FX change</c:v>
                </c:pt>
                <c:pt idx="2">
                  <c:v>Total return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30.4</c:v>
                </c:pt>
                <c:pt idx="1">
                  <c:v>-57.3</c:v>
                </c:pt>
                <c:pt idx="2">
                  <c:v>-44.4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78-4A09-B2DC-E7B20FBA21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USD/ZAR</c:v>
                </c:pt>
              </c:strCache>
            </c:strRef>
          </c:tx>
          <c:spPr>
            <a:ln w="31750" cap="flat">
              <a:solidFill>
                <a:srgbClr val="2251F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251FF"/>
              </a:solidFill>
              <a:ln w="9525" cap="flat">
                <a:solidFill>
                  <a:srgbClr val="2251F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1">
                      <a:solidFill>
                        <a:srgbClr val="051C2C"/>
                      </a:solidFill>
                      <a:latin typeface="+mn-l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1">
                      <a:solidFill>
                        <a:srgbClr val="051C2C"/>
                      </a:solidFill>
                      <a:latin typeface="+mn-l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1">
                      <a:solidFill>
                        <a:srgbClr val="051C2C"/>
                      </a:solidFill>
                      <a:latin typeface="+mn-lt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6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1">
                      <a:solidFill>
                        <a:srgbClr val="051C2C"/>
                      </a:solidFill>
                      <a:latin typeface="+mn-lt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51C2C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  <c:pt idx="7">
                  <c:v>17</c:v>
                </c:pt>
                <c:pt idx="8">
                  <c:v>18</c:v>
                </c:pt>
                <c:pt idx="9">
                  <c:v>19</c:v>
                </c:pt>
                <c:pt idx="10">
                  <c:v>20</c:v>
                </c:pt>
                <c:pt idx="11">
                  <c:v>21</c:v>
                </c:pt>
                <c:pt idx="12">
                  <c:v>22</c:v>
                </c:pt>
                <c:pt idx="13">
                  <c:v>23</c:v>
                </c:pt>
                <c:pt idx="14">
                  <c:v>24</c:v>
                </c:pt>
                <c:pt idx="15">
                  <c:v>25</c:v>
                </c:pt>
                <c:pt idx="16">
                  <c:v>26</c:v>
                </c:pt>
              </c:strCache>
            </c:strRef>
          </c:cat>
          <c:val>
            <c:numRef>
              <c:f>Sheet1!$B$2:$B$18</c:f>
              <c:numCache>
                <c:formatCode>0.0</c:formatCode>
                <c:ptCount val="17"/>
                <c:pt idx="0">
                  <c:v>6.63</c:v>
                </c:pt>
                <c:pt idx="1">
                  <c:v>8.14</c:v>
                </c:pt>
                <c:pt idx="2">
                  <c:v>8.5</c:v>
                </c:pt>
                <c:pt idx="3">
                  <c:v>10.49</c:v>
                </c:pt>
                <c:pt idx="4">
                  <c:v>11.58</c:v>
                </c:pt>
                <c:pt idx="5">
                  <c:v>15.54</c:v>
                </c:pt>
                <c:pt idx="6">
                  <c:v>13.68</c:v>
                </c:pt>
                <c:pt idx="7">
                  <c:v>12.32</c:v>
                </c:pt>
                <c:pt idx="8">
                  <c:v>14.38</c:v>
                </c:pt>
                <c:pt idx="9">
                  <c:v>14.03</c:v>
                </c:pt>
                <c:pt idx="10">
                  <c:v>14.69</c:v>
                </c:pt>
                <c:pt idx="11">
                  <c:v>15.91</c:v>
                </c:pt>
                <c:pt idx="12">
                  <c:v>16.99</c:v>
                </c:pt>
                <c:pt idx="13">
                  <c:v>18.42</c:v>
                </c:pt>
                <c:pt idx="14">
                  <c:v>18.9</c:v>
                </c:pt>
                <c:pt idx="15">
                  <c:v>16.57</c:v>
                </c:pt>
                <c:pt idx="16">
                  <c:v>16.646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C3-45CC-92B7-EE7F34E0429A}"/>
            </c:ext>
          </c:extLst>
        </c:ser>
        <c:dLbls>
          <c:dLblPos val="t"/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 rot="0" vert="horz"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126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as of 29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Weakest yen since 1986, then intervention, a BOJ hike and weak US data. Markets fell hard on 5 August and stabilised within days.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rand is the classic target currency of retail carry trades in Japan and Taiwan.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messages. The yen trade fails when the funding currency jumps; the rand trade failed when the target currency slid.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Closing positions means buying yen, which lifts the yen and volatility, which forces more closing.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Three roles: funding, liquidity management and a partial hedge. The hedge lasts only to maturity, and the forward discount equals the rate gap.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Borrow yen, convert, invest in dollars. The position is short yen: it pays only while the yen is stable or weaker.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The ¥40 trillion BIS estimate is a floor. Much of the exposure is built off balance sheet with FX swaps and forwards.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gap, not the level, drives the trade. Six BOJ hikes have narrowed it, but 2.75 points is still a strong incentive to borrow yen.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Intervention buys time. It does not change the carry incentive while the rate gap stays 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dollar investor earned about 30% in interest over five years but lost 57% on the currency. Net: down about 44%.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Different owner, goal and channel. Rates change the incentive; intervention only changes the near-term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Losses come first in FX, then in cash: margin calls, rollover strain, forced sales and limit breaches.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Priorities: yen-shock stress, concentration and rollover. The rand adds one more: judge carry net of FX.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Close: manage carry as a short-volatility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Japanese retail traders' stop-outs crashed the rand at the Tokyo open in January 2016. In Taiwan, rand-class funds remain a large retail product.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Both trades sell volatility. The yen trade blows up on a funding shock; the rand trade bleeds through the exchange rate.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otif arc outer"/>
          <p:cNvSpPr/>
          <p:nvPr userDrawn="1"/>
        </p:nvSpPr>
        <p:spPr>
          <a:xfrm>
            <a:off x="8183880" y="2788920"/>
            <a:ext cx="6400800" cy="6400800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Motif arc inner"/>
          <p:cNvSpPr/>
          <p:nvPr userDrawn="1"/>
        </p:nvSpPr>
        <p:spPr>
          <a:xfrm>
            <a:off x="9281160" y="3886200"/>
            <a:ext cx="4206240" cy="420624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03" hasCustomPrompt="1"/>
          </p:nvPr>
        </p:nvSpPr>
        <p:spPr>
          <a:xfrm>
            <a:off x="457200" y="4069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Subtitle or engagement name</a:t>
            </a:r>
            <a:endParaRPr lang="en-US" sz="1800" dirty="0"/>
          </a:p>
        </p:txBody>
      </p:sp>
      <p:sp>
        <p:nvSpPr>
          <p:cNvPr id="6" name="Presentation title"/>
          <p:cNvSpPr>
            <a:spLocks noGrp="1"/>
          </p:cNvSpPr>
          <p:nvPr>
            <p:ph type="title" idx="106" hasCustomPrompt="1"/>
          </p:nvPr>
        </p:nvSpPr>
        <p:spPr>
          <a:xfrm>
            <a:off x="45720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</a:rPr>
              <a:t>Presentation title in up to two lines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image"/>
          <p:cNvSpPr>
            <a:spLocks noGrp="1"/>
          </p:cNvSpPr>
          <p:nvPr>
            <p:ph type="pic" idx="100" hasCustomPrompt="1"/>
          </p:nvPr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Click the icon to add a cover image</a:t>
            </a:r>
            <a:endParaRPr lang="en-US" dirty="0"/>
          </a:p>
        </p:txBody>
      </p:sp>
      <p:sp>
        <p:nvSpPr>
          <p:cNvPr id="4" name="Subtitle"/>
          <p:cNvSpPr>
            <a:spLocks noGrp="1"/>
          </p:cNvSpPr>
          <p:nvPr>
            <p:ph type="body" idx="102" hasCustomPrompt="1"/>
          </p:nvPr>
        </p:nvSpPr>
        <p:spPr>
          <a:xfrm>
            <a:off x="457200" y="40690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Subtitle or engagement name</a:t>
            </a:r>
            <a:endParaRPr lang="en-US" sz="1800" dirty="0"/>
          </a:p>
        </p:txBody>
      </p:sp>
      <p:sp>
        <p:nvSpPr>
          <p:cNvPr id="7" name="Presentation title"/>
          <p:cNvSpPr>
            <a:spLocks noGrp="1"/>
          </p:cNvSpPr>
          <p:nvPr>
            <p:ph type="title" idx="105" hasCustomPrompt="1"/>
          </p:nvPr>
        </p:nvSpPr>
        <p:spPr>
          <a:xfrm>
            <a:off x="457200" y="20116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Presentation title in up to two lines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Contents</a:t>
            </a:r>
            <a:endParaRPr lang="en-US" sz="2400" dirty="0"/>
          </a:p>
        </p:txBody>
      </p:sp>
      <p:sp>
        <p:nvSpPr>
          <p:cNvPr id="3" name="Agenda items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0"/>
            <a:ext cx="77724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457200" indent="-457200">
              <a:spcAft>
                <a:spcPts val="1800"/>
              </a:spcAft>
              <a:buClr>
                <a:schemeClr val="accent1"/>
              </a:buClr>
              <a:buFont typeface="+mj-lt"/>
              <a:buAutoNum type="arabicPlain"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sz="1800" dirty="0">
                <a:solidFill>
                  <a:schemeClr val="tx1"/>
                </a:solidFill>
              </a:rPr>
              <a:t>Section name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divi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tif arc outer"/>
          <p:cNvSpPr/>
          <p:nvPr userDrawn="1"/>
        </p:nvSpPr>
        <p:spPr>
          <a:xfrm>
            <a:off x="8183880" y="2788920"/>
            <a:ext cx="6400800" cy="6400800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Motif arc inner"/>
          <p:cNvSpPr/>
          <p:nvPr userDrawn="1"/>
        </p:nvSpPr>
        <p:spPr>
          <a:xfrm>
            <a:off x="9281160" y="3886200"/>
            <a:ext cx="4206240" cy="420624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Section number"/>
          <p:cNvSpPr>
            <a:spLocks noGrp="1"/>
          </p:cNvSpPr>
          <p:nvPr>
            <p:ph type="body" idx="102" hasCustomPrompt="1"/>
          </p:nvPr>
        </p:nvSpPr>
        <p:spPr>
          <a:xfrm>
            <a:off x="457200" y="1737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5400" dirty="0">
                <a:solidFill>
                  <a:schemeClr val="accent3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>
              <a:buNone/>
            </a:pPr>
            <a:r>
              <a:rPr lang="en-US" sz="5400" dirty="0">
                <a:solidFill>
                  <a:schemeClr val="accent3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Section title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Section title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5" name="Summary text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spcBef>
                <a:spcPts val="1400"/>
              </a:spcBef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Key point as one full sentence (level 1, bold)</a:t>
            </a:r>
          </a:p>
          <a:p>
            <a:pPr lvl="1"/>
            <a:r>
              <a:rPr lang="en-US" dirty="0"/>
              <a:t>Supporting evidence (level 2): press Tab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Body text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 (level 1)</a:t>
            </a:r>
          </a:p>
          <a:p>
            <a:pPr lvl="1"/>
            <a:r>
              <a:rPr lang="en-US" dirty="0"/>
              <a:t>Bullet (level 2): press Tab</a:t>
            </a:r>
          </a:p>
          <a:p>
            <a:pPr lvl="2"/>
            <a:r>
              <a:rPr lang="en-US" dirty="0"/>
              <a:t>Dash (level 3): press Tab again</a:t>
            </a:r>
          </a:p>
        </p:txBody>
      </p:sp>
      <p:sp>
        <p:nvSpPr>
          <p:cNvPr id="6" name="Source and notes"/>
          <p:cNvSpPr>
            <a:spLocks noGrp="1"/>
          </p:cNvSpPr>
          <p:nvPr>
            <p:ph type="body" idx="104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Lef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Left column header</a:t>
            </a:r>
            <a:endParaRPr lang="en-US" sz="1400" dirty="0"/>
          </a:p>
        </p:txBody>
      </p:sp>
      <p:sp>
        <p:nvSpPr>
          <p:cNvPr id="6" name="Left text"/>
          <p:cNvSpPr>
            <a:spLocks noGrp="1"/>
          </p:cNvSpPr>
          <p:nvPr>
            <p:ph type="body" idx="104" hasCustomPrompt="1"/>
          </p:nvPr>
        </p:nvSpPr>
        <p:spPr>
          <a:xfrm>
            <a:off x="457200" y="2148840"/>
            <a:ext cx="54100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2): press Tab</a:t>
            </a:r>
          </a:p>
          <a:p>
            <a:pPr lvl="2"/>
            <a:r>
              <a:rPr lang="en-US" dirty="0"/>
              <a:t>Dash (level 3)</a:t>
            </a:r>
          </a:p>
        </p:txBody>
      </p:sp>
      <p:sp>
        <p:nvSpPr>
          <p:cNvPr id="7" name="Right header"/>
          <p:cNvSpPr>
            <a:spLocks noGrp="1"/>
          </p:cNvSpPr>
          <p:nvPr>
            <p:ph type="body" idx="105" hasCustomPrompt="1"/>
          </p:nvPr>
        </p:nvSpPr>
        <p:spPr>
          <a:xfrm>
            <a:off x="6324448" y="169164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Right column header</a:t>
            </a:r>
            <a:endParaRPr lang="en-US" sz="1400" dirty="0"/>
          </a:p>
        </p:txBody>
      </p:sp>
      <p:sp>
        <p:nvSpPr>
          <p:cNvPr id="8" name="Right text"/>
          <p:cNvSpPr>
            <a:spLocks noGrp="1"/>
          </p:cNvSpPr>
          <p:nvPr>
            <p:ph type="body" idx="106" hasCustomPrompt="1"/>
          </p:nvPr>
        </p:nvSpPr>
        <p:spPr>
          <a:xfrm>
            <a:off x="6324448" y="2148840"/>
            <a:ext cx="54100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2): press Tab</a:t>
            </a:r>
          </a:p>
          <a:p>
            <a:pPr lvl="2"/>
            <a:r>
              <a:rPr lang="en-US" dirty="0"/>
              <a:t>Dash (level 3)</a:t>
            </a:r>
          </a:p>
        </p:txBody>
      </p:sp>
      <p:sp>
        <p:nvSpPr>
          <p:cNvPr id="9" name="Source and notes"/>
          <p:cNvSpPr>
            <a:spLocks noGrp="1"/>
          </p:cNvSpPr>
          <p:nvPr>
            <p:ph type="body" idx="107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Column 1 mark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olumn 1 header"/>
          <p:cNvSpPr>
            <a:spLocks noGrp="1"/>
          </p:cNvSpPr>
          <p:nvPr>
            <p:ph type="body" idx="104" hasCustomPrompt="1"/>
          </p:nvPr>
        </p:nvSpPr>
        <p:spPr>
          <a:xfrm>
            <a:off x="457200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Column header</a:t>
            </a:r>
            <a:endParaRPr lang="en-US" sz="1400" dirty="0"/>
          </a:p>
        </p:txBody>
      </p:sp>
      <p:sp>
        <p:nvSpPr>
          <p:cNvPr id="7" name="Column 1 text"/>
          <p:cNvSpPr>
            <a:spLocks noGrp="1"/>
          </p:cNvSpPr>
          <p:nvPr>
            <p:ph type="body" idx="105" hasCustomPrompt="1"/>
          </p:nvPr>
        </p:nvSpPr>
        <p:spPr>
          <a:xfrm>
            <a:off x="457200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</a:t>
            </a:r>
          </a:p>
        </p:txBody>
      </p:sp>
      <p:sp>
        <p:nvSpPr>
          <p:cNvPr id="8" name="Column 2 marker"/>
          <p:cNvSpPr>
            <a:spLocks noGrp="1"/>
          </p:cNvSpPr>
          <p:nvPr>
            <p:ph type="body" idx="106" hasCustomPrompt="1"/>
          </p:nvPr>
        </p:nvSpPr>
        <p:spPr>
          <a:xfrm>
            <a:off x="4338218" y="169164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Column 2 header"/>
          <p:cNvSpPr>
            <a:spLocks noGrp="1"/>
          </p:cNvSpPr>
          <p:nvPr>
            <p:ph type="body" idx="107" hasCustomPrompt="1"/>
          </p:nvPr>
        </p:nvSpPr>
        <p:spPr>
          <a:xfrm>
            <a:off x="4338218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Column header</a:t>
            </a:r>
            <a:endParaRPr lang="en-US" sz="1400" dirty="0"/>
          </a:p>
        </p:txBody>
      </p:sp>
      <p:sp>
        <p:nvSpPr>
          <p:cNvPr id="10" name="Column 2 text"/>
          <p:cNvSpPr>
            <a:spLocks noGrp="1"/>
          </p:cNvSpPr>
          <p:nvPr>
            <p:ph type="body" idx="108" hasCustomPrompt="1"/>
          </p:nvPr>
        </p:nvSpPr>
        <p:spPr>
          <a:xfrm>
            <a:off x="4338218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</a:t>
            </a:r>
          </a:p>
        </p:txBody>
      </p:sp>
      <p:sp>
        <p:nvSpPr>
          <p:cNvPr id="11" name="Column 3 marker"/>
          <p:cNvSpPr>
            <a:spLocks noGrp="1"/>
          </p:cNvSpPr>
          <p:nvPr>
            <p:ph type="body" idx="109" hasCustomPrompt="1"/>
          </p:nvPr>
        </p:nvSpPr>
        <p:spPr>
          <a:xfrm>
            <a:off x="8219237" y="169164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Column 3 header"/>
          <p:cNvSpPr>
            <a:spLocks noGrp="1"/>
          </p:cNvSpPr>
          <p:nvPr>
            <p:ph type="body" idx="110" hasCustomPrompt="1"/>
          </p:nvPr>
        </p:nvSpPr>
        <p:spPr>
          <a:xfrm>
            <a:off x="8219237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Column header</a:t>
            </a:r>
            <a:endParaRPr lang="en-US" sz="1400" dirty="0"/>
          </a:p>
        </p:txBody>
      </p:sp>
      <p:sp>
        <p:nvSpPr>
          <p:cNvPr id="13" name="Column 3 text"/>
          <p:cNvSpPr>
            <a:spLocks noGrp="1"/>
          </p:cNvSpPr>
          <p:nvPr>
            <p:ph type="body" idx="111" hasCustomPrompt="1"/>
          </p:nvPr>
        </p:nvSpPr>
        <p:spPr>
          <a:xfrm>
            <a:off x="8219237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</a:t>
            </a:r>
          </a:p>
        </p:txBody>
      </p:sp>
      <p:sp>
        <p:nvSpPr>
          <p:cNvPr id="14" name="Source and notes"/>
          <p:cNvSpPr>
            <a:spLocks noGrp="1"/>
          </p:cNvSpPr>
          <p:nvPr>
            <p:ph type="body" idx="112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header: what the chart shows</a:t>
            </a:r>
            <a:endParaRPr lang="en-US" sz="1400" dirty="0"/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measure, period</a:t>
            </a:r>
            <a:endParaRPr lang="en-US" sz="1200" dirty="0"/>
          </a:p>
        </p:txBody>
      </p:sp>
      <p:sp>
        <p:nvSpPr>
          <p:cNvPr id="7" name="Chart"/>
          <p:cNvSpPr>
            <a:spLocks noGrp="1"/>
          </p:cNvSpPr>
          <p:nvPr>
            <p:ph type="chart" idx="105" hasCustomPrompt="1"/>
          </p:nvPr>
        </p:nvSpPr>
        <p:spPr>
          <a:xfrm>
            <a:off x="457200" y="2331720"/>
            <a:ext cx="7498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chart</a:t>
            </a:r>
            <a:endParaRPr lang="en-US" dirty="0"/>
          </a:p>
        </p:txBody>
      </p:sp>
      <p:sp>
        <p:nvSpPr>
          <p:cNvPr id="8" name="Takeaway panel"/>
          <p:cNvSpPr/>
          <p:nvPr/>
        </p:nvSpPr>
        <p:spPr>
          <a:xfrm>
            <a:off x="8305495" y="1691640"/>
            <a:ext cx="342900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akeaways header"/>
          <p:cNvSpPr>
            <a:spLocks noGrp="1"/>
          </p:cNvSpPr>
          <p:nvPr>
            <p:ph type="body" idx="107" hasCustomPrompt="1"/>
          </p:nvPr>
        </p:nvSpPr>
        <p:spPr>
          <a:xfrm>
            <a:off x="8534095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10" name="Takeaways text"/>
          <p:cNvSpPr>
            <a:spLocks noGrp="1"/>
          </p:cNvSpPr>
          <p:nvPr>
            <p:ph type="body" idx="108" hasCustomPrompt="1"/>
          </p:nvPr>
        </p:nvSpPr>
        <p:spPr>
          <a:xfrm>
            <a:off x="8534095" y="237744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1"/>
            <a:r>
              <a:rPr lang="en-US" dirty="0"/>
              <a:t>Takeaway (level 2 bullet)</a:t>
            </a:r>
          </a:p>
          <a:p>
            <a:pPr lvl="1"/>
            <a:r>
              <a:rPr lang="en-US" dirty="0"/>
              <a:t>Takeaway</a:t>
            </a:r>
          </a:p>
          <a:p>
            <a:pPr lvl="1"/>
            <a:r>
              <a:rPr lang="en-US" dirty="0"/>
              <a:t>Takeaway</a:t>
            </a:r>
          </a:p>
        </p:txBody>
      </p:sp>
      <p:sp>
        <p:nvSpPr>
          <p:cNvPr id="11" name="Source and notes"/>
          <p:cNvSpPr>
            <a:spLocks noGrp="1"/>
          </p:cNvSpPr>
          <p:nvPr>
            <p:ph type="body" idx="109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header: what the chart shows</a:t>
            </a:r>
            <a:endParaRPr lang="en-US" sz="1400" dirty="0"/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measure, period</a:t>
            </a:r>
            <a:endParaRPr lang="en-US" sz="1200" dirty="0"/>
          </a:p>
        </p:txBody>
      </p:sp>
      <p:sp>
        <p:nvSpPr>
          <p:cNvPr id="7" name="Chart"/>
          <p:cNvSpPr>
            <a:spLocks noGrp="1"/>
          </p:cNvSpPr>
          <p:nvPr>
            <p:ph type="chart" idx="105" hasCustomPrompt="1"/>
          </p:nvPr>
        </p:nvSpPr>
        <p:spPr>
          <a:xfrm>
            <a:off x="457200" y="2331720"/>
            <a:ext cx="11277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chart</a:t>
            </a:r>
            <a:endParaRPr lang="en-US" dirty="0"/>
          </a:p>
        </p:txBody>
      </p:sp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Left 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</a:t>
            </a:r>
            <a:endParaRPr lang="en-US" sz="1400" dirty="0"/>
          </a:p>
        </p:txBody>
      </p:sp>
      <p:sp>
        <p:nvSpPr>
          <p:cNvPr id="6" name="Left 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measure, period</a:t>
            </a:r>
            <a:endParaRPr lang="en-US" sz="1200" dirty="0"/>
          </a:p>
        </p:txBody>
      </p:sp>
      <p:sp>
        <p:nvSpPr>
          <p:cNvPr id="7" name="Left chart"/>
          <p:cNvSpPr>
            <a:spLocks noGrp="1"/>
          </p:cNvSpPr>
          <p:nvPr>
            <p:ph type="chart" idx="105" hasCustomPrompt="1"/>
          </p:nvPr>
        </p:nvSpPr>
        <p:spPr>
          <a:xfrm>
            <a:off x="457200" y="2331720"/>
            <a:ext cx="54100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chart</a:t>
            </a:r>
            <a:endParaRPr lang="en-US" dirty="0"/>
          </a:p>
        </p:txBody>
      </p:sp>
      <p:sp>
        <p:nvSpPr>
          <p:cNvPr id="8" name="Right exhibit header"/>
          <p:cNvSpPr>
            <a:spLocks noGrp="1"/>
          </p:cNvSpPr>
          <p:nvPr>
            <p:ph type="body" idx="106" hasCustomPrompt="1"/>
          </p:nvPr>
        </p:nvSpPr>
        <p:spPr>
          <a:xfrm>
            <a:off x="6324448" y="16916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</a:t>
            </a:r>
            <a:endParaRPr lang="en-US" sz="1400" dirty="0"/>
          </a:p>
        </p:txBody>
      </p:sp>
      <p:sp>
        <p:nvSpPr>
          <p:cNvPr id="9" name="Right unit of measure"/>
          <p:cNvSpPr>
            <a:spLocks noGrp="1"/>
          </p:cNvSpPr>
          <p:nvPr>
            <p:ph type="body" idx="107" hasCustomPrompt="1"/>
          </p:nvPr>
        </p:nvSpPr>
        <p:spPr>
          <a:xfrm>
            <a:off x="6324448" y="1984248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measure, period</a:t>
            </a:r>
            <a:endParaRPr lang="en-US" sz="1200" dirty="0"/>
          </a:p>
        </p:txBody>
      </p:sp>
      <p:sp>
        <p:nvSpPr>
          <p:cNvPr id="10" name="Right chart"/>
          <p:cNvSpPr>
            <a:spLocks noGrp="1"/>
          </p:cNvSpPr>
          <p:nvPr>
            <p:ph type="chart" idx="108" hasCustomPrompt="1"/>
          </p:nvPr>
        </p:nvSpPr>
        <p:spPr>
          <a:xfrm>
            <a:off x="6324448" y="2331720"/>
            <a:ext cx="54100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chart</a:t>
            </a:r>
            <a:endParaRPr lang="en-US" dirty="0"/>
          </a:p>
        </p:txBody>
      </p:sp>
      <p:sp>
        <p:nvSpPr>
          <p:cNvPr id="11" name="Source and notes"/>
          <p:cNvSpPr>
            <a:spLocks noGrp="1"/>
          </p:cNvSpPr>
          <p:nvPr>
            <p:ph type="body" idx="109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header: what the table shows</a:t>
            </a:r>
            <a:endParaRPr lang="en-US" sz="1400" dirty="0"/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 or scoring basis</a:t>
            </a:r>
            <a:endParaRPr lang="en-US" sz="1200" dirty="0"/>
          </a:p>
        </p:txBody>
      </p:sp>
      <p:sp>
        <p:nvSpPr>
          <p:cNvPr id="7" name="Table"/>
          <p:cNvSpPr>
            <a:spLocks noGrp="1"/>
          </p:cNvSpPr>
          <p:nvPr>
            <p:ph type="tbl" idx="105" hasCustomPrompt="1"/>
          </p:nvPr>
        </p:nvSpPr>
        <p:spPr>
          <a:xfrm>
            <a:off x="457200" y="2331720"/>
            <a:ext cx="11277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table</a:t>
            </a:r>
            <a:endParaRPr lang="en-US" dirty="0"/>
          </a:p>
        </p:txBody>
      </p:sp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>
            <a:spLocks noGrp="1"/>
          </p:cNvSpPr>
          <p:nvPr>
            <p:ph type="body" idx="100" hasCustomPrompt="1"/>
          </p:nvPr>
        </p:nvSpPr>
        <p:spPr>
          <a:xfrm>
            <a:off x="45720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Key message</a:t>
            </a:r>
            <a:endParaRPr lang="en-US" sz="1200" dirty="0"/>
          </a:p>
        </p:txBody>
      </p:sp>
      <p:sp>
        <p:nvSpPr>
          <p:cNvPr id="3" name="Statement"/>
          <p:cNvSpPr>
            <a:spLocks noGrp="1"/>
          </p:cNvSpPr>
          <p:nvPr>
            <p:ph type="body" idx="101" hasCustomPrompt="1"/>
          </p:nvPr>
        </p:nvSpPr>
        <p:spPr>
          <a:xfrm>
            <a:off x="457200" y="219456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32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The one sentence the audience should remember</a:t>
            </a:r>
            <a:endParaRPr lang="en-US" sz="3200" dirty="0"/>
          </a:p>
        </p:txBody>
      </p:sp>
      <p:sp>
        <p:nvSpPr>
          <p:cNvPr id="4" name="Supporting line"/>
          <p:cNvSpPr>
            <a:spLocks noGrp="1"/>
          </p:cNvSpPr>
          <p:nvPr>
            <p:ph type="body" idx="102" hasCustomPrompt="1"/>
          </p:nvPr>
        </p:nvSpPr>
        <p:spPr>
          <a:xfrm>
            <a:off x="457200" y="4800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Optional supporting line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tif arc outer"/>
          <p:cNvSpPr/>
          <p:nvPr userDrawn="1"/>
        </p:nvSpPr>
        <p:spPr>
          <a:xfrm>
            <a:off x="8183880" y="2788920"/>
            <a:ext cx="6400800" cy="6400800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Motif arc inner"/>
          <p:cNvSpPr/>
          <p:nvPr userDrawn="1"/>
        </p:nvSpPr>
        <p:spPr>
          <a:xfrm>
            <a:off x="9281160" y="3886200"/>
            <a:ext cx="4206240" cy="420624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Closing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20116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Contact details"/>
          <p:cNvSpPr>
            <a:spLocks noGrp="1"/>
          </p:cNvSpPr>
          <p:nvPr>
            <p:ph type="body" idx="103" hasCustomPrompt="1"/>
          </p:nvPr>
        </p:nvSpPr>
        <p:spPr>
          <a:xfrm>
            <a:off x="457200" y="3520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Name, title | email | phone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nsulting Class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Title Placeholder"/>
          <p:cNvSpPr>
            <a:spLocks noGrp="1"/>
          </p:cNvSpPr>
          <p:nvPr>
            <p:ph type="title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Action title: the so-what of the slide as a full sentence, no more than two lines</a:t>
            </a:r>
          </a:p>
        </p:txBody>
      </p:sp>
      <p:sp>
        <p:nvSpPr>
          <p:cNvPr id="3" name="Body Text Placeholder"/>
          <p:cNvSpPr>
            <a:spLocks noGrp="1"/>
          </p:cNvSpPr>
          <p:nvPr>
            <p:ph type="body" idx="1"/>
          </p:nvPr>
        </p:nvSpPr>
        <p:spPr>
          <a:xfrm>
            <a:off x="457200" y="1691640"/>
            <a:ext cx="11277295" cy="420624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 dirty="0"/>
              <a:t>Edit master text styles: level 1, body text</a:t>
            </a:r>
          </a:p>
          <a:p>
            <a:pPr lvl="1"/>
            <a:r>
              <a:rPr lang="en-US" dirty="0"/>
              <a:t>Level 2: bullet</a:t>
            </a:r>
          </a:p>
          <a:p>
            <a:pPr lvl="2"/>
            <a:r>
              <a:rPr lang="en-US" dirty="0"/>
              <a:t>Level 3: dash</a:t>
            </a:r>
          </a:p>
          <a:p>
            <a:pPr lvl="3"/>
            <a:r>
              <a:rPr lang="en-US" dirty="0"/>
              <a:t>Level 4: detail</a:t>
            </a:r>
          </a:p>
          <a:p>
            <a:pPr lvl="4"/>
            <a:r>
              <a:rPr lang="en-US" dirty="0"/>
              <a:t>Level 5: detail</a:t>
            </a:r>
          </a:p>
        </p:txBody>
      </p:sp>
      <p:sp>
        <p:nvSpPr>
          <p:cNvPr id="4" name="Page Number (automatic field)"/>
          <p:cNvSpPr txBox="1"/>
          <p:nvPr userDrawn="1"/>
        </p:nvSpPr>
        <p:spPr>
          <a:xfrm>
            <a:off x="11368735" y="6272784"/>
            <a:ext cx="365760" cy="237744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r"/>
            <a:fld id="{B6F15528-21DE-4FAA-801E-634DDDAF4B2B}" type="slidenum">
              <a:rPr lang="en-US" sz="1000" dirty="0">
                <a:solidFill>
                  <a:schemeClr val="tx2"/>
                </a:solidFill>
                <a:latin typeface="+mn-lt"/>
              </a:rPr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–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–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6pPr>
      <a:lvl7pPr marL="1371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 userDrawn="1">
          <p15:clr>
            <a:srgbClr val="FBAE40"/>
          </p15:clr>
        </p15:guide>
        <p15:guide id="2" pos="3696" userDrawn="1">
          <p15:clr>
            <a:srgbClr val="FBAE40"/>
          </p15:clr>
        </p15:guide>
        <p15:guide id="3" pos="3984" userDrawn="1">
          <p15:clr>
            <a:srgbClr val="FBAE40"/>
          </p15:clr>
        </p15:guide>
        <p15:guide id="4" pos="7392" userDrawn="1">
          <p15:clr>
            <a:srgbClr val="FBAE40"/>
          </p15:clr>
        </p15:guide>
        <p15:guide id="5" orient="horz" pos="173" userDrawn="1">
          <p15:clr>
            <a:srgbClr val="FBAE40"/>
          </p15:clr>
        </p15:guide>
        <p15:guide id="6" orient="horz" pos="357" userDrawn="1">
          <p15:clr>
            <a:srgbClr val="FBAE40"/>
          </p15:clr>
        </p15:guide>
        <p15:guide id="7" orient="horz" pos="1066" userDrawn="1">
          <p15:clr>
            <a:srgbClr val="FBAE40"/>
          </p15:clr>
        </p15:guide>
        <p15:guide id="8" orient="horz" pos="3715" userDrawn="1">
          <p15:clr>
            <a:srgbClr val="FBAE40"/>
          </p15:clr>
        </p15:guide>
        <p15:guide id="9" orient="horz" pos="4101" userDrawn="1">
          <p15:clr>
            <a:srgbClr val="FBAE4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ation title"/>
          <p:cNvSpPr>
            <a:spLocks noGrp="1"/>
          </p:cNvSpPr>
          <p:nvPr>
            <p:ph type="title" idx="106" hasCustomPrompt="1"/>
          </p:nvPr>
        </p:nvSpPr>
        <p:spPr>
          <a:xfrm>
            <a:off x="45720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Yen depreciation and carry trade risk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03" hasCustomPrompt="1"/>
          </p:nvPr>
        </p:nvSpPr>
        <p:spPr>
          <a:xfrm>
            <a:off x="457200" y="4069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Funding mechanics, unwind dynamics and the rand as a comparison case</a:t>
            </a:r>
          </a:p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Overview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Executive summary</a:t>
            </a:r>
          </a:p>
        </p:txBody>
      </p:sp>
      <p:sp>
        <p:nvSpPr>
          <p:cNvPr id="4" name="Summary text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Cheap yen funds the world's carry trades</a:t>
            </a:r>
          </a:p>
          <a:p>
            <a:pPr lvl="1"/>
            <a:r>
              <a:t>Fed–BOJ gap peaked at 5.6 pts in 2023; still 2.75 pts today</a:t>
            </a:r>
          </a:p>
          <a:p>
            <a:r>
              <a:t>Much of the exposure is hidden</a:t>
            </a:r>
          </a:p>
          <a:p>
            <a:pPr lvl="1"/>
            <a:r>
              <a:t>BIS: ~¥40tn ($250bn), likely understated; FX swaps and forwards sit off balance sheet</a:t>
            </a:r>
          </a:p>
          <a:p>
            <a:r>
              <a:t>FX swaps fund, roll and hedge the trade, but only to maturity</a:t>
            </a:r>
          </a:p>
          <a:p>
            <a:pPr lvl="1"/>
            <a:r>
              <a:t>Short tenors against long-dated assets create rollover risk</a:t>
            </a:r>
          </a:p>
          <a:p>
            <a:r>
              <a:t>A yen rally erases years of carry in weeks</a:t>
            </a:r>
          </a:p>
          <a:p>
            <a:pPr lvl="1"/>
            <a:r>
              <a:t>Aug 2024: USD/JPY −12.5% in a month; Nikkei −12.4% in a day</a:t>
            </a:r>
          </a:p>
          <a:p>
            <a:r>
              <a:t>Policy can slow the yen, not fix it</a:t>
            </a:r>
          </a:p>
          <a:p>
            <a:pPr lvl="1"/>
            <a:r>
              <a:t>BOJ at 1.25% after six hikes; MOF bought a record ¥27tn in 2026; USD/JPY still ~158</a:t>
            </a:r>
          </a:p>
          <a:p>
            <a:r>
              <a:t>The rand shows the mirror image: high yield, bigger FX loss</a:t>
            </a:r>
          </a:p>
          <a:p>
            <a:pPr lvl="1"/>
            <a:r>
              <a:t>~5.5% a year of carry, yet −44% in dollar terms over 2011–15 as the rand fell 57%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Yen carry trade</a:t>
            </a:r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 wide US–Japan rate gap made the yen the cheapest major currency to borrow</a:t>
            </a:r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Policy rates, US vs Japan</a:t>
            </a:r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%, end of period; Fed funds upper bound; 2026 = 29 Oct</a:t>
            </a:r>
          </a:p>
        </p:txBody>
      </p:sp>
      <p:graphicFrame>
        <p:nvGraphicFramePr>
          <p:cNvPr id="7" name="Chart"/>
          <p:cNvGraphicFramePr>
            <a:graphicFrameLocks noGrp="1"/>
          </p:cNvGraphicFramePr>
          <p:nvPr>
            <p:ph type="chart" idx="105" hasCustomPrompt="1"/>
          </p:nvPr>
        </p:nvGraphicFramePr>
        <p:xfrm>
          <a:off x="457200" y="2331720"/>
          <a:ext cx="7498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akeaways header"/>
          <p:cNvSpPr>
            <a:spLocks noGrp="1"/>
          </p:cNvSpPr>
          <p:nvPr>
            <p:ph type="body" idx="107" hasCustomPrompt="1"/>
          </p:nvPr>
        </p:nvSpPr>
        <p:spPr>
          <a:xfrm>
            <a:off x="8534095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Why the yen</a:t>
            </a:r>
          </a:p>
        </p:txBody>
      </p:sp>
      <p:sp>
        <p:nvSpPr>
          <p:cNvPr id="9" name="Takeaways text"/>
          <p:cNvSpPr>
            <a:spLocks noGrp="1"/>
          </p:cNvSpPr>
          <p:nvPr>
            <p:ph type="body" idx="108" hasCustomPrompt="1"/>
          </p:nvPr>
        </p:nvSpPr>
        <p:spPr>
          <a:xfrm>
            <a:off x="8534095" y="237744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/>
            <a:r>
              <a:t>Cheap: gap peaked at 5.6 pts (2023)</a:t>
            </a:r>
          </a:p>
          <a:p>
            <a:pPr lvl="1"/>
            <a:r>
              <a:t>Calm: yield cap until Mar 2024 kept volatility low</a:t>
            </a:r>
          </a:p>
          <a:p>
            <a:pPr lvl="1"/>
            <a:r>
              <a:t>Trending: ¥103 per $ (2021) to ¥164 (Jul 2026)</a:t>
            </a:r>
          </a:p>
          <a:p>
            <a:pPr lvl="1"/>
            <a:r>
              <a:t>Liquid: yen in 16.8% of all FX trades</a:t>
            </a:r>
          </a:p>
        </p:txBody>
      </p:sp>
      <p:sp>
        <p:nvSpPr>
          <p:cNvPr id="10" name="Source and notes"/>
          <p:cNvSpPr>
            <a:spLocks noGrp="1"/>
          </p:cNvSpPr>
          <p:nvPr>
            <p:ph type="body" idx="109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Federal Reserve; Bank of Japan; Federal Reserve H.10; BIS Triennial Survey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Yen carry trade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trade earns the gap only while the yen stays weak</a:t>
            </a:r>
          </a:p>
        </p:txBody>
      </p:sp>
      <p:sp>
        <p:nvSpPr>
          <p:cNvPr id="4" name="Column 1 mark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02920" cy="502920"/>
          </a:xfrm>
        </p:spPr>
        <p:txBody>
          <a:bodyPr wrap="square" lIns="0" tIns="0" rIns="0" bIns="0" rtlCol="0" anchor="ctr"/>
          <a:lstStyle/>
          <a:p>
            <a:r>
              <a:t>1</a:t>
            </a:r>
          </a:p>
        </p:txBody>
      </p:sp>
      <p:sp>
        <p:nvSpPr>
          <p:cNvPr id="5" name="Connector 1"/>
          <p:cNvSpPr/>
          <p:nvPr/>
        </p:nvSpPr>
        <p:spPr>
          <a:xfrm>
            <a:off x="1097280" y="1943100"/>
            <a:ext cx="310377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Column 1 header"/>
          <p:cNvSpPr>
            <a:spLocks noGrp="1"/>
          </p:cNvSpPr>
          <p:nvPr>
            <p:ph type="body" idx="104" hasCustomPrompt="1"/>
          </p:nvPr>
        </p:nvSpPr>
        <p:spPr>
          <a:xfrm>
            <a:off x="457200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Borrow yen</a:t>
            </a:r>
          </a:p>
        </p:txBody>
      </p:sp>
      <p:sp>
        <p:nvSpPr>
          <p:cNvPr id="7" name="Column 1 text"/>
          <p:cNvSpPr>
            <a:spLocks noGrp="1"/>
          </p:cNvSpPr>
          <p:nvPr>
            <p:ph type="body" idx="105" hasCustomPrompt="1"/>
          </p:nvPr>
        </p:nvSpPr>
        <p:spPr>
          <a:xfrm>
            <a:off x="457200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Raise low-cost funding</a:t>
            </a:r>
          </a:p>
          <a:p>
            <a:pPr lvl="1"/>
            <a:r>
              <a:t>Loans, repo, or FX swaps and forwards</a:t>
            </a:r>
          </a:p>
        </p:txBody>
      </p:sp>
      <p:sp>
        <p:nvSpPr>
          <p:cNvPr id="8" name="Example panel 1"/>
          <p:cNvSpPr/>
          <p:nvPr/>
        </p:nvSpPr>
        <p:spPr>
          <a:xfrm>
            <a:off x="457200" y="4206240"/>
            <a:ext cx="3515258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4370832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EXAMPLE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45152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Borrow ¥15.8bn at ~1.25%</a:t>
            </a:r>
            <a:endParaRPr lang="en-US" sz="1400" dirty="0"/>
          </a:p>
        </p:txBody>
      </p:sp>
      <p:sp>
        <p:nvSpPr>
          <p:cNvPr id="11" name="Column 2 marker"/>
          <p:cNvSpPr>
            <a:spLocks noGrp="1"/>
          </p:cNvSpPr>
          <p:nvPr>
            <p:ph type="body" idx="106" hasCustomPrompt="1"/>
          </p:nvPr>
        </p:nvSpPr>
        <p:spPr>
          <a:xfrm>
            <a:off x="4338218" y="1691640"/>
            <a:ext cx="502920" cy="502920"/>
          </a:xfrm>
        </p:spPr>
        <p:txBody>
          <a:bodyPr wrap="square" lIns="0" tIns="0" rIns="0" bIns="0" rtlCol="0" anchor="ctr"/>
          <a:lstStyle/>
          <a:p>
            <a:r>
              <a:t>2</a:t>
            </a:r>
          </a:p>
        </p:txBody>
      </p:sp>
      <p:sp>
        <p:nvSpPr>
          <p:cNvPr id="12" name="Connector 2"/>
          <p:cNvSpPr/>
          <p:nvPr/>
        </p:nvSpPr>
        <p:spPr>
          <a:xfrm>
            <a:off x="4978298" y="1943100"/>
            <a:ext cx="310377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olumn 2 header"/>
          <p:cNvSpPr>
            <a:spLocks noGrp="1"/>
          </p:cNvSpPr>
          <p:nvPr>
            <p:ph type="body" idx="107" hasCustomPrompt="1"/>
          </p:nvPr>
        </p:nvSpPr>
        <p:spPr>
          <a:xfrm>
            <a:off x="4338218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Convert</a:t>
            </a:r>
          </a:p>
        </p:txBody>
      </p:sp>
      <p:sp>
        <p:nvSpPr>
          <p:cNvPr id="14" name="Column 2 text"/>
          <p:cNvSpPr>
            <a:spLocks noGrp="1"/>
          </p:cNvSpPr>
          <p:nvPr>
            <p:ph type="body" idx="108" hasCustomPrompt="1"/>
          </p:nvPr>
        </p:nvSpPr>
        <p:spPr>
          <a:xfrm>
            <a:off x="4338218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Sell yen for dollars</a:t>
            </a:r>
          </a:p>
          <a:p>
            <a:pPr lvl="1"/>
            <a:r>
              <a:t>Opens the short-yen position</a:t>
            </a:r>
          </a:p>
        </p:txBody>
      </p:sp>
      <p:sp>
        <p:nvSpPr>
          <p:cNvPr id="15" name="Example panel 2"/>
          <p:cNvSpPr/>
          <p:nvPr/>
        </p:nvSpPr>
        <p:spPr>
          <a:xfrm>
            <a:off x="4338218" y="4206240"/>
            <a:ext cx="3515258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21098" y="4370832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EXAMPLE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21098" y="4645152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¥15.8bn → $100m at 158</a:t>
            </a:r>
            <a:endParaRPr lang="en-US" sz="1400" dirty="0"/>
          </a:p>
        </p:txBody>
      </p:sp>
      <p:sp>
        <p:nvSpPr>
          <p:cNvPr id="18" name="Column 3 marker"/>
          <p:cNvSpPr>
            <a:spLocks noGrp="1"/>
          </p:cNvSpPr>
          <p:nvPr>
            <p:ph type="body" idx="109" hasCustomPrompt="1"/>
          </p:nvPr>
        </p:nvSpPr>
        <p:spPr>
          <a:xfrm>
            <a:off x="8219237" y="1691640"/>
            <a:ext cx="502920" cy="502920"/>
          </a:xfr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r>
              <a:t>3</a:t>
            </a:r>
          </a:p>
        </p:txBody>
      </p:sp>
      <p:sp>
        <p:nvSpPr>
          <p:cNvPr id="19" name="Column 3 header"/>
          <p:cNvSpPr>
            <a:spLocks noGrp="1"/>
          </p:cNvSpPr>
          <p:nvPr>
            <p:ph type="body" idx="110" hasCustomPrompt="1"/>
          </p:nvPr>
        </p:nvSpPr>
        <p:spPr>
          <a:xfrm>
            <a:off x="8219237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Invest</a:t>
            </a:r>
          </a:p>
        </p:txBody>
      </p:sp>
      <p:sp>
        <p:nvSpPr>
          <p:cNvPr id="20" name="Column 3 text"/>
          <p:cNvSpPr>
            <a:spLocks noGrp="1"/>
          </p:cNvSpPr>
          <p:nvPr>
            <p:ph type="body" idx="111" hasCustomPrompt="1"/>
          </p:nvPr>
        </p:nvSpPr>
        <p:spPr>
          <a:xfrm>
            <a:off x="8219237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Buy higher-yield dollar assets</a:t>
            </a:r>
          </a:p>
          <a:p>
            <a:pPr lvl="1"/>
            <a:r>
              <a:t>Profit = rate gap + any further yen fall</a:t>
            </a:r>
          </a:p>
        </p:txBody>
      </p:sp>
      <p:sp>
        <p:nvSpPr>
          <p:cNvPr id="21" name="Example panel 3"/>
          <p:cNvSpPr/>
          <p:nvPr/>
        </p:nvSpPr>
        <p:spPr>
          <a:xfrm>
            <a:off x="8219237" y="4206240"/>
            <a:ext cx="3515258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02117" y="4370832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EXAMPLE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4645152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~4% yield: carry ≈ 2.75 pts, or $2.75m a year</a:t>
            </a:r>
            <a:endParaRPr lang="en-US" sz="1400" dirty="0"/>
          </a:p>
        </p:txBody>
      </p:sp>
      <p:sp>
        <p:nvSpPr>
          <p:cNvPr id="24" name="Source and notes"/>
          <p:cNvSpPr>
            <a:spLocks noGrp="1"/>
          </p:cNvSpPr>
          <p:nvPr>
            <p:ph type="body" idx="112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Illustrative; funding at BOJ rate, yield at Fed funds upper bound; excludes spreads and fees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Yen carry trade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BIS puts the trade at ¥40 trillion; the true size is likely larger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BIS Bulletin No 90 (Aug 2024); BIS Quarterly Review (Dec 2022); BIS Triennial Survey (Sep 2025)</a:t>
            </a:r>
          </a:p>
        </p:txBody>
      </p:sp>
      <p:sp>
        <p:nvSpPr>
          <p:cNvPr id="5" name="Size 1 panel"/>
          <p:cNvSpPr/>
          <p:nvPr/>
        </p:nvSpPr>
        <p:spPr>
          <a:xfrm>
            <a:off x="457200" y="1691640"/>
            <a:ext cx="3514344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6" name="Size 1 value"/>
          <p:cNvSpPr txBox="1"/>
          <p:nvPr/>
        </p:nvSpPr>
        <p:spPr>
          <a:xfrm>
            <a:off x="731520" y="1920240"/>
            <a:ext cx="2965704" cy="1005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800" b="0">
                <a:solidFill>
                  <a:schemeClr val="accent1"/>
                </a:solidFill>
                <a:latin typeface="+mj-lt"/>
              </a:rPr>
              <a:t>¥40tn</a:t>
            </a:r>
          </a:p>
        </p:txBody>
      </p:sp>
      <p:sp>
        <p:nvSpPr>
          <p:cNvPr id="7" name="Size 1 label"/>
          <p:cNvSpPr txBox="1"/>
          <p:nvPr/>
        </p:nvSpPr>
        <p:spPr>
          <a:xfrm>
            <a:off x="731520" y="3108960"/>
            <a:ext cx="29657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Yen carry trade, Aug 2024</a:t>
            </a:r>
          </a:p>
        </p:txBody>
      </p:sp>
      <p:sp>
        <p:nvSpPr>
          <p:cNvPr id="8" name="Size 1 sub"/>
          <p:cNvSpPr txBox="1"/>
          <p:nvPr/>
        </p:nvSpPr>
        <p:spPr>
          <a:xfrm>
            <a:off x="731520" y="3657600"/>
            <a:ext cx="29657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2"/>
                </a:solidFill>
              </a:rPr>
              <a:t>≈ $250bn; BIS: "if anything, biased down"</a:t>
            </a:r>
          </a:p>
        </p:txBody>
      </p:sp>
      <p:sp>
        <p:nvSpPr>
          <p:cNvPr id="9" name="Size 2 panel"/>
          <p:cNvSpPr/>
          <p:nvPr/>
        </p:nvSpPr>
        <p:spPr>
          <a:xfrm>
            <a:off x="4337304" y="1691640"/>
            <a:ext cx="3514344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Size 2 value"/>
          <p:cNvSpPr txBox="1"/>
          <p:nvPr/>
        </p:nvSpPr>
        <p:spPr>
          <a:xfrm>
            <a:off x="4611624" y="1920240"/>
            <a:ext cx="2965704" cy="1005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800" b="0">
                <a:solidFill>
                  <a:schemeClr val="accent1"/>
                </a:solidFill>
                <a:latin typeface="+mj-lt"/>
              </a:rPr>
              <a:t>$80tn+</a:t>
            </a:r>
          </a:p>
        </p:txBody>
      </p:sp>
      <p:sp>
        <p:nvSpPr>
          <p:cNvPr id="11" name="Size 2 label"/>
          <p:cNvSpPr txBox="1"/>
          <p:nvPr/>
        </p:nvSpPr>
        <p:spPr>
          <a:xfrm>
            <a:off x="4611624" y="3108960"/>
            <a:ext cx="29657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Dollar debt in FX swaps and forwards</a:t>
            </a:r>
          </a:p>
        </p:txBody>
      </p:sp>
      <p:sp>
        <p:nvSpPr>
          <p:cNvPr id="12" name="Size 2 sub"/>
          <p:cNvSpPr txBox="1"/>
          <p:nvPr/>
        </p:nvSpPr>
        <p:spPr>
          <a:xfrm>
            <a:off x="4611624" y="3657600"/>
            <a:ext cx="29657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2"/>
                </a:solidFill>
              </a:rPr>
              <a:t>Off balance sheet; missing from debt data</a:t>
            </a:r>
          </a:p>
        </p:txBody>
      </p:sp>
      <p:sp>
        <p:nvSpPr>
          <p:cNvPr id="13" name="Size 3 panel"/>
          <p:cNvSpPr/>
          <p:nvPr/>
        </p:nvSpPr>
        <p:spPr>
          <a:xfrm>
            <a:off x="8217408" y="1691640"/>
            <a:ext cx="3514344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4" name="Size 3 value"/>
          <p:cNvSpPr txBox="1"/>
          <p:nvPr/>
        </p:nvSpPr>
        <p:spPr>
          <a:xfrm>
            <a:off x="8491728" y="1920240"/>
            <a:ext cx="2965704" cy="1005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800" b="0">
                <a:solidFill>
                  <a:schemeClr val="accent1"/>
                </a:solidFill>
                <a:latin typeface="+mj-lt"/>
              </a:rPr>
              <a:t>$4.0tn</a:t>
            </a:r>
          </a:p>
        </p:txBody>
      </p:sp>
      <p:sp>
        <p:nvSpPr>
          <p:cNvPr id="15" name="Size 3 label"/>
          <p:cNvSpPr txBox="1"/>
          <p:nvPr/>
        </p:nvSpPr>
        <p:spPr>
          <a:xfrm>
            <a:off x="8491728" y="3108960"/>
            <a:ext cx="29657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FX swaps traded per day</a:t>
            </a:r>
          </a:p>
        </p:txBody>
      </p:sp>
      <p:sp>
        <p:nvSpPr>
          <p:cNvPr id="16" name="Size 3 sub"/>
          <p:cNvSpPr txBox="1"/>
          <p:nvPr/>
        </p:nvSpPr>
        <p:spPr>
          <a:xfrm>
            <a:off x="8491728" y="3657600"/>
            <a:ext cx="29657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2"/>
                </a:solidFill>
              </a:rPr>
              <a:t>42% of the $9.6tn daily FX market</a:t>
            </a:r>
          </a:p>
        </p:txBody>
      </p:sp>
      <p:sp>
        <p:nvSpPr>
          <p:cNvPr id="17" name="Implication panel"/>
          <p:cNvSpPr/>
          <p:nvPr/>
        </p:nvSpPr>
        <p:spPr>
          <a:xfrm>
            <a:off x="457200" y="4754880"/>
            <a:ext cx="11274552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8" name="Implication icon"/>
          <p:cNvSpPr/>
          <p:nvPr/>
        </p:nvSpPr>
        <p:spPr>
          <a:xfrm>
            <a:off x="685800" y="5056632"/>
            <a:ext cx="310896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19" name="Implication text"/>
          <p:cNvSpPr txBox="1"/>
          <p:nvPr/>
        </p:nvSpPr>
        <p:spPr>
          <a:xfrm>
            <a:off x="1188720" y="475488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Implication: </a:t>
            </a:r>
            <a:r>
              <a:rPr sz="1400" b="0">
                <a:solidFill>
                  <a:schemeClr val="tx1"/>
                </a:solidFill>
              </a:rPr>
              <a:t>assume the trade is crowded; derivative positions unwind as fast as cash positions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Yen carry trade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FX swaps fund, roll and hedge the trade, but only until maturity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Illustrative; forward = 158 × (1 + 1.25% × 0.25) ÷ (1 + 4.00% × 0.25). Source: BIS; team analysis</a:t>
            </a:r>
          </a:p>
        </p:txBody>
      </p:sp>
      <p:sp>
        <p:nvSpPr>
          <p:cNvPr id="5" name="Diagram header"/>
          <p:cNvSpPr txBox="1"/>
          <p:nvPr/>
        </p:nvSpPr>
        <p:spPr>
          <a:xfrm>
            <a:off x="457200" y="16916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3-month USD/JPY swap</a:t>
            </a:r>
          </a:p>
        </p:txBody>
      </p:sp>
      <p:sp>
        <p:nvSpPr>
          <p:cNvPr id="6" name="Diagram unit"/>
          <p:cNvSpPr txBox="1"/>
          <p:nvPr/>
        </p:nvSpPr>
        <p:spPr>
          <a:xfrm>
            <a:off x="457200" y="1984248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2"/>
                </a:solidFill>
              </a:rPr>
              <a:t>Spot 158; institution swaps yen into dollars</a:t>
            </a:r>
          </a:p>
        </p:txBody>
      </p:sp>
      <p:sp>
        <p:nvSpPr>
          <p:cNvPr id="7" name="NEAR LEG · TODAY label"/>
          <p:cNvSpPr txBox="1"/>
          <p:nvPr/>
        </p:nvSpPr>
        <p:spPr>
          <a:xfrm>
            <a:off x="457200" y="237744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chemeClr val="tx2"/>
                </a:solidFill>
              </a:rPr>
              <a:t>NEAR LEG · TODAY</a:t>
            </a:r>
          </a:p>
        </p:txBody>
      </p:sp>
      <p:sp>
        <p:nvSpPr>
          <p:cNvPr id="8" name="NEAR LEG · TODAY inst"/>
          <p:cNvSpPr/>
          <p:nvPr/>
        </p:nvSpPr>
        <p:spPr>
          <a:xfrm>
            <a:off x="457200" y="2651760"/>
            <a:ext cx="132588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Institution</a:t>
            </a:r>
          </a:p>
        </p:txBody>
      </p:sp>
      <p:sp>
        <p:nvSpPr>
          <p:cNvPr id="9" name="NEAR LEG · TODAY bank"/>
          <p:cNvSpPr/>
          <p:nvPr/>
        </p:nvSpPr>
        <p:spPr>
          <a:xfrm>
            <a:off x="4526280" y="2651760"/>
            <a:ext cx="132588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tx1"/>
                </a:solidFill>
              </a:rPr>
              <a:t>Bank</a:t>
            </a:r>
          </a:p>
        </p:txBody>
      </p:sp>
      <p:cxnSp>
        <p:nvCxnSpPr>
          <p:cNvPr id="10" name="NEAR LEG · TODAY pay"/>
          <p:cNvCxnSpPr/>
          <p:nvPr/>
        </p:nvCxnSpPr>
        <p:spPr>
          <a:xfrm>
            <a:off x="1874519" y="2852928"/>
            <a:ext cx="2560321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11" name="NEAR LEG · TODAY pay text"/>
          <p:cNvSpPr txBox="1"/>
          <p:nvPr/>
        </p:nvSpPr>
        <p:spPr>
          <a:xfrm>
            <a:off x="1874519" y="262432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¥15.8bn</a:t>
            </a:r>
          </a:p>
        </p:txBody>
      </p:sp>
      <p:cxnSp>
        <p:nvCxnSpPr>
          <p:cNvPr id="12" name="NEAR LEG · TODAY receive"/>
          <p:cNvCxnSpPr/>
          <p:nvPr/>
        </p:nvCxnSpPr>
        <p:spPr>
          <a:xfrm flipH="1">
            <a:off x="1874519" y="3145536"/>
            <a:ext cx="2560321" cy="0"/>
          </a:xfrm>
          <a:prstGeom prst="line">
            <a:avLst/>
          </a:prstGeom>
          <a:ln w="19050">
            <a:solidFill>
              <a:schemeClr val="accent5"/>
            </a:solidFill>
            <a:tailEnd type="triangle" w="med" len="med"/>
          </a:ln>
        </p:spPr>
      </p:cxnSp>
      <p:sp>
        <p:nvSpPr>
          <p:cNvPr id="13" name="NEAR LEG · TODAY receive text"/>
          <p:cNvSpPr txBox="1"/>
          <p:nvPr/>
        </p:nvSpPr>
        <p:spPr>
          <a:xfrm>
            <a:off x="1874519" y="31729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$100m</a:t>
            </a:r>
          </a:p>
        </p:txBody>
      </p:sp>
      <p:sp>
        <p:nvSpPr>
          <p:cNvPr id="14" name="FAR LEG · 3 MONTHS label"/>
          <p:cNvSpPr txBox="1"/>
          <p:nvPr/>
        </p:nvSpPr>
        <p:spPr>
          <a:xfrm>
            <a:off x="457200" y="361188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chemeClr val="tx2"/>
                </a:solidFill>
              </a:rPr>
              <a:t>FAR LEG · 3 MONTHS</a:t>
            </a:r>
          </a:p>
        </p:txBody>
      </p:sp>
      <p:sp>
        <p:nvSpPr>
          <p:cNvPr id="15" name="FAR LEG · 3 MONTHS inst"/>
          <p:cNvSpPr/>
          <p:nvPr/>
        </p:nvSpPr>
        <p:spPr>
          <a:xfrm>
            <a:off x="457200" y="3886200"/>
            <a:ext cx="132588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Institution</a:t>
            </a:r>
          </a:p>
        </p:txBody>
      </p:sp>
      <p:sp>
        <p:nvSpPr>
          <p:cNvPr id="16" name="FAR LEG · 3 MONTHS bank"/>
          <p:cNvSpPr/>
          <p:nvPr/>
        </p:nvSpPr>
        <p:spPr>
          <a:xfrm>
            <a:off x="4526280" y="3886200"/>
            <a:ext cx="132588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tx1"/>
                </a:solidFill>
              </a:rPr>
              <a:t>Bank</a:t>
            </a:r>
          </a:p>
        </p:txBody>
      </p:sp>
      <p:cxnSp>
        <p:nvCxnSpPr>
          <p:cNvPr id="17" name="FAR LEG · 3 MONTHS pay"/>
          <p:cNvCxnSpPr/>
          <p:nvPr/>
        </p:nvCxnSpPr>
        <p:spPr>
          <a:xfrm>
            <a:off x="1874519" y="4087368"/>
            <a:ext cx="2560321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18" name="FAR LEG · 3 MONTHS pay text"/>
          <p:cNvSpPr txBox="1"/>
          <p:nvPr/>
        </p:nvSpPr>
        <p:spPr>
          <a:xfrm>
            <a:off x="1874519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$100m</a:t>
            </a:r>
          </a:p>
        </p:txBody>
      </p:sp>
      <p:cxnSp>
        <p:nvCxnSpPr>
          <p:cNvPr id="19" name="FAR LEG · 3 MONTHS receive"/>
          <p:cNvCxnSpPr/>
          <p:nvPr/>
        </p:nvCxnSpPr>
        <p:spPr>
          <a:xfrm flipH="1">
            <a:off x="1874519" y="4379976"/>
            <a:ext cx="2560321" cy="0"/>
          </a:xfrm>
          <a:prstGeom prst="line">
            <a:avLst/>
          </a:prstGeom>
          <a:ln w="19050">
            <a:solidFill>
              <a:schemeClr val="accent5"/>
            </a:solidFill>
            <a:tailEnd type="triangle" w="med" len="med"/>
          </a:ln>
        </p:spPr>
      </p:cxnSp>
      <p:sp>
        <p:nvSpPr>
          <p:cNvPr id="20" name="FAR LEG · 3 MONTHS receive text"/>
          <p:cNvSpPr txBox="1"/>
          <p:nvPr/>
        </p:nvSpPr>
        <p:spPr>
          <a:xfrm>
            <a:off x="1874519" y="44074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¥15.69bn at forward 156.9</a:t>
            </a:r>
          </a:p>
        </p:txBody>
      </p:sp>
      <p:sp>
        <p:nvSpPr>
          <p:cNvPr id="21" name="Forward panel"/>
          <p:cNvSpPr/>
          <p:nvPr/>
        </p:nvSpPr>
        <p:spPr>
          <a:xfrm>
            <a:off x="457200" y="4892040"/>
            <a:ext cx="5394960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2" name="Forward text"/>
          <p:cNvSpPr txBox="1"/>
          <p:nvPr/>
        </p:nvSpPr>
        <p:spPr>
          <a:xfrm>
            <a:off x="640080" y="4937760"/>
            <a:ext cx="5029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Forward discount = rate gap. </a:t>
            </a:r>
            <a:r>
              <a:rPr sz="1200" b="0">
                <a:solidFill>
                  <a:schemeClr val="tx1"/>
                </a:solidFill>
              </a:rPr>
              <a:t>Full hedging gives the carry away.</a:t>
            </a:r>
          </a:p>
        </p:txBody>
      </p:sp>
      <p:sp>
        <p:nvSpPr>
          <p:cNvPr id="23" name="Role 1 marker"/>
          <p:cNvSpPr/>
          <p:nvPr/>
        </p:nvSpPr>
        <p:spPr>
          <a:xfrm>
            <a:off x="6400800" y="16916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4" name="Role 1 header"/>
          <p:cNvSpPr txBox="1"/>
          <p:nvPr/>
        </p:nvSpPr>
        <p:spPr>
          <a:xfrm>
            <a:off x="6949440" y="1737360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Funding</a:t>
            </a:r>
          </a:p>
        </p:txBody>
      </p:sp>
      <p:sp>
        <p:nvSpPr>
          <p:cNvPr id="25" name="Role 1 text"/>
          <p:cNvSpPr txBox="1"/>
          <p:nvPr/>
        </p:nvSpPr>
        <p:spPr>
          <a:xfrm>
            <a:off x="6949440" y="2057400"/>
            <a:ext cx="4782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Yen into dollars for a fixed term; swap points are the cost</a:t>
            </a:r>
          </a:p>
        </p:txBody>
      </p:sp>
      <p:sp>
        <p:nvSpPr>
          <p:cNvPr id="26" name="Role 2 marker"/>
          <p:cNvSpPr/>
          <p:nvPr/>
        </p:nvSpPr>
        <p:spPr>
          <a:xfrm>
            <a:off x="6400800" y="265176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7" name="Role 2 header"/>
          <p:cNvSpPr txBox="1"/>
          <p:nvPr/>
        </p:nvSpPr>
        <p:spPr>
          <a:xfrm>
            <a:off x="6949440" y="2697480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Liquidity</a:t>
            </a:r>
          </a:p>
        </p:txBody>
      </p:sp>
      <p:sp>
        <p:nvSpPr>
          <p:cNvPr id="28" name="Role 2 text"/>
          <p:cNvSpPr txBox="1"/>
          <p:nvPr/>
        </p:nvSpPr>
        <p:spPr>
          <a:xfrm>
            <a:off x="6949440" y="3017520"/>
            <a:ext cx="4782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Overnight to 3-month tenors, rolled and resized daily</a:t>
            </a:r>
          </a:p>
        </p:txBody>
      </p:sp>
      <p:sp>
        <p:nvSpPr>
          <p:cNvPr id="29" name="Role 3 marker"/>
          <p:cNvSpPr/>
          <p:nvPr/>
        </p:nvSpPr>
        <p:spPr>
          <a:xfrm>
            <a:off x="6400800" y="361188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0" name="Role 3 header"/>
          <p:cNvSpPr txBox="1"/>
          <p:nvPr/>
        </p:nvSpPr>
        <p:spPr>
          <a:xfrm>
            <a:off x="6949440" y="3657600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Partial hedge</a:t>
            </a:r>
          </a:p>
        </p:txBody>
      </p:sp>
      <p:sp>
        <p:nvSpPr>
          <p:cNvPr id="31" name="Role 3 text"/>
          <p:cNvSpPr txBox="1"/>
          <p:nvPr/>
        </p:nvSpPr>
        <p:spPr>
          <a:xfrm>
            <a:off x="6949440" y="3977640"/>
            <a:ext cx="4782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Far leg locks the rate on principal, to maturity only</a:t>
            </a:r>
          </a:p>
        </p:txBody>
      </p:sp>
      <p:sp>
        <p:nvSpPr>
          <p:cNvPr id="32" name="Risk panel"/>
          <p:cNvSpPr/>
          <p:nvPr/>
        </p:nvSpPr>
        <p:spPr>
          <a:xfrm>
            <a:off x="6400800" y="4892040"/>
            <a:ext cx="5330952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3" name="Risk text"/>
          <p:cNvSpPr txBox="1"/>
          <p:nvPr/>
        </p:nvSpPr>
        <p:spPr>
          <a:xfrm>
            <a:off x="6583680" y="4937760"/>
            <a:ext cx="496519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Risk: </a:t>
            </a:r>
            <a:r>
              <a:rPr sz="1200" b="0">
                <a:solidFill>
                  <a:schemeClr val="tx1"/>
                </a:solidFill>
              </a:rPr>
              <a:t>assets run for years, swaps for weeks. Every roll is a new funding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Yen carry trade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 10% yen rally wipes out 3.6 years of carry, then triggers a cash squeeze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Unhedged $100m funded in yen at 158; carry = Fed upper bound 4.00% − BOJ 1.25%. Source: team analysis</a:t>
            </a:r>
          </a:p>
        </p:txBody>
      </p:sp>
      <p:sp>
        <p:nvSpPr>
          <p:cNvPr id="5" name="Carry header"/>
          <p:cNvSpPr txBox="1"/>
          <p:nvPr/>
        </p:nvSpPr>
        <p:spPr>
          <a:xfrm>
            <a:off x="457200" y="16916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Years of carry lost</a:t>
            </a:r>
          </a:p>
        </p:txBody>
      </p:sp>
      <p:sp>
        <p:nvSpPr>
          <p:cNvPr id="6" name="Carry unit"/>
          <p:cNvSpPr txBox="1"/>
          <p:nvPr/>
        </p:nvSpPr>
        <p:spPr>
          <a:xfrm>
            <a:off x="457200" y="198424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2"/>
                </a:solidFill>
              </a:rPr>
              <a:t>At a 2.75-pt annual carry</a:t>
            </a:r>
          </a:p>
        </p:txBody>
      </p:sp>
      <p:sp>
        <p:nvSpPr>
          <p:cNvPr id="7" name="Carry row 1"/>
          <p:cNvSpPr/>
          <p:nvPr/>
        </p:nvSpPr>
        <p:spPr>
          <a:xfrm>
            <a:off x="457200" y="2377440"/>
            <a:ext cx="5120640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8" name="Carry value 1"/>
          <p:cNvSpPr txBox="1"/>
          <p:nvPr/>
        </p:nvSpPr>
        <p:spPr>
          <a:xfrm>
            <a:off x="685800" y="246888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>
                <a:solidFill>
                  <a:schemeClr val="tx1"/>
                </a:solidFill>
                <a:latin typeface="+mj-lt"/>
              </a:rPr>
              <a:t>1.8</a:t>
            </a:r>
            <a:r>
              <a:rPr sz="1600" b="0">
                <a:solidFill>
                  <a:schemeClr val="tx2"/>
                </a:solidFill>
                <a:latin typeface="+mn-lt"/>
              </a:rPr>
              <a:t> yrs</a:t>
            </a:r>
          </a:p>
        </p:txBody>
      </p:sp>
      <p:sp>
        <p:nvSpPr>
          <p:cNvPr id="9" name="Carry label 1"/>
          <p:cNvSpPr txBox="1"/>
          <p:nvPr/>
        </p:nvSpPr>
        <p:spPr>
          <a:xfrm>
            <a:off x="2377440" y="24688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USD/JPY −5%</a:t>
            </a:r>
          </a:p>
        </p:txBody>
      </p:sp>
      <p:sp>
        <p:nvSpPr>
          <p:cNvPr id="10" name="Carry row 2"/>
          <p:cNvSpPr/>
          <p:nvPr/>
        </p:nvSpPr>
        <p:spPr>
          <a:xfrm>
            <a:off x="457200" y="3520440"/>
            <a:ext cx="5120640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1" name="Carry value 2"/>
          <p:cNvSpPr txBox="1"/>
          <p:nvPr/>
        </p:nvSpPr>
        <p:spPr>
          <a:xfrm>
            <a:off x="685800" y="361188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>
                <a:solidFill>
                  <a:schemeClr val="tx1"/>
                </a:solidFill>
                <a:latin typeface="+mj-lt"/>
              </a:rPr>
              <a:t>3.6</a:t>
            </a:r>
            <a:r>
              <a:rPr sz="1600" b="0">
                <a:solidFill>
                  <a:schemeClr val="tx2"/>
                </a:solidFill>
                <a:latin typeface="+mn-lt"/>
              </a:rPr>
              <a:t> yrs</a:t>
            </a:r>
          </a:p>
        </p:txBody>
      </p:sp>
      <p:sp>
        <p:nvSpPr>
          <p:cNvPr id="12" name="Carry label 2"/>
          <p:cNvSpPr txBox="1"/>
          <p:nvPr/>
        </p:nvSpPr>
        <p:spPr>
          <a:xfrm>
            <a:off x="2377440" y="36118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USD/JPY −10%</a:t>
            </a:r>
          </a:p>
        </p:txBody>
      </p:sp>
      <p:sp>
        <p:nvSpPr>
          <p:cNvPr id="13" name="Carry row 3"/>
          <p:cNvSpPr/>
          <p:nvPr/>
        </p:nvSpPr>
        <p:spPr>
          <a:xfrm>
            <a:off x="457200" y="4663440"/>
            <a:ext cx="5120640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4" name="Carry value 3"/>
          <p:cNvSpPr txBox="1"/>
          <p:nvPr/>
        </p:nvSpPr>
        <p:spPr>
          <a:xfrm>
            <a:off x="685800" y="4754879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4.5</a:t>
            </a:r>
            <a:r>
              <a:rPr sz="1600" b="0">
                <a:solidFill>
                  <a:schemeClr val="tx2"/>
                </a:solidFill>
                <a:latin typeface="+mn-lt"/>
              </a:rPr>
              <a:t> yrs</a:t>
            </a:r>
          </a:p>
        </p:txBody>
      </p:sp>
      <p:sp>
        <p:nvSpPr>
          <p:cNvPr id="15" name="Carry label 3"/>
          <p:cNvSpPr txBox="1"/>
          <p:nvPr/>
        </p:nvSpPr>
        <p:spPr>
          <a:xfrm>
            <a:off x="2377440" y="4754879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USD/JPY −12.5%: Jul–Aug 2024</a:t>
            </a:r>
          </a:p>
        </p:txBody>
      </p:sp>
      <p:sp>
        <p:nvSpPr>
          <p:cNvPr id="16" name="Effects header"/>
          <p:cNvSpPr txBox="1"/>
          <p:nvPr/>
        </p:nvSpPr>
        <p:spPr>
          <a:xfrm>
            <a:off x="6327648" y="1691640"/>
            <a:ext cx="5404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What follows</a:t>
            </a:r>
          </a:p>
        </p:txBody>
      </p:sp>
      <p:sp>
        <p:nvSpPr>
          <p:cNvPr id="17" name="Effects unit"/>
          <p:cNvSpPr txBox="1"/>
          <p:nvPr/>
        </p:nvSpPr>
        <p:spPr>
          <a:xfrm>
            <a:off x="6327648" y="1984248"/>
            <a:ext cx="5404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2"/>
                </a:solidFill>
              </a:rPr>
              <a:t>In order of arrival</a:t>
            </a:r>
          </a:p>
        </p:txBody>
      </p:sp>
      <p:sp>
        <p:nvSpPr>
          <p:cNvPr id="18" name="Effect 1 marker"/>
          <p:cNvSpPr/>
          <p:nvPr/>
        </p:nvSpPr>
        <p:spPr>
          <a:xfrm>
            <a:off x="6327648" y="2414016"/>
            <a:ext cx="310896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Effect 1 text"/>
          <p:cNvSpPr txBox="1"/>
          <p:nvPr/>
        </p:nvSpPr>
        <p:spPr>
          <a:xfrm>
            <a:off x="6784848" y="2377440"/>
            <a:ext cx="49469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FX loss</a:t>
            </a:r>
          </a:p>
          <a:p>
            <a:pPr algn="l"/>
            <a:r>
              <a:rPr sz="1200" b="0">
                <a:solidFill>
                  <a:schemeClr val="tx2"/>
                </a:solidFill>
              </a:rPr>
              <a:t>$100m now ¥14.2bn vs ¥15.8bn owed</a:t>
            </a:r>
          </a:p>
        </p:txBody>
      </p:sp>
      <p:sp>
        <p:nvSpPr>
          <p:cNvPr id="20" name="Effect 2 marker"/>
          <p:cNvSpPr/>
          <p:nvPr/>
        </p:nvSpPr>
        <p:spPr>
          <a:xfrm>
            <a:off x="6327648" y="3099816"/>
            <a:ext cx="310896" cy="3108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Effect 2 text"/>
          <p:cNvSpPr txBox="1"/>
          <p:nvPr/>
        </p:nvSpPr>
        <p:spPr>
          <a:xfrm>
            <a:off x="6784848" y="3063240"/>
            <a:ext cx="49469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Margin calls</a:t>
            </a:r>
          </a:p>
          <a:p>
            <a:pPr algn="l"/>
            <a:r>
              <a:rPr sz="1200" b="0">
                <a:solidFill>
                  <a:schemeClr val="tx2"/>
                </a:solidFill>
              </a:rPr>
              <a:t>Derivative losses settle in cash daily</a:t>
            </a:r>
          </a:p>
        </p:txBody>
      </p:sp>
      <p:sp>
        <p:nvSpPr>
          <p:cNvPr id="22" name="Effect 3 marker"/>
          <p:cNvSpPr/>
          <p:nvPr/>
        </p:nvSpPr>
        <p:spPr>
          <a:xfrm>
            <a:off x="6327648" y="3785615"/>
            <a:ext cx="310896" cy="3108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3" name="Effect 3 text"/>
          <p:cNvSpPr txBox="1"/>
          <p:nvPr/>
        </p:nvSpPr>
        <p:spPr>
          <a:xfrm>
            <a:off x="6784848" y="3749039"/>
            <a:ext cx="49469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Rollover strain</a:t>
            </a:r>
          </a:p>
          <a:p>
            <a:pPr algn="l"/>
            <a:r>
              <a:rPr sz="1200" b="0">
                <a:solidFill>
                  <a:schemeClr val="tx2"/>
                </a:solidFill>
              </a:rPr>
              <a:t>Lines cut; swaps roll on worse terms</a:t>
            </a:r>
          </a:p>
        </p:txBody>
      </p:sp>
      <p:sp>
        <p:nvSpPr>
          <p:cNvPr id="24" name="Effect 4 marker"/>
          <p:cNvSpPr/>
          <p:nvPr/>
        </p:nvSpPr>
        <p:spPr>
          <a:xfrm>
            <a:off x="6327648" y="4471416"/>
            <a:ext cx="310896" cy="3108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5" name="Effect 4 text"/>
          <p:cNvSpPr txBox="1"/>
          <p:nvPr/>
        </p:nvSpPr>
        <p:spPr>
          <a:xfrm>
            <a:off x="6784848" y="4434840"/>
            <a:ext cx="49469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Forced sales</a:t>
            </a:r>
          </a:p>
          <a:p>
            <a:pPr algn="l"/>
            <a:r>
              <a:rPr sz="1200" b="0">
                <a:solidFill>
                  <a:schemeClr val="tx2"/>
                </a:solidFill>
              </a:rPr>
              <a:t>Dollar assets sold into falling markets</a:t>
            </a:r>
          </a:p>
        </p:txBody>
      </p:sp>
      <p:sp>
        <p:nvSpPr>
          <p:cNvPr id="26" name="Effect 5 marker"/>
          <p:cNvSpPr/>
          <p:nvPr/>
        </p:nvSpPr>
        <p:spPr>
          <a:xfrm>
            <a:off x="6327648" y="5157216"/>
            <a:ext cx="310896" cy="3108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7" name="Effect 5 text"/>
          <p:cNvSpPr txBox="1"/>
          <p:nvPr/>
        </p:nvSpPr>
        <p:spPr>
          <a:xfrm>
            <a:off x="6784848" y="5120640"/>
            <a:ext cx="49469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Limit breaches</a:t>
            </a:r>
          </a:p>
          <a:p>
            <a:pPr algn="l"/>
            <a:r>
              <a:rPr sz="1200" b="0">
                <a:solidFill>
                  <a:schemeClr val="tx2"/>
                </a:solidFill>
              </a:rPr>
              <a:t>VaR jumps with volatility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Yen carry trade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Mass unwinds feed on themselves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BIS Bulletin No 90 (Aug 2024); team analysis</a:t>
            </a:r>
          </a:p>
        </p:txBody>
      </p:sp>
      <p:sp>
        <p:nvSpPr>
          <p:cNvPr id="5" name="Loop header"/>
          <p:cNvSpPr txBox="1"/>
          <p:nvPr/>
        </p:nvSpPr>
        <p:spPr>
          <a:xfrm>
            <a:off x="457200" y="16916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The unwind loop</a:t>
            </a:r>
          </a:p>
        </p:txBody>
      </p:sp>
      <p:sp>
        <p:nvSpPr>
          <p:cNvPr id="6" name="Loop trigger"/>
          <p:cNvSpPr/>
          <p:nvPr/>
        </p:nvSpPr>
        <p:spPr>
          <a:xfrm>
            <a:off x="457200" y="2103120"/>
            <a:ext cx="6126480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137160" rIns="137160" tIns="54864" bIns="54864"/>
          <a:lstStyle/>
          <a:p>
            <a:pPr algn="l"/>
            <a:r>
              <a:rPr sz="1200" b="1">
                <a:solidFill>
                  <a:schemeClr val="bg1"/>
                </a:solidFill>
              </a:rPr>
              <a:t>1  Trigger: </a:t>
            </a:r>
            <a:r>
              <a:rPr sz="1200" b="0">
                <a:solidFill>
                  <a:schemeClr val="bg1"/>
                </a:solidFill>
              </a:rPr>
              <a:t>BOJ hike, weak US data or intervention lifts the yen</a:t>
            </a:r>
          </a:p>
        </p:txBody>
      </p:sp>
      <p:sp>
        <p:nvSpPr>
          <p:cNvPr id="7" name="Loop node 2"/>
          <p:cNvSpPr/>
          <p:nvPr/>
        </p:nvSpPr>
        <p:spPr>
          <a:xfrm>
            <a:off x="4114800" y="3063240"/>
            <a:ext cx="2468880" cy="7315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rtlCol="0" anchor="ctr" wrap="square" lIns="137160" rIns="137160" tIns="54864" bIns="54864"/>
          <a:lstStyle/>
          <a:p>
            <a:pPr algn="l"/>
            <a:r>
              <a:rPr sz="1200" b="1">
                <a:solidFill>
                  <a:schemeClr val="tx1"/>
                </a:solidFill>
              </a:rPr>
              <a:t>2  </a:t>
            </a:r>
            <a:r>
              <a:rPr sz="1200" b="0">
                <a:solidFill>
                  <a:schemeClr val="tx1"/>
                </a:solidFill>
              </a:rPr>
              <a:t>Losses and margin calls</a:t>
            </a:r>
          </a:p>
        </p:txBody>
      </p:sp>
      <p:sp>
        <p:nvSpPr>
          <p:cNvPr id="8" name="Loop node 3"/>
          <p:cNvSpPr/>
          <p:nvPr/>
        </p:nvSpPr>
        <p:spPr>
          <a:xfrm>
            <a:off x="4114800" y="4892040"/>
            <a:ext cx="2468880" cy="7315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rtlCol="0" anchor="ctr" wrap="square" lIns="137160" rIns="137160" tIns="54864" bIns="54864"/>
          <a:lstStyle/>
          <a:p>
            <a:pPr algn="l"/>
            <a:r>
              <a:rPr sz="1200" b="1">
                <a:solidFill>
                  <a:schemeClr val="tx1"/>
                </a:solidFill>
              </a:rPr>
              <a:t>3  </a:t>
            </a:r>
            <a:r>
              <a:rPr sz="1200" b="0">
                <a:solidFill>
                  <a:schemeClr val="tx1"/>
                </a:solidFill>
              </a:rPr>
              <a:t>Sell dollar assets, buy yen</a:t>
            </a:r>
          </a:p>
        </p:txBody>
      </p:sp>
      <p:sp>
        <p:nvSpPr>
          <p:cNvPr id="9" name="Loop node 4"/>
          <p:cNvSpPr/>
          <p:nvPr/>
        </p:nvSpPr>
        <p:spPr>
          <a:xfrm>
            <a:off x="457200" y="4892040"/>
            <a:ext cx="246888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rIns="137160" tIns="54864" bIns="54864"/>
          <a:lstStyle/>
          <a:p>
            <a:pPr algn="l"/>
            <a:r>
              <a:rPr sz="1200" b="1">
                <a:solidFill>
                  <a:schemeClr val="bg1"/>
                </a:solidFill>
              </a:rPr>
              <a:t>4  </a:t>
            </a:r>
            <a:r>
              <a:rPr sz="1200" b="0">
                <a:solidFill>
                  <a:schemeClr val="bg1"/>
                </a:solidFill>
              </a:rPr>
              <a:t>Yen rises further</a:t>
            </a:r>
          </a:p>
        </p:txBody>
      </p:sp>
      <p:sp>
        <p:nvSpPr>
          <p:cNvPr id="10" name="Loop node 5"/>
          <p:cNvSpPr/>
          <p:nvPr/>
        </p:nvSpPr>
        <p:spPr>
          <a:xfrm>
            <a:off x="457200" y="3063240"/>
            <a:ext cx="2468880" cy="7315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rtlCol="0" anchor="ctr" wrap="square" lIns="137160" rIns="137160" tIns="54864" bIns="54864"/>
          <a:lstStyle/>
          <a:p>
            <a:pPr algn="l"/>
            <a:r>
              <a:rPr sz="1200" b="1">
                <a:solidFill>
                  <a:schemeClr val="tx1"/>
                </a:solidFill>
              </a:rPr>
              <a:t>5  </a:t>
            </a:r>
            <a:r>
              <a:rPr sz="1200" b="0">
                <a:solidFill>
                  <a:schemeClr val="tx1"/>
                </a:solidFill>
              </a:rPr>
              <a:t>Volatility up; limits tighten</a:t>
            </a:r>
          </a:p>
        </p:txBody>
      </p:sp>
      <p:cxnSp>
        <p:nvCxnSpPr>
          <p:cNvPr id="11" name="Loop arrow 1-2"/>
          <p:cNvCxnSpPr/>
          <p:nvPr/>
        </p:nvCxnSpPr>
        <p:spPr>
          <a:xfrm>
            <a:off x="5349240" y="2697480"/>
            <a:ext cx="0" cy="32004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12" name="Loop arrow 2-3"/>
          <p:cNvCxnSpPr/>
          <p:nvPr/>
        </p:nvCxnSpPr>
        <p:spPr>
          <a:xfrm>
            <a:off x="5349240" y="3840480"/>
            <a:ext cx="0" cy="100584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13" name="Loop arrow 3-4"/>
          <p:cNvCxnSpPr/>
          <p:nvPr/>
        </p:nvCxnSpPr>
        <p:spPr>
          <a:xfrm flipH="1">
            <a:off x="2971800" y="5257800"/>
            <a:ext cx="109728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14" name="Loop arrow 4-5"/>
          <p:cNvCxnSpPr/>
          <p:nvPr/>
        </p:nvCxnSpPr>
        <p:spPr>
          <a:xfrm flipV="1">
            <a:off x="1691640" y="3840480"/>
            <a:ext cx="0" cy="100584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15" name="Loop arrow 5-2"/>
          <p:cNvCxnSpPr/>
          <p:nvPr/>
        </p:nvCxnSpPr>
        <p:spPr>
          <a:xfrm>
            <a:off x="2971800" y="3429000"/>
            <a:ext cx="109728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16" name="Loop label"/>
          <p:cNvSpPr txBox="1"/>
          <p:nvPr/>
        </p:nvSpPr>
        <p:spPr>
          <a:xfrm>
            <a:off x="2148840" y="40233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tx2"/>
                </a:solidFill>
              </a:rPr>
              <a:t>Repeats until positions clear</a:t>
            </a:r>
          </a:p>
        </p:txBody>
      </p:sp>
      <p:sp>
        <p:nvSpPr>
          <p:cNvPr id="17" name="Amplifiers panel"/>
          <p:cNvSpPr/>
          <p:nvPr/>
        </p:nvSpPr>
        <p:spPr>
          <a:xfrm>
            <a:off x="6949440" y="1691640"/>
            <a:ext cx="4782312" cy="4206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8" name="Amplifiers header"/>
          <p:cNvSpPr txBox="1"/>
          <p:nvPr/>
        </p:nvSpPr>
        <p:spPr>
          <a:xfrm>
            <a:off x="7178040" y="1874519"/>
            <a:ext cx="4325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Amplifiers</a:t>
            </a:r>
          </a:p>
        </p:txBody>
      </p:sp>
      <p:sp>
        <p:nvSpPr>
          <p:cNvPr id="19" name="Amplifier 1"/>
          <p:cNvSpPr txBox="1"/>
          <p:nvPr/>
        </p:nvSpPr>
        <p:spPr>
          <a:xfrm>
            <a:off x="7178040" y="2377440"/>
            <a:ext cx="43251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Crowding</a:t>
            </a:r>
          </a:p>
          <a:p>
            <a:pPr algn="l"/>
            <a:r>
              <a:rPr sz="1400" b="0">
                <a:solidFill>
                  <a:schemeClr val="tx2"/>
                </a:solidFill>
              </a:rPr>
              <a:t>Same trade, same stops</a:t>
            </a:r>
          </a:p>
        </p:txBody>
      </p:sp>
      <p:sp>
        <p:nvSpPr>
          <p:cNvPr id="20" name="Amplifier 2"/>
          <p:cNvSpPr txBox="1"/>
          <p:nvPr/>
        </p:nvSpPr>
        <p:spPr>
          <a:xfrm>
            <a:off x="7178040" y="3218688"/>
            <a:ext cx="43251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Leverage</a:t>
            </a:r>
          </a:p>
          <a:p>
            <a:pPr algn="l"/>
            <a:r>
              <a:rPr sz="1400" b="0">
                <a:solidFill>
                  <a:schemeClr val="tx2"/>
                </a:solidFill>
              </a:rPr>
              <a:t>Small moves, large losses</a:t>
            </a:r>
          </a:p>
        </p:txBody>
      </p:sp>
      <p:sp>
        <p:nvSpPr>
          <p:cNvPr id="21" name="Amplifier 3"/>
          <p:cNvSpPr txBox="1"/>
          <p:nvPr/>
        </p:nvSpPr>
        <p:spPr>
          <a:xfrm>
            <a:off x="7178040" y="4059936"/>
            <a:ext cx="43251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Thin liquidity</a:t>
            </a:r>
          </a:p>
          <a:p>
            <a:pPr algn="l"/>
            <a:r>
              <a:rPr sz="1400" b="0">
                <a:solidFill>
                  <a:schemeClr val="tx2"/>
                </a:solidFill>
              </a:rPr>
              <a:t>Dealers step back</a:t>
            </a:r>
          </a:p>
        </p:txBody>
      </p:sp>
      <p:sp>
        <p:nvSpPr>
          <p:cNvPr id="22" name="Amplifier 4"/>
          <p:cNvSpPr txBox="1"/>
          <p:nvPr/>
        </p:nvSpPr>
        <p:spPr>
          <a:xfrm>
            <a:off x="7178040" y="4901184"/>
            <a:ext cx="43251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Contagion</a:t>
            </a:r>
          </a:p>
          <a:p>
            <a:pPr algn="l"/>
            <a:r>
              <a:rPr sz="1400" b="0">
                <a:solidFill>
                  <a:schemeClr val="tx2"/>
                </a:solidFill>
              </a:rPr>
              <a:t>Other carry trades sold too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Yen carry trade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August 2024: the loop played out in five weeks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BIS Bulletin No 90 (Aug 2024); Bank of Japan; Japan MOF; US BLS; Cboe; press reports</a:t>
            </a:r>
          </a:p>
        </p:txBody>
      </p:sp>
      <p:cxnSp>
        <p:nvCxnSpPr>
          <p:cNvPr id="5" name="Timeline line"/>
          <p:cNvCxnSpPr/>
          <p:nvPr/>
        </p:nvCxnSpPr>
        <p:spPr>
          <a:xfrm>
            <a:off x="457200" y="1920240"/>
            <a:ext cx="11274552" cy="0"/>
          </a:xfrm>
          <a:prstGeom prst="line">
            <a:avLst/>
          </a:prstGeom>
          <a:ln w="19050">
            <a:solidFill>
              <a:schemeClr val="accent6"/>
            </a:solidFill>
          </a:ln>
        </p:spPr>
      </p:cxnSp>
      <p:sp>
        <p:nvSpPr>
          <p:cNvPr id="6" name="Event 1 dot"/>
          <p:cNvSpPr/>
          <p:nvPr/>
        </p:nvSpPr>
        <p:spPr>
          <a:xfrm>
            <a:off x="457200" y="1837944"/>
            <a:ext cx="164592" cy="1645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7" name="Event 1 date"/>
          <p:cNvSpPr txBox="1"/>
          <p:nvPr/>
        </p:nvSpPr>
        <p:spPr>
          <a:xfrm>
            <a:off x="457200" y="2103120"/>
            <a:ext cx="16962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3 Jul</a:t>
            </a:r>
          </a:p>
        </p:txBody>
      </p:sp>
      <p:sp>
        <p:nvSpPr>
          <p:cNvPr id="8" name="Event 1 text"/>
          <p:cNvSpPr txBox="1"/>
          <p:nvPr/>
        </p:nvSpPr>
        <p:spPr>
          <a:xfrm>
            <a:off x="457200" y="2377440"/>
            <a:ext cx="16962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USD/JPY ~162, weakest yen since 1986</a:t>
            </a:r>
          </a:p>
        </p:txBody>
      </p:sp>
      <p:sp>
        <p:nvSpPr>
          <p:cNvPr id="9" name="Event 2 dot"/>
          <p:cNvSpPr/>
          <p:nvPr/>
        </p:nvSpPr>
        <p:spPr>
          <a:xfrm>
            <a:off x="2336292" y="1837944"/>
            <a:ext cx="164592" cy="1645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Event 2 date"/>
          <p:cNvSpPr txBox="1"/>
          <p:nvPr/>
        </p:nvSpPr>
        <p:spPr>
          <a:xfrm>
            <a:off x="2336292" y="2103120"/>
            <a:ext cx="16962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11–12 Jul</a:t>
            </a:r>
          </a:p>
        </p:txBody>
      </p:sp>
      <p:sp>
        <p:nvSpPr>
          <p:cNvPr id="11" name="Event 2 text"/>
          <p:cNvSpPr txBox="1"/>
          <p:nvPr/>
        </p:nvSpPr>
        <p:spPr>
          <a:xfrm>
            <a:off x="2336292" y="2377440"/>
            <a:ext cx="16962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MOF buys ¥5.5tn</a:t>
            </a:r>
          </a:p>
        </p:txBody>
      </p:sp>
      <p:sp>
        <p:nvSpPr>
          <p:cNvPr id="12" name="Event 3 dot"/>
          <p:cNvSpPr/>
          <p:nvPr/>
        </p:nvSpPr>
        <p:spPr>
          <a:xfrm>
            <a:off x="4215384" y="1837944"/>
            <a:ext cx="164592" cy="1645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Event 3 date"/>
          <p:cNvSpPr txBox="1"/>
          <p:nvPr/>
        </p:nvSpPr>
        <p:spPr>
          <a:xfrm>
            <a:off x="4215384" y="2103120"/>
            <a:ext cx="16962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31 Jul</a:t>
            </a:r>
          </a:p>
        </p:txBody>
      </p:sp>
      <p:sp>
        <p:nvSpPr>
          <p:cNvPr id="14" name="Event 3 text"/>
          <p:cNvSpPr txBox="1"/>
          <p:nvPr/>
        </p:nvSpPr>
        <p:spPr>
          <a:xfrm>
            <a:off x="4215384" y="2377440"/>
            <a:ext cx="16962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BOJ hikes to 0.25%</a:t>
            </a:r>
          </a:p>
        </p:txBody>
      </p:sp>
      <p:sp>
        <p:nvSpPr>
          <p:cNvPr id="15" name="Event 4 dot"/>
          <p:cNvSpPr/>
          <p:nvPr/>
        </p:nvSpPr>
        <p:spPr>
          <a:xfrm>
            <a:off x="6094476" y="1837944"/>
            <a:ext cx="164592" cy="1645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6" name="Event 4 date"/>
          <p:cNvSpPr txBox="1"/>
          <p:nvPr/>
        </p:nvSpPr>
        <p:spPr>
          <a:xfrm>
            <a:off x="6094476" y="2103120"/>
            <a:ext cx="16962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2 Aug</a:t>
            </a:r>
          </a:p>
        </p:txBody>
      </p:sp>
      <p:sp>
        <p:nvSpPr>
          <p:cNvPr id="17" name="Event 4 text"/>
          <p:cNvSpPr txBox="1"/>
          <p:nvPr/>
        </p:nvSpPr>
        <p:spPr>
          <a:xfrm>
            <a:off x="6094476" y="2377440"/>
            <a:ext cx="16962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Weak US jobs data</a:t>
            </a:r>
          </a:p>
        </p:txBody>
      </p:sp>
      <p:sp>
        <p:nvSpPr>
          <p:cNvPr id="18" name="Event 5 dot"/>
          <p:cNvSpPr/>
          <p:nvPr/>
        </p:nvSpPr>
        <p:spPr>
          <a:xfrm>
            <a:off x="7973568" y="1837944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9" name="Event 5 date"/>
          <p:cNvSpPr txBox="1"/>
          <p:nvPr/>
        </p:nvSpPr>
        <p:spPr>
          <a:xfrm>
            <a:off x="7973568" y="2103120"/>
            <a:ext cx="16962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accent1"/>
                </a:solidFill>
              </a:rPr>
              <a:t>5 Aug</a:t>
            </a:r>
          </a:p>
        </p:txBody>
      </p:sp>
      <p:sp>
        <p:nvSpPr>
          <p:cNvPr id="20" name="Event 5 text"/>
          <p:cNvSpPr txBox="1"/>
          <p:nvPr/>
        </p:nvSpPr>
        <p:spPr>
          <a:xfrm>
            <a:off x="7973568" y="2377440"/>
            <a:ext cx="16962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Nikkei −12.4%; VIX &gt;65</a:t>
            </a:r>
          </a:p>
        </p:txBody>
      </p:sp>
      <p:sp>
        <p:nvSpPr>
          <p:cNvPr id="21" name="Event 6 dot"/>
          <p:cNvSpPr/>
          <p:nvPr/>
        </p:nvSpPr>
        <p:spPr>
          <a:xfrm>
            <a:off x="9852660" y="1837944"/>
            <a:ext cx="164592" cy="1645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2" name="Event 6 date"/>
          <p:cNvSpPr txBox="1"/>
          <p:nvPr/>
        </p:nvSpPr>
        <p:spPr>
          <a:xfrm>
            <a:off x="9852660" y="2103120"/>
            <a:ext cx="16962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6 Aug</a:t>
            </a:r>
          </a:p>
        </p:txBody>
      </p:sp>
      <p:sp>
        <p:nvSpPr>
          <p:cNvPr id="23" name="Event 6 text"/>
          <p:cNvSpPr txBox="1"/>
          <p:nvPr/>
        </p:nvSpPr>
        <p:spPr>
          <a:xfrm>
            <a:off x="9852660" y="2377440"/>
            <a:ext cx="16962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Nikkei +10.2%; calm returns</a:t>
            </a:r>
          </a:p>
        </p:txBody>
      </p:sp>
      <p:sp>
        <p:nvSpPr>
          <p:cNvPr id="24" name="Case 1 panel"/>
          <p:cNvSpPr/>
          <p:nvPr/>
        </p:nvSpPr>
        <p:spPr>
          <a:xfrm>
            <a:off x="457200" y="3154680"/>
            <a:ext cx="2612898" cy="1783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5" name="Case 1 value"/>
          <p:cNvSpPr txBox="1"/>
          <p:nvPr/>
        </p:nvSpPr>
        <p:spPr>
          <a:xfrm>
            <a:off x="658368" y="329184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−12.5%</a:t>
            </a:r>
          </a:p>
        </p:txBody>
      </p:sp>
      <p:sp>
        <p:nvSpPr>
          <p:cNvPr id="26" name="Case 1 label"/>
          <p:cNvSpPr txBox="1"/>
          <p:nvPr/>
        </p:nvSpPr>
        <p:spPr>
          <a:xfrm>
            <a:off x="658368" y="4069080"/>
            <a:ext cx="2210562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USD/JPY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3 Jul–5 Aug</a:t>
            </a:r>
          </a:p>
        </p:txBody>
      </p:sp>
      <p:sp>
        <p:nvSpPr>
          <p:cNvPr id="27" name="Case 2 panel"/>
          <p:cNvSpPr/>
          <p:nvPr/>
        </p:nvSpPr>
        <p:spPr>
          <a:xfrm>
            <a:off x="3344418" y="3154680"/>
            <a:ext cx="2612898" cy="1783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8" name="Case 2 value"/>
          <p:cNvSpPr txBox="1"/>
          <p:nvPr/>
        </p:nvSpPr>
        <p:spPr>
          <a:xfrm>
            <a:off x="3545586" y="329184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−12.4%</a:t>
            </a:r>
          </a:p>
        </p:txBody>
      </p:sp>
      <p:sp>
        <p:nvSpPr>
          <p:cNvPr id="29" name="Case 2 label"/>
          <p:cNvSpPr txBox="1"/>
          <p:nvPr/>
        </p:nvSpPr>
        <p:spPr>
          <a:xfrm>
            <a:off x="3545586" y="4069080"/>
            <a:ext cx="2210562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Nikkei 225, 5 Aug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Worst day since 1987</a:t>
            </a:r>
          </a:p>
        </p:txBody>
      </p:sp>
      <p:sp>
        <p:nvSpPr>
          <p:cNvPr id="30" name="Case 3 panel"/>
          <p:cNvSpPr/>
          <p:nvPr/>
        </p:nvSpPr>
        <p:spPr>
          <a:xfrm>
            <a:off x="6231636" y="3154680"/>
            <a:ext cx="2612898" cy="1783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1" name="Case 3 value"/>
          <p:cNvSpPr txBox="1"/>
          <p:nvPr/>
        </p:nvSpPr>
        <p:spPr>
          <a:xfrm>
            <a:off x="6432803" y="329184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65</a:t>
            </a:r>
          </a:p>
        </p:txBody>
      </p:sp>
      <p:sp>
        <p:nvSpPr>
          <p:cNvPr id="32" name="Case 3 label"/>
          <p:cNvSpPr txBox="1"/>
          <p:nvPr/>
        </p:nvSpPr>
        <p:spPr>
          <a:xfrm>
            <a:off x="6432803" y="4069080"/>
            <a:ext cx="2210562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VIX intraday peak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Highest since Mar 2020</a:t>
            </a:r>
          </a:p>
        </p:txBody>
      </p:sp>
      <p:sp>
        <p:nvSpPr>
          <p:cNvPr id="33" name="Case 4 panel"/>
          <p:cNvSpPr/>
          <p:nvPr/>
        </p:nvSpPr>
        <p:spPr>
          <a:xfrm>
            <a:off x="9118854" y="3154680"/>
            <a:ext cx="2612898" cy="1783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4" name="Case 4 value"/>
          <p:cNvSpPr txBox="1"/>
          <p:nvPr/>
        </p:nvSpPr>
        <p:spPr>
          <a:xfrm>
            <a:off x="9320022" y="329184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&gt;6%</a:t>
            </a:r>
          </a:p>
        </p:txBody>
      </p:sp>
      <p:sp>
        <p:nvSpPr>
          <p:cNvPr id="35" name="Case 4 label"/>
          <p:cNvSpPr txBox="1"/>
          <p:nvPr/>
        </p:nvSpPr>
        <p:spPr>
          <a:xfrm>
            <a:off x="9320022" y="4069080"/>
            <a:ext cx="2210562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Mexican peso fall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Contagion to other carry</a:t>
            </a:r>
          </a:p>
        </p:txBody>
      </p:sp>
      <p:sp>
        <p:nvSpPr>
          <p:cNvPr id="36" name="BIS verdict"/>
          <p:cNvSpPr txBox="1"/>
          <p:nvPr/>
        </p:nvSpPr>
        <p:spPr>
          <a:xfrm>
            <a:off x="457200" y="51663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BIS: </a:t>
            </a:r>
            <a:r>
              <a:rPr sz="1400" b="0" i="1">
                <a:solidFill>
                  <a:schemeClr val="tx1"/>
                </a:solidFill>
              </a:rPr>
              <a:t>"volatility exacerbated by procyclical deleveraging and margin increases"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Policy response</a:t>
            </a:r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BOJ sets the price of yen; the MOF buys it</a:t>
            </a:r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BOJ rate policy vs MOF intervention</a:t>
            </a:r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As of 29 October 2026</a:t>
            </a: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7295" cy="2788920"/>
        </p:xfrm>
        <a:graphic>
          <a:graphicData uri="http://schemas.openxmlformats.org/drawingml/2006/table">
            <a:tbl>
              <a:tblPr/>
              <a:tblGrid>
                <a:gridCol w="1920240"/>
                <a:gridCol w="4678527"/>
                <a:gridCol w="467852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1C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BOJ: interest rates</a:t>
                      </a: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1C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MOF: FX intervention</a:t>
                      </a: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1C2C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Decides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Policy Board; 8 scheduled meetings a year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Finance Minister; BOJ executes as agent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Goal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2% inflation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Curb disorderly FX moves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Tool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Short-term policy rate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Sell dollar reserves, buy yen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Channel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Indirect: rate gap and carry cost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Direct: absorbs yen selling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  <a:solidFill>
                      <a:srgbClr val="E6EC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Pre-announced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Unannounced; disclosed monthly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Effect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Durable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Fades unless fundamentals shift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Recent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−0.1% to 1.25% since Mar 2024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¥27.1tn in 2026, incl. joint US action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Bank of Japan; Japan Ministry of Finance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Policy response</a:t>
            </a:r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Record ¥27tn of yen buying in 2026, yet USD/JPY is back near 158</a:t>
            </a:r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Yen-buying intervention by episode</a:t>
            </a:r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¥ trillion</a:t>
            </a:r>
          </a:p>
        </p:txBody>
      </p:sp>
      <p:graphicFrame>
        <p:nvGraphicFramePr>
          <p:cNvPr id="7" name="Chart"/>
          <p:cNvGraphicFramePr>
            <a:graphicFrameLocks noGrp="1"/>
          </p:cNvGraphicFramePr>
          <p:nvPr>
            <p:ph type="chart" idx="105" hasCustomPrompt="1"/>
          </p:nvPr>
        </p:nvGraphicFramePr>
        <p:xfrm>
          <a:off x="457200" y="2331720"/>
          <a:ext cx="7498079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Jul–Aug 2026 = 30 Jul–26 Aug, incl. joint action with US Treasury on 31 Jul. Source: Japan MOF; Federal Reserve H.10</a:t>
            </a:r>
          </a:p>
        </p:txBody>
      </p:sp>
      <p:sp>
        <p:nvSpPr>
          <p:cNvPr id="9" name="Intervention panel"/>
          <p:cNvSpPr/>
          <p:nvPr/>
        </p:nvSpPr>
        <p:spPr>
          <a:xfrm>
            <a:off x="8348472" y="1691640"/>
            <a:ext cx="3383280" cy="4206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Intervention header"/>
          <p:cNvSpPr txBox="1"/>
          <p:nvPr/>
        </p:nvSpPr>
        <p:spPr>
          <a:xfrm>
            <a:off x="8577072" y="187451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Power and limits</a:t>
            </a:r>
          </a:p>
        </p:txBody>
      </p:sp>
      <p:sp>
        <p:nvSpPr>
          <p:cNvPr id="11" name="Intervention text"/>
          <p:cNvSpPr txBox="1"/>
          <p:nvPr/>
        </p:nvSpPr>
        <p:spPr>
          <a:xfrm>
            <a:off x="8577072" y="2331720"/>
            <a:ext cx="29260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1">
                <a:solidFill>
                  <a:schemeClr val="tx1"/>
                </a:solidFill>
              </a:rPr>
              <a:t>Can: </a:t>
            </a:r>
            <a:r>
              <a:rPr sz="1400" b="0">
                <a:solidFill>
                  <a:schemeClr val="tx1"/>
                </a:solidFill>
              </a:rPr>
              <a:t>cut 4–5 yen in a day (164 → 159, 30 Jul 2026)</a:t>
            </a:r>
          </a:p>
          <a:p>
            <a:pPr algn="l" marL="146304" indent="-146304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1">
                <a:solidFill>
                  <a:schemeClr val="tx1"/>
                </a:solidFill>
              </a:rPr>
              <a:t>Cannot: </a:t>
            </a:r>
            <a:r>
              <a:rPr sz="1400" b="0">
                <a:solidFill>
                  <a:schemeClr val="tx1"/>
                </a:solidFill>
              </a:rPr>
              <a:t>offset a 2.75-pt rate gap</a:t>
            </a:r>
          </a:p>
          <a:p>
            <a:pPr algn="l" marL="146304" indent="-146304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1">
                <a:solidFill>
                  <a:schemeClr val="tx1"/>
                </a:solidFill>
              </a:rPr>
              <a:t>Next: </a:t>
            </a:r>
            <a:r>
              <a:rPr sz="1400" b="0">
                <a:solidFill>
                  <a:schemeClr val="tx1"/>
                </a:solidFill>
              </a:rPr>
              <a:t>Fed FIMA repo: dollars without selling Treasuries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>
            <a:spLocks noGrp="1"/>
          </p:cNvSpPr>
          <p:nvPr>
            <p:ph type="body" idx="102" hasCustomPrompt="1"/>
          </p:nvPr>
        </p:nvSpPr>
        <p:spPr>
          <a:xfrm>
            <a:off x="457200" y="1737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ZAR</a:t>
            </a:r>
          </a:p>
        </p:txBody>
      </p:sp>
      <p:sp>
        <p:nvSpPr>
          <p:cNvPr id="3" name="Section title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Comparison case: the rand carry trade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Rand comparison</a:t>
            </a:r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rand paid ~5.5% a year, yet fell 57% against the dollar: a 44% loss in 2011–15</a:t>
            </a:r>
          </a:p>
        </p:txBody>
      </p:sp>
      <p:sp>
        <p:nvSpPr>
          <p:cNvPr id="5" name="Left 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Return on rand deposits, USD investor</a:t>
            </a:r>
          </a:p>
        </p:txBody>
      </p:sp>
      <p:sp>
        <p:nvSpPr>
          <p:cNvPr id="6" name="Left 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% cumulative, 2011–15</a:t>
            </a:r>
          </a:p>
        </p:txBody>
      </p:sp>
      <p:graphicFrame>
        <p:nvGraphicFramePr>
          <p:cNvPr id="7" name="Left chart"/>
          <p:cNvGraphicFramePr>
            <a:graphicFrameLocks noGrp="1"/>
          </p:cNvGraphicFramePr>
          <p:nvPr>
            <p:ph type="chart" idx="105" hasCustomPrompt="1"/>
          </p:nvPr>
        </p:nvGraphicFramePr>
        <p:xfrm>
          <a:off x="457200" y="2331720"/>
          <a:ext cx="5410048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ight exhibit header"/>
          <p:cNvSpPr>
            <a:spLocks noGrp="1"/>
          </p:cNvSpPr>
          <p:nvPr>
            <p:ph type="body" idx="106" hasCustomPrompt="1"/>
          </p:nvPr>
        </p:nvSpPr>
        <p:spPr>
          <a:xfrm>
            <a:off x="6324448" y="16916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Rand per US dollar</a:t>
            </a:r>
          </a:p>
        </p:txBody>
      </p:sp>
      <p:sp>
        <p:nvSpPr>
          <p:cNvPr id="9" name="Right unit of measure"/>
          <p:cNvSpPr>
            <a:spLocks noGrp="1"/>
          </p:cNvSpPr>
          <p:nvPr>
            <p:ph type="body" idx="107" hasCustomPrompt="1"/>
          </p:nvPr>
        </p:nvSpPr>
        <p:spPr>
          <a:xfrm>
            <a:off x="6324448" y="1984248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End of year, 2010–25; 26 = 26 Oct 2026</a:t>
            </a:r>
          </a:p>
        </p:txBody>
      </p:sp>
      <p:graphicFrame>
        <p:nvGraphicFramePr>
          <p:cNvPr id="10" name="Right chart"/>
          <p:cNvGraphicFramePr>
            <a:graphicFrameLocks noGrp="1"/>
          </p:cNvGraphicFramePr>
          <p:nvPr>
            <p:ph type="chart" idx="108" hasCustomPrompt="1"/>
          </p:nvPr>
        </p:nvGraphicFramePr>
        <p:xfrm>
          <a:off x="6324448" y="2331720"/>
          <a:ext cx="5410048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ource and notes"/>
          <p:cNvSpPr>
            <a:spLocks noGrp="1"/>
          </p:cNvSpPr>
          <p:nvPr>
            <p:ph type="body" idx="109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Illustrative; interest at SARB repo rate (annual average), USD/ZAR 6.63 → 15.54. Source: FRED (OECD); SARB; Pound Sterling Live; team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Rand comparison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Crowded retail longs turned the rand's slide into a crash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Fin24/Bloomberg (11 Jan 2016); Taiwan FSC via CNA (Jul 2021) and CTEE (Oct 2024); Cnyes (Aug 2024)</a:t>
            </a:r>
          </a:p>
        </p:txBody>
      </p:sp>
      <p:sp>
        <p:nvSpPr>
          <p:cNvPr id="5" name="Panel 1 header"/>
          <p:cNvSpPr txBox="1"/>
          <p:nvPr/>
        </p:nvSpPr>
        <p:spPr>
          <a:xfrm>
            <a:off x="457200" y="1691640"/>
            <a:ext cx="54543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Japan: FX margin traders</a:t>
            </a:r>
          </a:p>
        </p:txBody>
      </p:sp>
      <p:sp>
        <p:nvSpPr>
          <p:cNvPr id="6" name="Panel 1 unit"/>
          <p:cNvSpPr txBox="1"/>
          <p:nvPr/>
        </p:nvSpPr>
        <p:spPr>
          <a:xfrm>
            <a:off x="457200" y="1984248"/>
            <a:ext cx="54543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2"/>
                </a:solidFill>
              </a:rPr>
              <a:t>11 January 2016</a:t>
            </a:r>
          </a:p>
        </p:txBody>
      </p:sp>
      <p:sp>
        <p:nvSpPr>
          <p:cNvPr id="7" name="Panel 1 row 1"/>
          <p:cNvSpPr/>
          <p:nvPr/>
        </p:nvSpPr>
        <p:spPr>
          <a:xfrm>
            <a:off x="457200" y="2377440"/>
            <a:ext cx="5454396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8" name="Panel 1 value 1"/>
          <p:cNvSpPr txBox="1"/>
          <p:nvPr/>
        </p:nvSpPr>
        <p:spPr>
          <a:xfrm>
            <a:off x="685800" y="246888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chemeClr val="accent1"/>
                </a:solidFill>
                <a:latin typeface="+mj-lt"/>
              </a:rPr>
              <a:t>−9%</a:t>
            </a:r>
          </a:p>
        </p:txBody>
      </p:sp>
      <p:sp>
        <p:nvSpPr>
          <p:cNvPr id="9" name="Panel 1 text 1"/>
          <p:cNvSpPr txBox="1"/>
          <p:nvPr/>
        </p:nvSpPr>
        <p:spPr>
          <a:xfrm>
            <a:off x="3108960" y="2468880"/>
            <a:ext cx="25740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in minutes; record R17.99/$</a:t>
            </a:r>
          </a:p>
        </p:txBody>
      </p:sp>
      <p:sp>
        <p:nvSpPr>
          <p:cNvPr id="10" name="Panel 1 row 2"/>
          <p:cNvSpPr/>
          <p:nvPr/>
        </p:nvSpPr>
        <p:spPr>
          <a:xfrm>
            <a:off x="457200" y="3520440"/>
            <a:ext cx="5454396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1" name="Panel 1 value 2"/>
          <p:cNvSpPr txBox="1"/>
          <p:nvPr/>
        </p:nvSpPr>
        <p:spPr>
          <a:xfrm>
            <a:off x="685800" y="361188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chemeClr val="accent1"/>
                </a:solidFill>
                <a:latin typeface="+mj-lt"/>
              </a:rPr>
              <a:t>07:00</a:t>
            </a:r>
          </a:p>
        </p:txBody>
      </p:sp>
      <p:sp>
        <p:nvSpPr>
          <p:cNvPr id="12" name="Panel 1 text 2"/>
          <p:cNvSpPr txBox="1"/>
          <p:nvPr/>
        </p:nvSpPr>
        <p:spPr>
          <a:xfrm>
            <a:off x="3108960" y="3611880"/>
            <a:ext cx="25740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Tokyo open: stop-losses and margin calls hit thin liquidity</a:t>
            </a:r>
          </a:p>
        </p:txBody>
      </p:sp>
      <p:sp>
        <p:nvSpPr>
          <p:cNvPr id="13" name="Panel 1 row 3"/>
          <p:cNvSpPr/>
          <p:nvPr/>
        </p:nvSpPr>
        <p:spPr>
          <a:xfrm>
            <a:off x="457200" y="4663440"/>
            <a:ext cx="5454396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4" name="Panel 1 value 3"/>
          <p:cNvSpPr txBox="1"/>
          <p:nvPr/>
        </p:nvSpPr>
        <p:spPr>
          <a:xfrm>
            <a:off x="685800" y="4754879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chemeClr val="accent1"/>
                </a:solidFill>
                <a:latin typeface="+mj-lt"/>
              </a:rPr>
              <a:t>2×</a:t>
            </a:r>
          </a:p>
        </p:txBody>
      </p:sp>
      <p:sp>
        <p:nvSpPr>
          <p:cNvPr id="15" name="Panel 1 text 3"/>
          <p:cNvSpPr txBox="1"/>
          <p:nvPr/>
        </p:nvSpPr>
        <p:spPr>
          <a:xfrm>
            <a:off x="3108960" y="4754879"/>
            <a:ext cx="25740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retail rand positions, Jun–Dec 2015; third only to $ and £</a:t>
            </a:r>
          </a:p>
        </p:txBody>
      </p:sp>
      <p:sp>
        <p:nvSpPr>
          <p:cNvPr id="16" name="Panel 2 header"/>
          <p:cNvSpPr txBox="1"/>
          <p:nvPr/>
        </p:nvSpPr>
        <p:spPr>
          <a:xfrm>
            <a:off x="6277356" y="1691640"/>
            <a:ext cx="54543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Taiwan: rand-class funds</a:t>
            </a:r>
          </a:p>
        </p:txBody>
      </p:sp>
      <p:sp>
        <p:nvSpPr>
          <p:cNvPr id="17" name="Panel 2 unit"/>
          <p:cNvSpPr txBox="1"/>
          <p:nvPr/>
        </p:nvSpPr>
        <p:spPr>
          <a:xfrm>
            <a:off x="6277356" y="1984248"/>
            <a:ext cx="54543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2"/>
                </a:solidFill>
              </a:rPr>
              <a:t>Retail income products; mostly global bonds, so FX is the main risk</a:t>
            </a:r>
          </a:p>
        </p:txBody>
      </p:sp>
      <p:sp>
        <p:nvSpPr>
          <p:cNvPr id="18" name="Panel 2 row 1"/>
          <p:cNvSpPr/>
          <p:nvPr/>
        </p:nvSpPr>
        <p:spPr>
          <a:xfrm>
            <a:off x="6277356" y="2377440"/>
            <a:ext cx="5454396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9" name="Panel 2 value 1"/>
          <p:cNvSpPr txBox="1"/>
          <p:nvPr/>
        </p:nvSpPr>
        <p:spPr>
          <a:xfrm>
            <a:off x="6505956" y="246888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chemeClr val="accent1"/>
                </a:solidFill>
                <a:latin typeface="+mj-lt"/>
              </a:rPr>
              <a:t>NT$334bn</a:t>
            </a:r>
          </a:p>
        </p:txBody>
      </p:sp>
      <p:sp>
        <p:nvSpPr>
          <p:cNvPr id="20" name="Panel 2 text 1"/>
          <p:cNvSpPr txBox="1"/>
          <p:nvPr/>
        </p:nvSpPr>
        <p:spPr>
          <a:xfrm>
            <a:off x="8929116" y="2468880"/>
            <a:ext cx="25740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in rand-class funds, Jun 2021</a:t>
            </a:r>
          </a:p>
        </p:txBody>
      </p:sp>
      <p:sp>
        <p:nvSpPr>
          <p:cNvPr id="21" name="Panel 2 row 2"/>
          <p:cNvSpPr/>
          <p:nvPr/>
        </p:nvSpPr>
        <p:spPr>
          <a:xfrm>
            <a:off x="6277356" y="3520440"/>
            <a:ext cx="5454396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2" name="Panel 2 value 2"/>
          <p:cNvSpPr txBox="1"/>
          <p:nvPr/>
        </p:nvSpPr>
        <p:spPr>
          <a:xfrm>
            <a:off x="6505956" y="361188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chemeClr val="accent1"/>
                </a:solidFill>
                <a:latin typeface="+mj-lt"/>
              </a:rPr>
              <a:t>NT$267bn</a:t>
            </a:r>
          </a:p>
        </p:txBody>
      </p:sp>
      <p:sp>
        <p:nvSpPr>
          <p:cNvPr id="23" name="Panel 2 text 2"/>
          <p:cNvSpPr txBox="1"/>
          <p:nvPr/>
        </p:nvSpPr>
        <p:spPr>
          <a:xfrm>
            <a:off x="8929116" y="3611880"/>
            <a:ext cx="25740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still held, Sep 2024</a:t>
            </a:r>
          </a:p>
        </p:txBody>
      </p:sp>
      <p:sp>
        <p:nvSpPr>
          <p:cNvPr id="24" name="Panel 2 row 3"/>
          <p:cNvSpPr/>
          <p:nvPr/>
        </p:nvSpPr>
        <p:spPr>
          <a:xfrm>
            <a:off x="6277356" y="4663440"/>
            <a:ext cx="5454396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5" name="Panel 2 value 3"/>
          <p:cNvSpPr txBox="1"/>
          <p:nvPr/>
        </p:nvSpPr>
        <p:spPr>
          <a:xfrm>
            <a:off x="6505956" y="4754879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chemeClr val="accent1"/>
                </a:solidFill>
                <a:latin typeface="+mj-lt"/>
              </a:rPr>
              <a:t>#2</a:t>
            </a:r>
          </a:p>
        </p:txBody>
      </p:sp>
      <p:sp>
        <p:nvSpPr>
          <p:cNvPr id="26" name="Panel 2 text 3"/>
          <p:cNvSpPr txBox="1"/>
          <p:nvPr/>
        </p:nvSpPr>
        <p:spPr>
          <a:xfrm>
            <a:off x="8929116" y="4754879"/>
            <a:ext cx="25740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fund currency after the US dollar, Jul 2024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Rand comparison</a:t>
            </a:r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Same trade, mirror-image failure: the yen spikes, the rand slides</a:t>
            </a:r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Yen vs rand carry trade</a:t>
            </a:r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Key features</a:t>
            </a: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7295" cy="2788920"/>
        </p:xfrm>
        <a:graphic>
          <a:graphicData uri="http://schemas.openxmlformats.org/drawingml/2006/table">
            <a:tbl>
              <a:tblPr/>
              <a:tblGrid>
                <a:gridCol w="1920240"/>
                <a:gridCol w="4678527"/>
                <a:gridCol w="467852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1C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Yen carry trade</a:t>
                      </a: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1C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Rand carry trade</a:t>
                      </a: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1C2C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Currency role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Funding: borrowed and sold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Target: bought for yield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Carry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2.75–5.6 pts (Fed–BOJ)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~5.5 pts (SARB–Fed, 2011–15)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Main holders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Funds and banks, via swaps and forwards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Retail: Japanese FX traders, Taiwanese fund buyers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Breaks when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Yen jumps: BOJ hike, intervention, risk-off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Rand slides: commodities, politics, growth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Failure mode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Sudden: −12.5% in a month (2024)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Grinding: −57% in five years, plus flash crashes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  <a:solidFill>
                      <a:srgbClr val="E6EC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Lesson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Funding and crowding risk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Yield is not return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Federal Reserve; Bank of Japan; SARB; FRED; Fin24; team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Implications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Size carry positions for shocks, crowding and rollover, not for the yield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Blue = priorities. Source: team analysis</a:t>
            </a:r>
          </a:p>
        </p:txBody>
      </p:sp>
      <p:sp>
        <p:nvSpPr>
          <p:cNvPr id="5" name="Card 1"/>
          <p:cNvSpPr/>
          <p:nvPr/>
        </p:nvSpPr>
        <p:spPr>
          <a:xfrm>
            <a:off x="457200" y="169164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6" name="Card 1 marker"/>
          <p:cNvSpPr/>
          <p:nvPr/>
        </p:nvSpPr>
        <p:spPr>
          <a:xfrm>
            <a:off x="685800" y="19202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Card 1 header"/>
          <p:cNvSpPr txBox="1"/>
          <p:nvPr/>
        </p:nvSpPr>
        <p:spPr>
          <a:xfrm>
            <a:off x="685800" y="246888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Yen shock</a:t>
            </a:r>
          </a:p>
        </p:txBody>
      </p:sp>
      <p:sp>
        <p:nvSpPr>
          <p:cNvPr id="8" name="Card 1 text"/>
          <p:cNvSpPr txBox="1"/>
          <p:nvPr/>
        </p:nvSpPr>
        <p:spPr>
          <a:xfrm>
            <a:off x="685800" y="283464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Stress −10% to −15% in a week, plus intervention gaps</a:t>
            </a:r>
          </a:p>
        </p:txBody>
      </p:sp>
      <p:sp>
        <p:nvSpPr>
          <p:cNvPr id="9" name="Card 2"/>
          <p:cNvSpPr/>
          <p:nvPr/>
        </p:nvSpPr>
        <p:spPr>
          <a:xfrm>
            <a:off x="4306824" y="169164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Card 2 marker"/>
          <p:cNvSpPr/>
          <p:nvPr/>
        </p:nvSpPr>
        <p:spPr>
          <a:xfrm>
            <a:off x="4535424" y="19202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Card 2 header"/>
          <p:cNvSpPr txBox="1"/>
          <p:nvPr/>
        </p:nvSpPr>
        <p:spPr>
          <a:xfrm>
            <a:off x="4535424" y="246888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Concentration</a:t>
            </a:r>
          </a:p>
        </p:txBody>
      </p:sp>
      <p:sp>
        <p:nvSpPr>
          <p:cNvPr id="12" name="Card 2 text"/>
          <p:cNvSpPr txBox="1"/>
          <p:nvPr/>
        </p:nvSpPr>
        <p:spPr>
          <a:xfrm>
            <a:off x="4535424" y="283464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Cap single counterparties, tenors and maturity dates</a:t>
            </a:r>
          </a:p>
        </p:txBody>
      </p:sp>
      <p:sp>
        <p:nvSpPr>
          <p:cNvPr id="13" name="Card 3"/>
          <p:cNvSpPr/>
          <p:nvPr/>
        </p:nvSpPr>
        <p:spPr>
          <a:xfrm>
            <a:off x="8156448" y="169164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4" name="Card 3 marker"/>
          <p:cNvSpPr/>
          <p:nvPr/>
        </p:nvSpPr>
        <p:spPr>
          <a:xfrm>
            <a:off x="8385048" y="19202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Card 3 header"/>
          <p:cNvSpPr txBox="1"/>
          <p:nvPr/>
        </p:nvSpPr>
        <p:spPr>
          <a:xfrm>
            <a:off x="8385048" y="246888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Rollover</a:t>
            </a:r>
          </a:p>
        </p:txBody>
      </p:sp>
      <p:sp>
        <p:nvSpPr>
          <p:cNvPr id="16" name="Card 3 text"/>
          <p:cNvSpPr txBox="1"/>
          <p:nvPr/>
        </p:nvSpPr>
        <p:spPr>
          <a:xfrm>
            <a:off x="8385048" y="283464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Limit 30- and 90-day roll needs against long-dated assets</a:t>
            </a:r>
          </a:p>
        </p:txBody>
      </p:sp>
      <p:sp>
        <p:nvSpPr>
          <p:cNvPr id="17" name="Card 4"/>
          <p:cNvSpPr/>
          <p:nvPr/>
        </p:nvSpPr>
        <p:spPr>
          <a:xfrm>
            <a:off x="457200" y="388620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8" name="Card 4 marker"/>
          <p:cNvSpPr/>
          <p:nvPr/>
        </p:nvSpPr>
        <p:spPr>
          <a:xfrm>
            <a:off x="685800" y="4114800"/>
            <a:ext cx="384048" cy="384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" name="Card 4 header"/>
          <p:cNvSpPr txBox="1"/>
          <p:nvPr/>
        </p:nvSpPr>
        <p:spPr>
          <a:xfrm>
            <a:off x="685800" y="466344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Swap points and basis</a:t>
            </a:r>
          </a:p>
        </p:txBody>
      </p:sp>
      <p:sp>
        <p:nvSpPr>
          <p:cNvPr id="20" name="Card 4 text"/>
          <p:cNvSpPr txBox="1"/>
          <p:nvPr/>
        </p:nvSpPr>
        <p:spPr>
          <a:xfrm>
            <a:off x="685800" y="502920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Limit sensitivity to rate-gap and dollar-basis moves</a:t>
            </a:r>
          </a:p>
        </p:txBody>
      </p:sp>
      <p:sp>
        <p:nvSpPr>
          <p:cNvPr id="21" name="Card 5"/>
          <p:cNvSpPr/>
          <p:nvPr/>
        </p:nvSpPr>
        <p:spPr>
          <a:xfrm>
            <a:off x="4306824" y="388620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2" name="Card 5 marker"/>
          <p:cNvSpPr/>
          <p:nvPr/>
        </p:nvSpPr>
        <p:spPr>
          <a:xfrm>
            <a:off x="4535424" y="4114800"/>
            <a:ext cx="384048" cy="384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" name="Card 5 header"/>
          <p:cNvSpPr txBox="1"/>
          <p:nvPr/>
        </p:nvSpPr>
        <p:spPr>
          <a:xfrm>
            <a:off x="4535424" y="466344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Margin liquidity</a:t>
            </a:r>
          </a:p>
        </p:txBody>
      </p:sp>
      <p:sp>
        <p:nvSpPr>
          <p:cNvPr id="24" name="Card 5 text"/>
          <p:cNvSpPr txBox="1"/>
          <p:nvPr/>
        </p:nvSpPr>
        <p:spPr>
          <a:xfrm>
            <a:off x="4535424" y="502920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Hold cash for stressed calls, not average days</a:t>
            </a:r>
          </a:p>
        </p:txBody>
      </p:sp>
      <p:sp>
        <p:nvSpPr>
          <p:cNvPr id="25" name="Card 6"/>
          <p:cNvSpPr/>
          <p:nvPr/>
        </p:nvSpPr>
        <p:spPr>
          <a:xfrm>
            <a:off x="8156448" y="388620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6" name="Card 6 marker"/>
          <p:cNvSpPr/>
          <p:nvPr/>
        </p:nvSpPr>
        <p:spPr>
          <a:xfrm>
            <a:off x="8385048" y="41148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7" name="Card 6 header"/>
          <p:cNvSpPr txBox="1"/>
          <p:nvPr/>
        </p:nvSpPr>
        <p:spPr>
          <a:xfrm>
            <a:off x="8385048" y="466344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Yield vs return</a:t>
            </a:r>
          </a:p>
        </p:txBody>
      </p:sp>
      <p:sp>
        <p:nvSpPr>
          <p:cNvPr id="28" name="Card 6 text"/>
          <p:cNvSpPr txBox="1"/>
          <p:nvPr/>
        </p:nvSpPr>
        <p:spPr>
          <a:xfrm>
            <a:off x="8385048" y="502920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Judge carry net of FX: the rand lesson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>
            <a:spLocks noGrp="1"/>
          </p:cNvSpPr>
          <p:nvPr>
            <p:ph type="body" idx="100" hasCustomPrompt="1"/>
          </p:nvPr>
        </p:nvSpPr>
        <p:spPr>
          <a:xfrm>
            <a:off x="45720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Key message</a:t>
            </a:r>
          </a:p>
        </p:txBody>
      </p:sp>
      <p:sp>
        <p:nvSpPr>
          <p:cNvPr id="3" name="Statement"/>
          <p:cNvSpPr>
            <a:spLocks noGrp="1"/>
          </p:cNvSpPr>
          <p:nvPr>
            <p:ph type="body" idx="101" hasCustomPrompt="1"/>
          </p:nvPr>
        </p:nvSpPr>
        <p:spPr>
          <a:xfrm>
            <a:off x="457200" y="219456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Carry pays a small, steady gap and can lose years of it in days, in yen and rand alike</a:t>
            </a:r>
          </a:p>
        </p:txBody>
      </p:sp>
      <p:sp>
        <p:nvSpPr>
          <p:cNvPr id="4" name="Supporting line"/>
          <p:cNvSpPr>
            <a:spLocks noGrp="1"/>
          </p:cNvSpPr>
          <p:nvPr>
            <p:ph type="body" idx="102" hasCustomPrompt="1"/>
          </p:nvPr>
        </p:nvSpPr>
        <p:spPr>
          <a:xfrm>
            <a:off x="457200" y="4800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Fed 3.75–4.00% vs BOJ 1.25%: the incentive, and the risk, remain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lting Classic">
  <a:themeElements>
    <a:clrScheme name="Consulting Classic">
      <a:dk1>
        <a:srgbClr val="051C2C"/>
      </a:dk1>
      <a:lt1>
        <a:srgbClr val="FFFFFF"/>
      </a:lt1>
      <a:dk2>
        <a:srgbClr val="5B6770"/>
      </a:dk2>
      <a:lt2>
        <a:srgbClr val="F0F2F5"/>
      </a:lt2>
      <a:accent1>
        <a:srgbClr val="2251FF"/>
      </a:accent1>
      <a:accent2>
        <a:srgbClr val="051C2C"/>
      </a:accent2>
      <a:accent3>
        <a:srgbClr val="00A9F4"/>
      </a:accent3>
      <a:accent4>
        <a:srgbClr val="AFC3FF"/>
      </a:accent4>
      <a:accent5>
        <a:srgbClr val="8A96A0"/>
      </a:accent5>
      <a:accent6>
        <a:srgbClr val="D0D5DA"/>
      </a:accent6>
      <a:hlink>
        <a:srgbClr val="2251FF"/>
      </a:hlink>
      <a:folHlink>
        <a:srgbClr val="5B6770"/>
      </a:folHlink>
    </a:clrScheme>
    <a:fontScheme name="Consulting Classic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1721</Words>
  <Application>Microsoft Office PowerPoint</Application>
  <PresentationFormat>Widescreen</PresentationFormat>
  <Paragraphs>359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Georgia</vt:lpstr>
      <vt:lpstr>Consulting Classic</vt:lpstr>
      <vt:lpstr>Consulting presentation template</vt:lpstr>
      <vt:lpstr>Contents</vt:lpstr>
      <vt:lpstr>Writing the storyline</vt:lpstr>
      <vt:lpstr>Executive summary</vt:lpstr>
      <vt:lpstr>Topic titles describe a slide; action titles tell the reader what to conclude from it</vt:lpstr>
      <vt:lpstr>Body text supports the title with evidence written in short, parallel, plain-language points</vt:lpstr>
      <vt:lpstr>Structure the storyline as situation, complication and resolution before building a single slide</vt:lpstr>
      <vt:lpstr>Building exhibits</vt:lpstr>
      <vt:lpstr>Online is expected to deliver almost two-thirds of category growth through 2030</vt:lpstr>
      <vt:lpstr>Delivery speed, not price, is the main reason customers would consider switching provider</vt:lpstr>
      <vt:lpstr>Volumes grew 18% while gross margin fell three points, so growth has not yet paid for itself</vt:lpstr>
      <vt:lpstr>Option B offers the best balance of impact, cost and risk, and is recommended for the pilot</vt:lpstr>
      <vt:lpstr>Four of the ten initiatives combine high value with high feasibility and should be launched first</vt:lpstr>
      <vt:lpstr>A three-phase plan delivers the first measurable results within 12 weeks</vt:lpstr>
      <vt:lpstr>PowerPoint Presentation</vt:lpstr>
      <vt:lpstr>Slide master and layout reference</vt:lpstr>
      <vt:lpstr>Every content slide follows the same anatomy, fixed in the slide master so nothing drifts</vt:lpstr>
      <vt:lpstr>A restrained palette and two typefaces keep the audience’s attention on the message</vt:lpstr>
      <vt:lpstr>Sixteen layouts cover every slide type a consulting deck needs; most analysis uses Title only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Yen depreciation and carry trade risk</dc:title>
  <dc:subject>Yen carry trade risk, with the rand as a comparison case</dc:subject>
  <dc:creator/>
  <cp:lastModifiedBy/>
  <cp:revision>2</cp:revision>
  <dcterms:created xsi:type="dcterms:W3CDTF">2026-10-28T02:13:16Z</dcterms:created>
  <dcterms:modified xsi:type="dcterms:W3CDTF">2026-10-29T05:30:03Z</dcterms:modified>
</cp:coreProperties>
</file>